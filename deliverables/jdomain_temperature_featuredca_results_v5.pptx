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c4b9c2e5b644fda" /><Relationship Type="http://schemas.openxmlformats.org/officeDocument/2006/relationships/extended-properties" Target="/docProps/app.xml" Id="R90342e5bcb6f4bb5" /><Relationship Type="http://schemas.openxmlformats.org/officeDocument/2006/relationships/officeDocument" Target="/ppt/presentation.xml" Id="R8bb36352d5e94b35" /></Relationships>
</file>

<file path=ppt/presentation.xml><?xml version="1.0" encoding="utf-8"?>
<p:presentation xmlns:p="http://schemas.openxmlformats.org/presentationml/2006/main">
  <p:sldMasterIdLst>
    <p:sldMasterId xmlns:r="http://schemas.openxmlformats.org/officeDocument/2006/relationships" id="2147483648" r:id="R5b9a6d438ead466f"/>
  </p:sldMasterIdLst>
  <p:notesMasterIdLst>
    <p:notesMasterId xmlns:r="http://schemas.openxmlformats.org/officeDocument/2006/relationships" r:id="Rf1a91309df024bb7"/>
  </p:notesMasterIdLst>
  <p:sldIdLst>
    <p:sldId xmlns:r="http://schemas.openxmlformats.org/officeDocument/2006/relationships" id="256" r:id="R14d4205cb4ed4b59"/>
    <p:sldId xmlns:r="http://schemas.openxmlformats.org/officeDocument/2006/relationships" id="257" r:id="R57c8d15ac98b4cad"/>
    <p:sldId xmlns:r="http://schemas.openxmlformats.org/officeDocument/2006/relationships" id="258" r:id="R0e4c3177a3fd4407"/>
    <p:sldId xmlns:r="http://schemas.openxmlformats.org/officeDocument/2006/relationships" id="259" r:id="R033bac5cb61a4f33"/>
    <p:sldId xmlns:r="http://schemas.openxmlformats.org/officeDocument/2006/relationships" id="260" r:id="R67111a8947d7450b"/>
    <p:sldId xmlns:r="http://schemas.openxmlformats.org/officeDocument/2006/relationships" id="261" r:id="R73e8893aac274b7e"/>
    <p:sldId xmlns:r="http://schemas.openxmlformats.org/officeDocument/2006/relationships" id="262" r:id="R5f5879ee19e34d23"/>
    <p:sldId xmlns:r="http://schemas.openxmlformats.org/officeDocument/2006/relationships" id="263" r:id="Rb4bb19ac63864afa"/>
    <p:sldId xmlns:r="http://schemas.openxmlformats.org/officeDocument/2006/relationships" id="264" r:id="R2af98b95d8014a33"/>
    <p:sldId xmlns:r="http://schemas.openxmlformats.org/officeDocument/2006/relationships" id="265" r:id="R553e42d3347f441b"/>
    <p:sldId xmlns:r="http://schemas.openxmlformats.org/officeDocument/2006/relationships" id="266" r:id="R20047d81cfb349ec"/>
    <p:sldId xmlns:r="http://schemas.openxmlformats.org/officeDocument/2006/relationships" id="267" r:id="Ra6e64f0d2b774875"/>
    <p:sldId xmlns:r="http://schemas.openxmlformats.org/officeDocument/2006/relationships" id="268" r:id="R64880565de4d414e"/>
    <p:sldId xmlns:r="http://schemas.openxmlformats.org/officeDocument/2006/relationships" id="269" r:id="Rfd05a3072f82424b"/>
    <p:sldId xmlns:r="http://schemas.openxmlformats.org/officeDocument/2006/relationships" id="270" r:id="R7a421e6f7b534fc1"/>
    <p:sldId xmlns:r="http://schemas.openxmlformats.org/officeDocument/2006/relationships" id="271" r:id="Rff637b06a8c448bf"/>
    <p:sldId xmlns:r="http://schemas.openxmlformats.org/officeDocument/2006/relationships" id="272" r:id="Ra7e7f8e8814b4c6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e0ab16a1dee4e69" /><Relationship Type="http://schemas.openxmlformats.org/officeDocument/2006/relationships/slideMaster" Target="/ppt/slideMasters/slideMaster1.xml" Id="R5b9a6d438ead466f" /><Relationship Type="http://schemas.openxmlformats.org/officeDocument/2006/relationships/notesMaster" Target="/ppt/notesMasters/notesMaster1.xml" Id="Rf1a91309df024bb7" /><Relationship Type="http://schemas.openxmlformats.org/officeDocument/2006/relationships/presProps" Target="/ppt/presProps.xml" Id="R3720d56927434d20" /><Relationship Type="http://schemas.openxmlformats.org/officeDocument/2006/relationships/tableStyles" Target="/ppt/tableStyles.xml" Id="Rde4d653581b14064" /><Relationship Type="http://schemas.openxmlformats.org/officeDocument/2006/relationships/slide" Target="/ppt/slides/slide1.xml" Id="R14d4205cb4ed4b59" /><Relationship Type="http://schemas.openxmlformats.org/officeDocument/2006/relationships/slide" Target="/ppt/slides/slide2.xml" Id="R57c8d15ac98b4cad" /><Relationship Type="http://schemas.openxmlformats.org/officeDocument/2006/relationships/slide" Target="/ppt/slides/slide3.xml" Id="R0e4c3177a3fd4407" /><Relationship Type="http://schemas.openxmlformats.org/officeDocument/2006/relationships/slide" Target="/ppt/slides/slide4.xml" Id="R033bac5cb61a4f33" /><Relationship Type="http://schemas.openxmlformats.org/officeDocument/2006/relationships/slide" Target="/ppt/slides/slide5.xml" Id="R67111a8947d7450b" /><Relationship Type="http://schemas.openxmlformats.org/officeDocument/2006/relationships/slide" Target="/ppt/slides/slide6.xml" Id="R73e8893aac274b7e" /><Relationship Type="http://schemas.openxmlformats.org/officeDocument/2006/relationships/slide" Target="/ppt/slides/slide7.xml" Id="R5f5879ee19e34d23" /><Relationship Type="http://schemas.openxmlformats.org/officeDocument/2006/relationships/slide" Target="/ppt/slides/slide8.xml" Id="Rb4bb19ac63864afa" /><Relationship Type="http://schemas.openxmlformats.org/officeDocument/2006/relationships/slide" Target="/ppt/slides/slide9.xml" Id="R2af98b95d8014a33" /><Relationship Type="http://schemas.openxmlformats.org/officeDocument/2006/relationships/slide" Target="/ppt/slides/slide10.xml" Id="R553e42d3347f441b" /><Relationship Type="http://schemas.openxmlformats.org/officeDocument/2006/relationships/slide" Target="/ppt/slides/slide11.xml" Id="R20047d81cfb349ec" /><Relationship Type="http://schemas.openxmlformats.org/officeDocument/2006/relationships/slide" Target="/ppt/slides/slide12.xml" Id="Ra6e64f0d2b774875" /><Relationship Type="http://schemas.openxmlformats.org/officeDocument/2006/relationships/slide" Target="/ppt/slides/slide13.xml" Id="R64880565de4d414e" /><Relationship Type="http://schemas.openxmlformats.org/officeDocument/2006/relationships/slide" Target="/ppt/slides/slide14.xml" Id="Rfd05a3072f82424b" /><Relationship Type="http://schemas.openxmlformats.org/officeDocument/2006/relationships/slide" Target="/ppt/slides/slide15.xml" Id="R7a421e6f7b534fc1" /><Relationship Type="http://schemas.openxmlformats.org/officeDocument/2006/relationships/slide" Target="/ppt/slides/slide16.xml" Id="Rff637b06a8c448bf" /><Relationship Type="http://schemas.openxmlformats.org/officeDocument/2006/relationships/slide" Target="/ppt/slides/slide17.xml" Id="Ra7e7f8e8814b4c6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23aa7d035b4465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4870860d72143ab" /><Relationship Type="http://schemas.openxmlformats.org/officeDocument/2006/relationships/notesMaster" Target="/ppt/notesMasters/notesMaster1.xml" Id="Rb373879440134fd3" /></Relationships>
</file>

<file path=ppt/notesSlides/_rels/notesSlide2.xml.rels>&#65279;<?xml version="1.0" encoding="utf-8"?><Relationships xmlns="http://schemas.openxmlformats.org/package/2006/relationships"><Relationship Type="http://schemas.openxmlformats.org/officeDocument/2006/relationships/slide" Target="/ppt/slides/slide2.xml" Id="R402752cd70194046" /><Relationship Type="http://schemas.openxmlformats.org/officeDocument/2006/relationships/notesMaster" Target="/ppt/notesMasters/notesMaster1.xml" Id="R4a4ed563eabc41eb" /></Relationships>
</file>

<file path=ppt/notesSlides/_rels/notesSlide3.xml.rels>&#65279;<?xml version="1.0" encoding="utf-8"?><Relationships xmlns="http://schemas.openxmlformats.org/package/2006/relationships"><Relationship Type="http://schemas.openxmlformats.org/officeDocument/2006/relationships/slide" Target="/ppt/slides/slide3.xml" Id="Rc71f3596f0e14a4c" /><Relationship Type="http://schemas.openxmlformats.org/officeDocument/2006/relationships/notesMaster" Target="/ppt/notesMasters/notesMaster1.xml" Id="Rcc5a537f00f44ada" /></Relationships>
</file>

<file path=ppt/notesSlides/_rels/notesSlide4.xml.rels>&#65279;<?xml version="1.0" encoding="utf-8"?><Relationships xmlns="http://schemas.openxmlformats.org/package/2006/relationships"><Relationship Type="http://schemas.openxmlformats.org/officeDocument/2006/relationships/slide" Target="/ppt/slides/slide4.xml" Id="R9aa98230daf5436c" /><Relationship Type="http://schemas.openxmlformats.org/officeDocument/2006/relationships/notesMaster" Target="/ppt/notesMasters/notesMaster1.xml" Id="R12dde05dd22640a7" /></Relationships>
</file>

<file path=ppt/notesSlides/_rels/notesSlide5.xml.rels>&#65279;<?xml version="1.0" encoding="utf-8"?><Relationships xmlns="http://schemas.openxmlformats.org/package/2006/relationships"><Relationship Type="http://schemas.openxmlformats.org/officeDocument/2006/relationships/slide" Target="/ppt/slides/slide5.xml" Id="R49bf0bd904ee478e" /><Relationship Type="http://schemas.openxmlformats.org/officeDocument/2006/relationships/notesMaster" Target="/ppt/notesMasters/notesMaster1.xml" Id="Rc7018d0d4f3a4ca3" /></Relationships>
</file>

<file path=ppt/notesSlides/_rels/notesSlide6.xml.rels>&#65279;<?xml version="1.0" encoding="utf-8"?><Relationships xmlns="http://schemas.openxmlformats.org/package/2006/relationships"><Relationship Type="http://schemas.openxmlformats.org/officeDocument/2006/relationships/slide" Target="/ppt/slides/slide6.xml" Id="R58d6b84eb1f44816" /><Relationship Type="http://schemas.openxmlformats.org/officeDocument/2006/relationships/notesMaster" Target="/ppt/notesMasters/notesMaster1.xml" Id="R445095400fb5495a" /></Relationships>
</file>

<file path=ppt/notesSlides/_rels/notesSlide7.xml.rels>&#65279;<?xml version="1.0" encoding="utf-8"?><Relationships xmlns="http://schemas.openxmlformats.org/package/2006/relationships"><Relationship Type="http://schemas.openxmlformats.org/officeDocument/2006/relationships/slide" Target="/ppt/slides/slide7.xml" Id="Rb3375b75ab5f458e" /><Relationship Type="http://schemas.openxmlformats.org/officeDocument/2006/relationships/notesMaster" Target="/ppt/notesMasters/notesMaster1.xml" Id="R9414ab72a4f94c14" /></Relationships>
</file>

<file path=ppt/notesSlides/_rels/notesSlide8.xml.rels>&#65279;<?xml version="1.0" encoding="utf-8"?><Relationships xmlns="http://schemas.openxmlformats.org/package/2006/relationships"><Relationship Type="http://schemas.openxmlformats.org/officeDocument/2006/relationships/slide" Target="/ppt/slides/slide8.xml" Id="R6dafc1e46a8043c8" /><Relationship Type="http://schemas.openxmlformats.org/officeDocument/2006/relationships/notesMaster" Target="/ppt/notesMasters/notesMaster1.xml" Id="R865997a3721941f7" /></Relationships>
</file>

<file path=ppt/notesSlides/_rels/notesSlide9.xml.rels>&#65279;<?xml version="1.0" encoding="utf-8"?><Relationships xmlns="http://schemas.openxmlformats.org/package/2006/relationships"><Relationship Type="http://schemas.openxmlformats.org/officeDocument/2006/relationships/slide" Target="/ppt/slides/slide9.xml" Id="R1803c8e5a9744530" /><Relationship Type="http://schemas.openxmlformats.org/officeDocument/2006/relationships/notesMaster" Target="/ppt/notesMasters/notesMaster1.xml" Id="Ra3c95baca859441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ae21abfcbb949e3" /><Relationship Type="http://schemas.openxmlformats.org/officeDocument/2006/relationships/notesMaster" Target="/ppt/notesMasters/notesMaster1.xml" Id="R65a03abda82342d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2f368b472e74d65" /><Relationship Type="http://schemas.openxmlformats.org/officeDocument/2006/relationships/notesMaster" Target="/ppt/notesMasters/notesMaster1.xml" Id="Ra95e39f094ed470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519e07001214e6d" /><Relationship Type="http://schemas.openxmlformats.org/officeDocument/2006/relationships/notesMaster" Target="/ppt/notesMasters/notesMaster1.xml" Id="R6a26e3a56801474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1ca5b96b11f47d7" /><Relationship Type="http://schemas.openxmlformats.org/officeDocument/2006/relationships/notesMaster" Target="/ppt/notesMasters/notesMaster1.xml" Id="Ref88a1a59afe4e7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0bc1d7a8f404c11" /><Relationship Type="http://schemas.openxmlformats.org/officeDocument/2006/relationships/notesMaster" Target="/ppt/notesMasters/notesMaster1.xml" Id="Rc7187015d7e14de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36f90155f374f8f" /><Relationship Type="http://schemas.openxmlformats.org/officeDocument/2006/relationships/notesMaster" Target="/ppt/notesMasters/notesMaster1.xml" Id="R60b500da5678415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e4da964cdba40c1" /><Relationship Type="http://schemas.openxmlformats.org/officeDocument/2006/relationships/notesMaster" Target="/ppt/notesMasters/notesMaster1.xml" Id="Re83292bc5a0e4bd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e0884383de04f32" /><Relationship Type="http://schemas.openxmlformats.org/officeDocument/2006/relationships/notesMaster" Target="/ppt/notesMasters/notesMaster1.xml" Id="R731da2038d784af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biological objective: learn how J-domain sequence distributions change with the optimal growth temperature of the source organism. Clarify that these are preliminary generative-model diagnostics, not experimental thermostability measurements.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TEMPURA contains organism-level growth phenotypes, not protein measurements. Source: Sato Y. et al. TEMPURA: Database of Growth TEMPeratures of Usual and RAre Prokaryotes. Microbes and Environments 35, ME20074 (2020). https://doi.org/10.1264/jsme2.ME20074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Completeness counts come from 200617_TEMPURA.csv and data/processed_new/jdomain/jdomain.metadata.maxgap50.csv. TEMPURA excluded strains lacking the Tmin, Topt, Tmax triplet. Topt_low and Topt_high are populated together only when the source reported an optimum range.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logic before the details. The PCA-conditioned model is a positive control: if FeatureDCA can recover PCA clusters when given PC coordinates, failure under temperature conditioning reflects limited information in temperature rather than a broken generator.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Emphasize that we retained homologs intentionally. FeatureDCA later applies sequence reweighting, so redundancy is handled statistically rather than by discarding all but one protein per organism.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supplied J-domain HMM has no curated GA cutoff, so hmmsearch used sequence and domain E-value thresholds of 1e-5. hmmalign with --trim retained only model columns. The gap filter removed only 10 additional sequences.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y is fixed input, not optimized. The optimizer fitted h, J, and G by minimizing weighted negative conditional log-likelihood plus L2 penalties. The saved model uses Topt_ave only. One standard-deviation increase in y corresponds to 7.79 degrees 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comparison uses the same DCA sequence weights for natural and generated ensembles. FeatureDCA's frequency utility excludes the gap state, so gap frequencies were evaluated separately. Source: results/featuredca/jdomain_topt_ave_generation/summary.txt and frequency_scatter.pdf.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result suggests that optimal growth temperature is not a sufficient proxy for the leading sequence PCs. Phrase this carefully: weak global linear correlation and failed cluster recovery do not prove independence. Nonlinear or subfamily-specific temperature relationships may remain.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PCA was fitted only on the natural one-hot MSA. Generated sequences were projected through that same map. The generated distribution remains slightly shifted and compressed, but the main clusters return. This supports the interpretation that temperature lacks the information carried by PC1 and PC2.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Higher log-likelihood means less negative. The interior groups overlap strongly, while 60 and 90 degrees benefit from being grid boundaries. The 85 and 90 degree conditions extrapolate beyond the 80 degree training maximum. Their self-consistency does not establish biological validity.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generated sequences were distinct within each 2,000-sequence ensemble. Mean pairwise Hamming distance includes all 62 aligned positions, including gaps. It decreases from 0.701 to 0.677 as a fraction of alignment length. The trend indicates modest concentration, not mode collapse.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split used ten temperature quantiles and kept each taxonomy ID entirely in train or test. Temperature standardization and sequence weights came from the training fold only. Pearson and Spearman compare the natural continuous Topt_ave with the likelihood-grid argmax.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Pearson, Spearman, MAE, and RMSE, inferred grid temperatures were compared with the actual continuous Topt_ave. Only correct-grid-point accuracy used the nearest grid value as the target. Increasing the training fraction reduced test-set size without improving recovery.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every candidate temperature, the log-likelihoods of all homologs from one organism were averaged. Maximizing the average gives the same argmax as maximizing their summed log-likelihood. Bootstrap 95 percent intervals: Pearson 0.478 to 0.586, Spearman 0.404 to 0.512, MAE 8.63 to 9.59 degrees C. Organisms, not homologs, served as independent units for inference.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classification score compares the best high-temperature log-likelihood with the best lower-temperature log-likelihood. Counts: TP 70, TN 717, FP 180, FN 25. High-temperature recovery remained significant within the restricted range: Pearson and Spearman permutation p values were below 1e-4. This was an exploratory threshold analysis on a reused test set and should be confirmed on a fresh split.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separating precise temperature regression from ranking. Natural held-out recovery is modest at sequence level, but homolog aggregation and the high-temperature AUROC support likelihood-based prioritization. Next work should repeat organism-level validation across seeds, control explicitly for phylogeny and subclass, and then assess selected candidates structurally or experimentally.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982ee8749e7402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d36eebf779746c0" /><Relationship Type="http://schemas.openxmlformats.org/officeDocument/2006/relationships/slideLayout" Target="/ppt/slideLayouts/slideLayout1.xml" Id="Ra146b095455c471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146b095455c471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93c67d905754a8f" /><Relationship Type="http://schemas.openxmlformats.org/officeDocument/2006/relationships/notesSlide" Target="/ppt/notesSlides/notesSlide1.xml" Id="R1856646d16d441f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a4e7fa9689245b9" /><Relationship Type="http://schemas.openxmlformats.org/officeDocument/2006/relationships/notesSlide" Target="/ppt/notesSlides/notesSlide2.xml" Id="Ra65ef7db215c463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75a0fafabbe4b81" /><Relationship Type="http://schemas.openxmlformats.org/officeDocument/2006/relationships/notesSlide" Target="/ppt/notesSlides/notesSlide3.xml" Id="R3a489f43e5ba446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5d94fc671264d40" /><Relationship Type="http://schemas.openxmlformats.org/officeDocument/2006/relationships/notesSlide" Target="/ppt/notesSlides/notesSlide4.xml" Id="R243b7669804f456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62bc3fc7afe4c5f" /><Relationship Type="http://schemas.openxmlformats.org/officeDocument/2006/relationships/notesSlide" Target="/ppt/notesSlides/notesSlide5.xml" Id="Rdec2399394b54eb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e9a2a0b086143f4" /><Relationship Type="http://schemas.openxmlformats.org/officeDocument/2006/relationships/notesSlide" Target="/ppt/notesSlides/notesSlide6.xml" Id="R7ddc9bd72f6a4a5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cbaec15fdd742d0" /><Relationship Type="http://schemas.openxmlformats.org/officeDocument/2006/relationships/notesSlide" Target="/ppt/notesSlides/notesSlide7.xml" Id="R17630506d1694d4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574a04df5a44484" /><Relationship Type="http://schemas.openxmlformats.org/officeDocument/2006/relationships/image" Target="/ppt/media/image.png" Id="R867f82c9842c465b" /><Relationship Type="http://schemas.openxmlformats.org/officeDocument/2006/relationships/notesSlide" Target="/ppt/notesSlides/notesSlide8.xml" Id="R9df98d609ae4405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e72877d25254acf" /><Relationship Type="http://schemas.openxmlformats.org/officeDocument/2006/relationships/image" Target="/ppt/media/image2.png" Id="R0ebe642b91b54c74" /><Relationship Type="http://schemas.openxmlformats.org/officeDocument/2006/relationships/notesSlide" Target="/ppt/notesSlides/notesSlide9.xml" Id="R22d164e2a987412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51d3d4f8476409d" /><Relationship Type="http://schemas.openxmlformats.org/officeDocument/2006/relationships/image" Target="/ppt/media/image3.png" Id="R1697755b3d3f4c26" /><Relationship Type="http://schemas.openxmlformats.org/officeDocument/2006/relationships/notesSlide" Target="/ppt/notesSlides/notesSlide10.xml" Id="R608031d70d924c5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5f0f96a5d574340" /><Relationship Type="http://schemas.openxmlformats.org/officeDocument/2006/relationships/image" Target="/ppt/media/image4.png" Id="Rc5573726606a4579" /><Relationship Type="http://schemas.openxmlformats.org/officeDocument/2006/relationships/image" Target="/ppt/media/image5.png" Id="Rd56dcb274f4f466b" /><Relationship Type="http://schemas.openxmlformats.org/officeDocument/2006/relationships/notesSlide" Target="/ppt/notesSlides/notesSlide11.xml" Id="R49b1ca905ec3457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555cacb478b4edf" /><Relationship Type="http://schemas.openxmlformats.org/officeDocument/2006/relationships/image" Target="/ppt/media/image6.png" Id="Rafb7d3fee4794dfc" /><Relationship Type="http://schemas.openxmlformats.org/officeDocument/2006/relationships/notesSlide" Target="/ppt/notesSlides/notesSlide12.xml" Id="R8fa09f6e6988483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5fb7db253c143aa" /><Relationship Type="http://schemas.openxmlformats.org/officeDocument/2006/relationships/image" Target="/ppt/media/image7.png" Id="Reaf8e09f670e4193" /><Relationship Type="http://schemas.openxmlformats.org/officeDocument/2006/relationships/notesSlide" Target="/ppt/notesSlides/notesSlide13.xml" Id="R5cb6ad391166460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a729228c9cc4b76" /><Relationship Type="http://schemas.openxmlformats.org/officeDocument/2006/relationships/notesSlide" Target="/ppt/notesSlides/notesSlide14.xml" Id="R8a70a5f963bd41b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075cd7247bc4eee" /><Relationship Type="http://schemas.openxmlformats.org/officeDocument/2006/relationships/notesSlide" Target="/ppt/notesSlides/notesSlide15.xml" Id="R1e802f207c3c469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3af90e3a04f4b41" /><Relationship Type="http://schemas.openxmlformats.org/officeDocument/2006/relationships/notesSlide" Target="/ppt/notesSlides/notesSlide16.xml" Id="R4b8d7f4ad2f54b8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ccf33ccb9c094a07" /><Relationship Type="http://schemas.openxmlformats.org/officeDocument/2006/relationships/notesSlide" Target="/ppt/notesSlides/notesSlide17.xml" Id="R73ee913ebb9f4a54" /></Relationships>
</file>

<file path=ppt/slides/slide1.xml><?xml version="1.0" encoding="utf-8"?>
<p:sld xmlns:p="http://schemas.openxmlformats.org/presentationml/2006/main">
  <p:cSld>
    <p:bg>
      <p:bgPr>
        <a:solidFill xmlns:a="http://schemas.openxmlformats.org/drawingml/2006/main">
          <a:srgbClr val="14262D"/>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D733131-85D4-4AA6-AF73-E88E1DA0C19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D763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3203F0B-4C84-4DB3-BD08-255408F10351}"/>
              </a:ext>
            </a:extLst>
          </p:cNvPr>
          <p:cNvSpPr>
            <a:spLocks xmlns:a="http://schemas.openxmlformats.org/drawingml/2006/main" noGrp="1"/>
          </p:cNvSpPr>
          <p:nvPr/>
        </p:nvSpPr>
        <p:spPr>
          <a:xfrm xmlns:a="http://schemas.openxmlformats.org/drawingml/2006/main">
            <a:off x="762000" y="1123950"/>
            <a:ext cx="723900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Temperature-conditioned</a:t>
            </a:r>
          </a:p>
          <a:p xmlns:a="http://schemas.openxmlformats.org/drawingml/2006/main">
            <a:pPr algn="l">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sequence modeling of</a:t>
            </a:r>
          </a:p>
          <a:p xmlns:a="http://schemas.openxmlformats.org/drawingml/2006/main">
            <a:pPr algn="l">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J-domain proteins</a:t>
            </a:r>
          </a:p>
        </p:txBody>
      </p:sp>
      <p:sp>
        <p:nvSpPr>
          <p:cNvPr id="3" name="">
            <a:extLst xmlns:a="http://schemas.openxmlformats.org/drawingml/2006/main">
              <a:ext uri="{FF2B5EF4-FFF2-40B4-BE49-F238E27FC236}">
                <a16:creationId xmlns:a16="http://schemas.microsoft.com/office/drawing/2014/main" id="{524D8581-3220-4459-AB78-C6A874737411}"/>
              </a:ext>
            </a:extLst>
          </p:cNvPr>
          <p:cNvSpPr>
            <a:spLocks xmlns:a="http://schemas.openxmlformats.org/drawingml/2006/main" noGrp="1"/>
          </p:cNvSpPr>
          <p:nvPr/>
        </p:nvSpPr>
        <p:spPr>
          <a:xfrm xmlns:a="http://schemas.openxmlformats.org/drawingml/2006/main">
            <a:off x="800100" y="3714750"/>
            <a:ext cx="695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C9D7D9"/>
                </a:solidFill>
                <a:latin typeface="Helvetica Neue"/>
                <a:ea typeface="Helvetica Neue"/>
                <a:cs typeface="Helvetica Neue"/>
              </a:defRPr>
            </a:pPr>
            <a:r>
              <a:rPr sz="1650" b="0">
                <a:solidFill>
                  <a:srgbClr val="C9D7D9"/>
                </a:solidFill>
                <a:latin typeface="Helvetica Neue"/>
                <a:ea typeface="Helvetica Neue"/>
                <a:cs typeface="Helvetica Neue"/>
              </a:rPr>
              <a:t>Dataset construction and preliminary FeatureDCA results</a:t>
            </a:r>
          </a:p>
        </p:txBody>
      </p:sp>
      <p:sp>
        <p:nvSpPr>
          <p:cNvPr id="4" name="">
            <a:extLst xmlns:a="http://schemas.openxmlformats.org/drawingml/2006/main">
              <a:ext uri="{FF2B5EF4-FFF2-40B4-BE49-F238E27FC236}">
                <a16:creationId xmlns:a16="http://schemas.microsoft.com/office/drawing/2014/main" id="{73FB4F03-F9A4-4D1B-868A-97DD03A1A672}"/>
              </a:ext>
            </a:extLst>
          </p:cNvPr>
          <p:cNvSpPr>
            <a:spLocks xmlns:a="http://schemas.openxmlformats.org/drawingml/2006/main" noGrp="1"/>
          </p:cNvSpPr>
          <p:nvPr/>
        </p:nvSpPr>
        <p:spPr>
          <a:xfrm xmlns:a="http://schemas.openxmlformats.org/drawingml/2006/main">
            <a:off x="8286750" y="1123950"/>
            <a:ext cx="2667000" cy="2667000"/>
          </a:xfrm>
          <a:prstGeom xmlns:a="http://schemas.openxmlformats.org/drawingml/2006/main" prst="roundRect">
            <a:avLst>
              <a:gd name="adj" fmla="val 2857"/>
            </a:avLst>
          </a:prstGeom>
          <a:solidFill xmlns:a="http://schemas.openxmlformats.org/drawingml/2006/main">
            <a:srgbClr val="0E6B6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4E77272-E486-4A3A-AA13-FC3DA5B1902F}"/>
              </a:ext>
            </a:extLst>
          </p:cNvPr>
          <p:cNvSpPr>
            <a:spLocks xmlns:a="http://schemas.openxmlformats.org/drawingml/2006/main" noGrp="1"/>
          </p:cNvSpPr>
          <p:nvPr/>
        </p:nvSpPr>
        <p:spPr>
          <a:xfrm xmlns:a="http://schemas.openxmlformats.org/drawingml/2006/main">
            <a:off x="8572500" y="1428750"/>
            <a:ext cx="2095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529"/>
          </a:bodyPr>
          <a:lstStyle xmlns:a="http://schemas.openxmlformats.org/drawingml/2006/main"/>
          <a:p xmlns:a="http://schemas.openxmlformats.org/drawingml/2006/main">
            <a:pPr algn="ctr">
              <a:defRPr sz="5100" b="1">
                <a:solidFill>
                  <a:srgbClr val="FFFFFF"/>
                </a:solidFill>
                <a:latin typeface="Helvetica Neue"/>
                <a:ea typeface="Helvetica Neue"/>
                <a:cs typeface="Helvetica Neue"/>
              </a:defRPr>
            </a:pPr>
            <a:r>
              <a:rPr sz="5100" b="1">
                <a:solidFill>
                  <a:srgbClr val="FFFFFF"/>
                </a:solidFill>
                <a:latin typeface="Helvetica Neue"/>
                <a:ea typeface="Helvetica Neue"/>
                <a:cs typeface="Helvetica Neue"/>
              </a:rPr>
              <a:t>62</a:t>
            </a:r>
          </a:p>
        </p:txBody>
      </p:sp>
      <p:sp>
        <p:nvSpPr>
          <p:cNvPr id="6" name="">
            <a:extLst xmlns:a="http://schemas.openxmlformats.org/drawingml/2006/main">
              <a:ext uri="{FF2B5EF4-FFF2-40B4-BE49-F238E27FC236}">
                <a16:creationId xmlns:a16="http://schemas.microsoft.com/office/drawing/2014/main" id="{C7E74726-44DD-4866-A73C-1225466A3DB9}"/>
              </a:ext>
            </a:extLst>
          </p:cNvPr>
          <p:cNvSpPr>
            <a:spLocks xmlns:a="http://schemas.openxmlformats.org/drawingml/2006/main" noGrp="1"/>
          </p:cNvSpPr>
          <p:nvPr/>
        </p:nvSpPr>
        <p:spPr>
          <a:xfrm xmlns:a="http://schemas.openxmlformats.org/drawingml/2006/main">
            <a:off x="8572500" y="2238375"/>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0">
                <a:solidFill>
                  <a:srgbClr val="FFFFFF"/>
                </a:solidFill>
                <a:latin typeface="Helvetica Neue"/>
                <a:ea typeface="Helvetica Neue"/>
                <a:cs typeface="Helvetica Neue"/>
              </a:defRPr>
            </a:pPr>
            <a:r>
              <a:rPr sz="1275" b="0">
                <a:solidFill>
                  <a:srgbClr val="FFFFFF"/>
                </a:solidFill>
                <a:latin typeface="Helvetica Neue"/>
                <a:ea typeface="Helvetica Neue"/>
                <a:cs typeface="Helvetica Neue"/>
              </a:rPr>
              <a:t>alignment positions</a:t>
            </a:r>
          </a:p>
        </p:txBody>
      </p:sp>
      <p:sp>
        <p:nvSpPr>
          <p:cNvPr id="7" name="">
            <a:extLst xmlns:a="http://schemas.openxmlformats.org/drawingml/2006/main">
              <a:ext uri="{FF2B5EF4-FFF2-40B4-BE49-F238E27FC236}">
                <a16:creationId xmlns:a16="http://schemas.microsoft.com/office/drawing/2014/main" id="{1BF110EE-A67D-4D35-A013-A5CF7991573D}"/>
              </a:ext>
            </a:extLst>
          </p:cNvPr>
          <p:cNvSpPr>
            <a:spLocks xmlns:a="http://schemas.openxmlformats.org/drawingml/2006/main" noGrp="1"/>
          </p:cNvSpPr>
          <p:nvPr/>
        </p:nvSpPr>
        <p:spPr>
          <a:xfrm xmlns:a="http://schemas.openxmlformats.org/drawingml/2006/main">
            <a:off x="8572500" y="2705100"/>
            <a:ext cx="209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925" b="1">
                <a:solidFill>
                  <a:srgbClr val="FFE2A7"/>
                </a:solidFill>
                <a:latin typeface="Helvetica Neue"/>
                <a:ea typeface="Helvetica Neue"/>
                <a:cs typeface="Helvetica Neue"/>
              </a:defRPr>
            </a:pPr>
            <a:r>
              <a:rPr sz="2925" b="1">
                <a:solidFill>
                  <a:srgbClr val="FFE2A7"/>
                </a:solidFill>
                <a:latin typeface="Helvetica Neue"/>
                <a:ea typeface="Helvetica Neue"/>
                <a:cs typeface="Helvetica Neue"/>
              </a:rPr>
              <a:t>14,944</a:t>
            </a:r>
          </a:p>
        </p:txBody>
      </p:sp>
      <p:sp>
        <p:nvSpPr>
          <p:cNvPr id="8" name="">
            <a:extLst xmlns:a="http://schemas.openxmlformats.org/drawingml/2006/main">
              <a:ext uri="{FF2B5EF4-FFF2-40B4-BE49-F238E27FC236}">
                <a16:creationId xmlns:a16="http://schemas.microsoft.com/office/drawing/2014/main" id="{D9FA254A-8FC0-4235-B9F8-BF311A0EAEE3}"/>
              </a:ext>
            </a:extLst>
          </p:cNvPr>
          <p:cNvSpPr>
            <a:spLocks xmlns:a="http://schemas.openxmlformats.org/drawingml/2006/main" noGrp="1"/>
          </p:cNvSpPr>
          <p:nvPr/>
        </p:nvSpPr>
        <p:spPr>
          <a:xfrm xmlns:a="http://schemas.openxmlformats.org/drawingml/2006/main">
            <a:off x="8572500" y="323850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0">
                <a:solidFill>
                  <a:srgbClr val="FFFFFF"/>
                </a:solidFill>
                <a:latin typeface="Helvetica Neue"/>
                <a:ea typeface="Helvetica Neue"/>
                <a:cs typeface="Helvetica Neue"/>
              </a:defRPr>
            </a:pPr>
            <a:r>
              <a:rPr sz="1275" b="0">
                <a:solidFill>
                  <a:srgbClr val="FFFFFF"/>
                </a:solidFill>
                <a:latin typeface="Helvetica Neue"/>
                <a:ea typeface="Helvetica Neue"/>
                <a:cs typeface="Helvetica Neue"/>
              </a:rPr>
              <a:t>training sequences</a:t>
            </a:r>
          </a:p>
        </p:txBody>
      </p:sp>
      <p:sp>
        <p:nvSpPr>
          <p:cNvPr id="9" name="">
            <a:extLst xmlns:a="http://schemas.openxmlformats.org/drawingml/2006/main">
              <a:ext uri="{FF2B5EF4-FFF2-40B4-BE49-F238E27FC236}">
                <a16:creationId xmlns:a16="http://schemas.microsoft.com/office/drawing/2014/main" id="{7AEF1EBF-75CF-41C3-9ABA-AF61EE5F4801}"/>
              </a:ext>
            </a:extLst>
          </p:cNvPr>
          <p:cNvSpPr>
            <a:spLocks xmlns:a="http://schemas.openxmlformats.org/drawingml/2006/main" noGrp="1"/>
          </p:cNvSpPr>
          <p:nvPr/>
        </p:nvSpPr>
        <p:spPr>
          <a:xfrm xmlns:a="http://schemas.openxmlformats.org/drawingml/2006/main">
            <a:off x="800100" y="5857875"/>
            <a:ext cx="409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Francesco Caredda</a:t>
            </a:r>
          </a:p>
        </p:txBody>
      </p:sp>
      <p:sp>
        <p:nvSpPr>
          <p:cNvPr id="10" name="">
            <a:extLst xmlns:a="http://schemas.openxmlformats.org/drawingml/2006/main">
              <a:ext uri="{FF2B5EF4-FFF2-40B4-BE49-F238E27FC236}">
                <a16:creationId xmlns:a16="http://schemas.microsoft.com/office/drawing/2014/main" id="{C8643F54-E4AF-45D6-AFA4-72A2A5148DDA}"/>
              </a:ext>
            </a:extLst>
          </p:cNvPr>
          <p:cNvSpPr>
            <a:spLocks xmlns:a="http://schemas.openxmlformats.org/drawingml/2006/main" noGrp="1"/>
          </p:cNvSpPr>
          <p:nvPr/>
        </p:nvSpPr>
        <p:spPr>
          <a:xfrm xmlns:a="http://schemas.openxmlformats.org/drawingml/2006/main">
            <a:off x="800100" y="616267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l">
              <a:defRPr sz="1050" b="0">
                <a:solidFill>
                  <a:srgbClr val="AFC2C5"/>
                </a:solidFill>
                <a:latin typeface="Helvetica Neue"/>
                <a:ea typeface="Helvetica Neue"/>
                <a:cs typeface="Helvetica Neue"/>
              </a:defRPr>
            </a:pPr>
            <a:r>
              <a:rPr sz="1050" b="0">
                <a:solidFill>
                  <a:srgbClr val="AFC2C5"/>
                </a:solidFill>
                <a:latin typeface="Helvetica Neue"/>
                <a:ea typeface="Helvetica Neue"/>
                <a:cs typeface="Helvetica Neue"/>
              </a:rPr>
              <a:t>Preliminary research update</a:t>
            </a:r>
          </a:p>
        </p:txBody>
      </p:sp>
    </p:spTree>
    <p:extLst>
      <p:ext uri="{BB962C8B-B14F-4D97-AF65-F5344CB8AC3E}">
        <p14:creationId xmlns:p14="http://schemas.microsoft.com/office/powerpoint/2010/main" val="1271519084"/>
      </p:ext>
    </p:extLst>
  </p:cSld>
</p:sld>
</file>

<file path=ppt/slides/slide2.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6C3CFF06-AFCE-4F85-BFBF-E7473F98BDE3}"/>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0E6B6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2440975-D633-4017-9016-F75D0B7260A0}"/>
              </a:ext>
            </a:extLst>
          </p:cNvPr>
          <p:cNvSpPr>
            <a:spLocks xmlns:a="http://schemas.openxmlformats.org/drawingml/2006/main" noGrp="1"/>
          </p:cNvSpPr>
          <p:nvPr/>
        </p:nvSpPr>
        <p:spPr>
          <a:xfrm xmlns:a="http://schemas.openxmlformats.org/drawingml/2006/main">
            <a:off x="552450" y="28575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a:solidFill>
                  <a:srgbClr val="0E6B6F"/>
                </a:solidFill>
                <a:latin typeface="Helvetica Neue"/>
                <a:ea typeface="Helvetica Neue"/>
                <a:cs typeface="Helvetica Neue"/>
              </a:defRPr>
            </a:pPr>
            <a:r>
              <a:rPr sz="900" b="1">
                <a:solidFill>
                  <a:srgbClr val="0E6B6F"/>
                </a:solidFill>
                <a:latin typeface="Helvetica Neue"/>
                <a:ea typeface="Helvetica Neue"/>
                <a:cs typeface="Helvetica Neue"/>
              </a:rPr>
              <a:t>DATA SOURCE</a:t>
            </a:r>
          </a:p>
        </p:txBody>
      </p:sp>
      <p:sp>
        <p:nvSpPr>
          <p:cNvPr id="3" name="">
            <a:extLst xmlns:a="http://schemas.openxmlformats.org/drawingml/2006/main">
              <a:ext uri="{FF2B5EF4-FFF2-40B4-BE49-F238E27FC236}">
                <a16:creationId xmlns:a16="http://schemas.microsoft.com/office/drawing/2014/main" id="{D59B21F2-2069-46C9-ACE5-92EA76B49961}"/>
              </a:ext>
            </a:extLst>
          </p:cNvPr>
          <p:cNvSpPr>
            <a:spLocks xmlns:a="http://schemas.openxmlformats.org/drawingml/2006/main" noGrp="1"/>
          </p:cNvSpPr>
          <p:nvPr/>
        </p:nvSpPr>
        <p:spPr>
          <a:xfrm xmlns:a="http://schemas.openxmlformats.org/drawingml/2006/main">
            <a:off x="552450" y="495300"/>
            <a:ext cx="1081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14262D"/>
                </a:solidFill>
                <a:latin typeface="Helvetica Neue"/>
                <a:ea typeface="Helvetica Neue"/>
                <a:cs typeface="Helvetica Neue"/>
              </a:defRPr>
            </a:pPr>
            <a:r>
              <a:rPr sz="2400" b="1">
                <a:solidFill>
                  <a:srgbClr val="14262D"/>
                </a:solidFill>
                <a:latin typeface="Helvetica Neue"/>
                <a:ea typeface="Helvetica Neue"/>
                <a:cs typeface="Helvetica Neue"/>
              </a:rPr>
              <a:t>TEMPURA dataset</a:t>
            </a:r>
          </a:p>
        </p:txBody>
      </p:sp>
      <p:sp>
        <p:nvSpPr>
          <p:cNvPr id="4" name="">
            <a:extLst xmlns:a="http://schemas.openxmlformats.org/drawingml/2006/main">
              <a:ext uri="{FF2B5EF4-FFF2-40B4-BE49-F238E27FC236}">
                <a16:creationId xmlns:a16="http://schemas.microsoft.com/office/drawing/2014/main" id="{52550178-F832-4BA7-AAF6-5590E15C6366}"/>
              </a:ext>
            </a:extLst>
          </p:cNvPr>
          <p:cNvSpPr>
            <a:spLocks xmlns:a="http://schemas.openxmlformats.org/drawingml/2006/main" noGrp="1"/>
          </p:cNvSpPr>
          <p:nvPr/>
        </p:nvSpPr>
        <p:spPr>
          <a:xfrm xmlns:a="http://schemas.openxmlformats.org/drawingml/2006/main">
            <a:off x="552450" y="1066800"/>
            <a:ext cx="11049000" cy="19050"/>
          </a:xfrm>
          <a:prstGeom xmlns:a="http://schemas.openxmlformats.org/drawingml/2006/main" prst="rect">
            <a:avLst/>
          </a:prstGeom>
          <a:solidFill xmlns:a="http://schemas.openxmlformats.org/drawingml/2006/main">
            <a:srgbClr val="CBD6D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9207A9F-9861-4587-855B-29E1284CB054}"/>
              </a:ext>
            </a:extLst>
          </p:cNvPr>
          <p:cNvSpPr>
            <a:spLocks xmlns:a="http://schemas.openxmlformats.org/drawingml/2006/main" noGrp="1"/>
          </p:cNvSpPr>
          <p:nvPr/>
        </p:nvSpPr>
        <p:spPr>
          <a:xfrm xmlns:a="http://schemas.openxmlformats.org/drawingml/2006/main">
            <a:off x="11144250" y="6477000"/>
            <a:ext cx="47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r">
              <a:defRPr sz="825" b="0">
                <a:solidFill>
                  <a:srgbClr val="51636B"/>
                </a:solidFill>
                <a:latin typeface="Helvetica Neue"/>
                <a:ea typeface="Helvetica Neue"/>
                <a:cs typeface="Helvetica Neue"/>
              </a:defRPr>
            </a:pPr>
            <a:r>
              <a:rPr sz="825" b="0">
                <a:solidFill>
                  <a:srgbClr val="51636B"/>
                </a:solidFill>
                <a:latin typeface="Helvetica Neue"/>
                <a:ea typeface="Helvetica Neue"/>
                <a:cs typeface="Helvetica Neue"/>
              </a:rPr>
              <a:t>02</a:t>
            </a:r>
          </a:p>
        </p:txBody>
      </p:sp>
      <p:sp>
        <p:nvSpPr>
          <p:cNvPr id="6" name="">
            <a:extLst xmlns:a="http://schemas.openxmlformats.org/drawingml/2006/main">
              <a:ext uri="{FF2B5EF4-FFF2-40B4-BE49-F238E27FC236}">
                <a16:creationId xmlns:a16="http://schemas.microsoft.com/office/drawing/2014/main" id="{23767DAF-10C3-4C99-B9A8-BA91919BC433}"/>
              </a:ext>
            </a:extLst>
          </p:cNvPr>
          <p:cNvSpPr>
            <a:spLocks xmlns:a="http://schemas.openxmlformats.org/drawingml/2006/main" noGrp="1"/>
          </p:cNvSpPr>
          <p:nvPr/>
        </p:nvSpPr>
        <p:spPr>
          <a:xfrm xmlns:a="http://schemas.openxmlformats.org/drawingml/2006/main">
            <a:off x="809625" y="1476375"/>
            <a:ext cx="209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020"/>
          </a:bodyPr>
          <a:lstStyle xmlns:a="http://schemas.openxmlformats.org/drawingml/2006/main"/>
          <a:p xmlns:a="http://schemas.openxmlformats.org/drawingml/2006/main">
            <a:pPr algn="l">
              <a:defRPr sz="2550" b="1">
                <a:solidFill>
                  <a:srgbClr val="0E6B6F"/>
                </a:solidFill>
                <a:latin typeface="Helvetica Neue"/>
                <a:ea typeface="Helvetica Neue"/>
                <a:cs typeface="Helvetica Neue"/>
              </a:defRPr>
            </a:pPr>
            <a:r>
              <a:rPr sz="2550" b="1">
                <a:solidFill>
                  <a:srgbClr val="0E6B6F"/>
                </a:solidFill>
                <a:latin typeface="Helvetica Neue"/>
                <a:ea typeface="Helvetica Neue"/>
                <a:cs typeface="Helvetica Neue"/>
              </a:rPr>
              <a:t>8,639</a:t>
            </a:r>
          </a:p>
        </p:txBody>
      </p:sp>
      <p:sp>
        <p:nvSpPr>
          <p:cNvPr id="7" name="">
            <a:extLst xmlns:a="http://schemas.openxmlformats.org/drawingml/2006/main">
              <a:ext uri="{FF2B5EF4-FFF2-40B4-BE49-F238E27FC236}">
                <a16:creationId xmlns:a16="http://schemas.microsoft.com/office/drawing/2014/main" id="{F3004798-7A8B-4D02-A476-1D572717C7C5}"/>
              </a:ext>
            </a:extLst>
          </p:cNvPr>
          <p:cNvSpPr>
            <a:spLocks xmlns:a="http://schemas.openxmlformats.org/drawingml/2006/main" noGrp="1"/>
          </p:cNvSpPr>
          <p:nvPr/>
        </p:nvSpPr>
        <p:spPr>
          <a:xfrm xmlns:a="http://schemas.openxmlformats.org/drawingml/2006/main">
            <a:off x="809625" y="1933575"/>
            <a:ext cx="2095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8390"/>
          </a:bodyPr>
          <a:lstStyle xmlns:a="http://schemas.openxmlformats.org/drawingml/2006/main"/>
          <a:p xmlns:a="http://schemas.openxmlformats.org/drawingml/2006/main">
            <a:pPr algn="l">
              <a:defRPr sz="1125" b="0">
                <a:solidFill>
                  <a:srgbClr val="51636B"/>
                </a:solidFill>
                <a:latin typeface="Helvetica Neue"/>
                <a:ea typeface="Helvetica Neue"/>
                <a:cs typeface="Helvetica Neue"/>
              </a:defRPr>
            </a:pPr>
            <a:r>
              <a:rPr sz="1125" b="0">
                <a:solidFill>
                  <a:srgbClr val="51636B"/>
                </a:solidFill>
                <a:latin typeface="Helvetica Neue"/>
                <a:ea typeface="Helvetica Neue"/>
                <a:cs typeface="Helvetica Neue"/>
              </a:rPr>
              <a:t>prokaryotic strains with minimum, optimum, and maximum growth temperatures</a:t>
            </a:r>
          </a:p>
        </p:txBody>
      </p:sp>
      <p:sp>
        <p:nvSpPr>
          <p:cNvPr id="8" name="">
            <a:extLst xmlns:a="http://schemas.openxmlformats.org/drawingml/2006/main">
              <a:ext uri="{FF2B5EF4-FFF2-40B4-BE49-F238E27FC236}">
                <a16:creationId xmlns:a16="http://schemas.microsoft.com/office/drawing/2014/main" id="{9500AA81-FAE9-4573-ADDB-D376F5871442}"/>
              </a:ext>
            </a:extLst>
          </p:cNvPr>
          <p:cNvSpPr>
            <a:spLocks xmlns:a="http://schemas.openxmlformats.org/drawingml/2006/main" noGrp="1"/>
          </p:cNvSpPr>
          <p:nvPr/>
        </p:nvSpPr>
        <p:spPr>
          <a:xfrm xmlns:a="http://schemas.openxmlformats.org/drawingml/2006/main">
            <a:off x="3762375" y="1476375"/>
            <a:ext cx="209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020"/>
          </a:bodyPr>
          <a:lstStyle xmlns:a="http://schemas.openxmlformats.org/drawingml/2006/main"/>
          <a:p xmlns:a="http://schemas.openxmlformats.org/drawingml/2006/main">
            <a:pPr algn="l">
              <a:defRPr sz="2550" b="1">
                <a:solidFill>
                  <a:srgbClr val="2B8C9D"/>
                </a:solidFill>
                <a:latin typeface="Helvetica Neue"/>
                <a:ea typeface="Helvetica Neue"/>
                <a:cs typeface="Helvetica Neue"/>
              </a:defRPr>
            </a:pPr>
            <a:r>
              <a:rPr sz="2550" b="1">
                <a:solidFill>
                  <a:srgbClr val="2B8C9D"/>
                </a:solidFill>
                <a:latin typeface="Helvetica Neue"/>
                <a:ea typeface="Helvetica Neue"/>
                <a:cs typeface="Helvetica Neue"/>
              </a:rPr>
              <a:t>8,090</a:t>
            </a:r>
          </a:p>
        </p:txBody>
      </p:sp>
      <p:sp>
        <p:nvSpPr>
          <p:cNvPr id="9" name="">
            <a:extLst xmlns:a="http://schemas.openxmlformats.org/drawingml/2006/main">
              <a:ext uri="{FF2B5EF4-FFF2-40B4-BE49-F238E27FC236}">
                <a16:creationId xmlns:a16="http://schemas.microsoft.com/office/drawing/2014/main" id="{867089E7-37F8-4F6B-A110-2AC9AC01F269}"/>
              </a:ext>
            </a:extLst>
          </p:cNvPr>
          <p:cNvSpPr>
            <a:spLocks xmlns:a="http://schemas.openxmlformats.org/drawingml/2006/main" noGrp="1"/>
          </p:cNvSpPr>
          <p:nvPr/>
        </p:nvSpPr>
        <p:spPr>
          <a:xfrm xmlns:a="http://schemas.openxmlformats.org/drawingml/2006/main">
            <a:off x="3762375" y="1933575"/>
            <a:ext cx="2095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51636B"/>
                </a:solidFill>
                <a:latin typeface="Helvetica Neue"/>
                <a:ea typeface="Helvetica Neue"/>
                <a:cs typeface="Helvetica Neue"/>
              </a:defRPr>
            </a:pPr>
            <a:r>
              <a:rPr sz="1125" b="0">
                <a:solidFill>
                  <a:srgbClr val="51636B"/>
                </a:solidFill>
                <a:latin typeface="Helvetica Neue"/>
                <a:ea typeface="Helvetica Neue"/>
                <a:cs typeface="Helvetica Neue"/>
              </a:rPr>
              <a:t>bacterial strains</a:t>
            </a:r>
          </a:p>
        </p:txBody>
      </p:sp>
      <p:sp>
        <p:nvSpPr>
          <p:cNvPr id="10" name="">
            <a:extLst xmlns:a="http://schemas.openxmlformats.org/drawingml/2006/main">
              <a:ext uri="{FF2B5EF4-FFF2-40B4-BE49-F238E27FC236}">
                <a16:creationId xmlns:a16="http://schemas.microsoft.com/office/drawing/2014/main" id="{1414C496-4D19-4E07-B88B-3D930953A398}"/>
              </a:ext>
            </a:extLst>
          </p:cNvPr>
          <p:cNvSpPr>
            <a:spLocks xmlns:a="http://schemas.openxmlformats.org/drawingml/2006/main" noGrp="1"/>
          </p:cNvSpPr>
          <p:nvPr/>
        </p:nvSpPr>
        <p:spPr>
          <a:xfrm xmlns:a="http://schemas.openxmlformats.org/drawingml/2006/main">
            <a:off x="6429375" y="1476375"/>
            <a:ext cx="209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020"/>
          </a:bodyPr>
          <a:lstStyle xmlns:a="http://schemas.openxmlformats.org/drawingml/2006/main"/>
          <a:p xmlns:a="http://schemas.openxmlformats.org/drawingml/2006/main">
            <a:pPr algn="l">
              <a:defRPr sz="2550" b="1">
                <a:solidFill>
                  <a:srgbClr val="D5A129"/>
                </a:solidFill>
                <a:latin typeface="Helvetica Neue"/>
                <a:ea typeface="Helvetica Neue"/>
                <a:cs typeface="Helvetica Neue"/>
              </a:defRPr>
            </a:pPr>
            <a:r>
              <a:rPr sz="2550" b="1">
                <a:solidFill>
                  <a:srgbClr val="D5A129"/>
                </a:solidFill>
                <a:latin typeface="Helvetica Neue"/>
                <a:ea typeface="Helvetica Neue"/>
                <a:cs typeface="Helvetica Neue"/>
              </a:rPr>
              <a:t>549</a:t>
            </a:r>
          </a:p>
        </p:txBody>
      </p:sp>
      <p:sp>
        <p:nvSpPr>
          <p:cNvPr id="11" name="">
            <a:extLst xmlns:a="http://schemas.openxmlformats.org/drawingml/2006/main">
              <a:ext uri="{FF2B5EF4-FFF2-40B4-BE49-F238E27FC236}">
                <a16:creationId xmlns:a16="http://schemas.microsoft.com/office/drawing/2014/main" id="{994B6AB1-725F-42DA-98CB-D7041657AE06}"/>
              </a:ext>
            </a:extLst>
          </p:cNvPr>
          <p:cNvSpPr>
            <a:spLocks xmlns:a="http://schemas.openxmlformats.org/drawingml/2006/main" noGrp="1"/>
          </p:cNvSpPr>
          <p:nvPr/>
        </p:nvSpPr>
        <p:spPr>
          <a:xfrm xmlns:a="http://schemas.openxmlformats.org/drawingml/2006/main">
            <a:off x="6429375" y="1933575"/>
            <a:ext cx="2095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51636B"/>
                </a:solidFill>
                <a:latin typeface="Helvetica Neue"/>
                <a:ea typeface="Helvetica Neue"/>
                <a:cs typeface="Helvetica Neue"/>
              </a:defRPr>
            </a:pPr>
            <a:r>
              <a:rPr sz="1125" b="0">
                <a:solidFill>
                  <a:srgbClr val="51636B"/>
                </a:solidFill>
                <a:latin typeface="Helvetica Neue"/>
                <a:ea typeface="Helvetica Neue"/>
                <a:cs typeface="Helvetica Neue"/>
              </a:rPr>
              <a:t>archaeal strains</a:t>
            </a:r>
          </a:p>
        </p:txBody>
      </p:sp>
      <p:sp>
        <p:nvSpPr>
          <p:cNvPr id="12" name="">
            <a:extLst xmlns:a="http://schemas.openxmlformats.org/drawingml/2006/main">
              <a:ext uri="{FF2B5EF4-FFF2-40B4-BE49-F238E27FC236}">
                <a16:creationId xmlns:a16="http://schemas.microsoft.com/office/drawing/2014/main" id="{ACE65148-62D3-48A0-AB18-EA8C85C9B9DF}"/>
              </a:ext>
            </a:extLst>
          </p:cNvPr>
          <p:cNvSpPr>
            <a:spLocks xmlns:a="http://schemas.openxmlformats.org/drawingml/2006/main" noGrp="1"/>
          </p:cNvSpPr>
          <p:nvPr/>
        </p:nvSpPr>
        <p:spPr>
          <a:xfrm xmlns:a="http://schemas.openxmlformats.org/drawingml/2006/main">
            <a:off x="9096375" y="1476375"/>
            <a:ext cx="209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020"/>
          </a:bodyPr>
          <a:lstStyle xmlns:a="http://schemas.openxmlformats.org/drawingml/2006/main"/>
          <a:p xmlns:a="http://schemas.openxmlformats.org/drawingml/2006/main">
            <a:pPr algn="l">
              <a:defRPr sz="2550" b="1">
                <a:solidFill>
                  <a:srgbClr val="D7634C"/>
                </a:solidFill>
                <a:latin typeface="Helvetica Neue"/>
                <a:ea typeface="Helvetica Neue"/>
                <a:cs typeface="Helvetica Neue"/>
              </a:defRPr>
            </a:pPr>
            <a:r>
              <a:rPr sz="2550" b="1">
                <a:solidFill>
                  <a:srgbClr val="D7634C"/>
                </a:solidFill>
                <a:latin typeface="Helvetica Neue"/>
                <a:ea typeface="Helvetica Neue"/>
                <a:cs typeface="Helvetica Neue"/>
              </a:rPr>
              <a:t>1 row</a:t>
            </a:r>
          </a:p>
        </p:txBody>
      </p:sp>
      <p:sp>
        <p:nvSpPr>
          <p:cNvPr id="13" name="">
            <a:extLst xmlns:a="http://schemas.openxmlformats.org/drawingml/2006/main">
              <a:ext uri="{FF2B5EF4-FFF2-40B4-BE49-F238E27FC236}">
                <a16:creationId xmlns:a16="http://schemas.microsoft.com/office/drawing/2014/main" id="{6D9942AE-AB9B-4257-86BB-D12B977AA6E4}"/>
              </a:ext>
            </a:extLst>
          </p:cNvPr>
          <p:cNvSpPr>
            <a:spLocks xmlns:a="http://schemas.openxmlformats.org/drawingml/2006/main" noGrp="1"/>
          </p:cNvSpPr>
          <p:nvPr/>
        </p:nvSpPr>
        <p:spPr>
          <a:xfrm xmlns:a="http://schemas.openxmlformats.org/drawingml/2006/main">
            <a:off x="9096375" y="1933575"/>
            <a:ext cx="2095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556"/>
          </a:bodyPr>
          <a:lstStyle xmlns:a="http://schemas.openxmlformats.org/drawingml/2006/main"/>
          <a:p xmlns:a="http://schemas.openxmlformats.org/drawingml/2006/main">
            <a:pPr algn="l">
              <a:defRPr sz="1125" b="0">
                <a:solidFill>
                  <a:srgbClr val="51636B"/>
                </a:solidFill>
                <a:latin typeface="Helvetica Neue"/>
                <a:ea typeface="Helvetica Neue"/>
                <a:cs typeface="Helvetica Neue"/>
              </a:defRPr>
            </a:pPr>
            <a:r>
              <a:rPr sz="1125" b="0">
                <a:solidFill>
                  <a:srgbClr val="51636B"/>
                </a:solidFill>
                <a:latin typeface="Helvetica Neue"/>
                <a:ea typeface="Helvetica Neue"/>
                <a:cs typeface="Helvetica Neue"/>
              </a:rPr>
              <a:t>per organism or strain, not per protein sequence</a:t>
            </a:r>
          </a:p>
        </p:txBody>
      </p:sp>
      <p:sp>
        <p:nvSpPr>
          <p:cNvPr id="14" name="">
            <a:extLst xmlns:a="http://schemas.openxmlformats.org/drawingml/2006/main">
              <a:ext uri="{FF2B5EF4-FFF2-40B4-BE49-F238E27FC236}">
                <a16:creationId xmlns:a16="http://schemas.microsoft.com/office/drawing/2014/main" id="{780507CA-E6A0-43B5-8213-6F4541802C78}"/>
              </a:ext>
            </a:extLst>
          </p:cNvPr>
          <p:cNvSpPr>
            <a:spLocks xmlns:a="http://schemas.openxmlformats.org/drawingml/2006/main" noGrp="1"/>
          </p:cNvSpPr>
          <p:nvPr/>
        </p:nvSpPr>
        <p:spPr>
          <a:xfrm xmlns:a="http://schemas.openxmlformats.org/drawingml/2006/main">
            <a:off x="809625" y="2857500"/>
            <a:ext cx="10382250" cy="2095500"/>
          </a:xfrm>
          <a:prstGeom xmlns:a="http://schemas.openxmlformats.org/drawingml/2006/main" prst="roundRect">
            <a:avLst>
              <a:gd name="adj" fmla="val 2727"/>
            </a:avLst>
          </a:prstGeom>
          <a:solidFill xmlns:a="http://schemas.openxmlformats.org/drawingml/2006/main">
            <a:srgbClr val="FFFFFF"/>
          </a:solidFill>
          <a:ln xmlns:a="http://schemas.openxmlformats.org/drawingml/2006/main" w="9525">
            <a:solidFill>
              <a:srgbClr val="CBD6D8"/>
            </a:solidFill>
          </a:ln>
        </p:spPr>
      </p:sp>
      <p:sp>
        <p:nvSpPr>
          <p:cNvPr id="15" name="">
            <a:extLst xmlns:a="http://schemas.openxmlformats.org/drawingml/2006/main">
              <a:ext uri="{FF2B5EF4-FFF2-40B4-BE49-F238E27FC236}">
                <a16:creationId xmlns:a16="http://schemas.microsoft.com/office/drawing/2014/main" id="{7EAFDEDD-6B71-4C99-8C10-C23B28FD7E7A}"/>
              </a:ext>
            </a:extLst>
          </p:cNvPr>
          <p:cNvSpPr>
            <a:spLocks xmlns:a="http://schemas.openxmlformats.org/drawingml/2006/main" noGrp="1"/>
          </p:cNvSpPr>
          <p:nvPr/>
        </p:nvSpPr>
        <p:spPr>
          <a:xfrm xmlns:a="http://schemas.openxmlformats.org/drawingml/2006/main">
            <a:off x="1095375" y="3095625"/>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14262D"/>
                </a:solidFill>
                <a:latin typeface="Helvetica Neue"/>
                <a:ea typeface="Helvetica Neue"/>
                <a:cs typeface="Helvetica Neue"/>
              </a:defRPr>
            </a:pPr>
            <a:r>
              <a:rPr sz="1575" b="1">
                <a:solidFill>
                  <a:srgbClr val="14262D"/>
                </a:solidFill>
                <a:latin typeface="Helvetica Neue"/>
                <a:ea typeface="Helvetica Neue"/>
                <a:cs typeface="Helvetica Neue"/>
              </a:rPr>
              <a:t>Temperature provenance</a:t>
            </a:r>
          </a:p>
        </p:txBody>
      </p:sp>
      <p:sp>
        <p:nvSpPr>
          <p:cNvPr id="16" name="">
            <a:extLst xmlns:a="http://schemas.openxmlformats.org/drawingml/2006/main">
              <a:ext uri="{FF2B5EF4-FFF2-40B4-BE49-F238E27FC236}">
                <a16:creationId xmlns:a16="http://schemas.microsoft.com/office/drawing/2014/main" id="{238EEA0E-F258-4727-8427-6A0ACDA19101}"/>
              </a:ext>
            </a:extLst>
          </p:cNvPr>
          <p:cNvSpPr>
            <a:spLocks xmlns:a="http://schemas.openxmlformats.org/drawingml/2006/main" noGrp="1"/>
          </p:cNvSpPr>
          <p:nvPr/>
        </p:nvSpPr>
        <p:spPr>
          <a:xfrm xmlns:a="http://schemas.openxmlformats.org/drawingml/2006/main">
            <a:off x="3714750" y="3028950"/>
            <a:ext cx="704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1636B"/>
                </a:solidFill>
                <a:latin typeface="Helvetica Neue"/>
                <a:ea typeface="Helvetica Neue"/>
                <a:cs typeface="Helvetica Neue"/>
              </a:defRPr>
            </a:pPr>
            <a:r>
              <a:rPr sz="1350" b="0">
                <a:solidFill>
                  <a:srgbClr val="51636B"/>
                </a:solidFill>
                <a:latin typeface="Helvetica Neue"/>
                <a:ea typeface="Helvetica Neue"/>
                <a:cs typeface="Helvetica Neue"/>
              </a:rPr>
              <a:t>Authors manually collected Tmin, Topt, and Tmax from the oldest relevant study linked by NCBI Taxonomy, or from Bergey’s Manual when no linked study was available.</a:t>
            </a:r>
          </a:p>
        </p:txBody>
      </p:sp>
      <p:sp>
        <p:nvSpPr>
          <p:cNvPr id="17" name="">
            <a:extLst xmlns:a="http://schemas.openxmlformats.org/drawingml/2006/main">
              <a:ext uri="{FF2B5EF4-FFF2-40B4-BE49-F238E27FC236}">
                <a16:creationId xmlns:a16="http://schemas.microsoft.com/office/drawing/2014/main" id="{E4B77AAB-0E05-4967-8E4B-6522B33B641D}"/>
              </a:ext>
            </a:extLst>
          </p:cNvPr>
          <p:cNvSpPr>
            <a:spLocks xmlns:a="http://schemas.openxmlformats.org/drawingml/2006/main" noGrp="1"/>
          </p:cNvSpPr>
          <p:nvPr/>
        </p:nvSpPr>
        <p:spPr>
          <a:xfrm xmlns:a="http://schemas.openxmlformats.org/drawingml/2006/main">
            <a:off x="1095375" y="3857625"/>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631"/>
          </a:bodyPr>
          <a:lstStyle xmlns:a="http://schemas.openxmlformats.org/drawingml/2006/main"/>
          <a:p xmlns:a="http://schemas.openxmlformats.org/drawingml/2006/main">
            <a:pPr algn="l">
              <a:defRPr sz="1575" b="1">
                <a:solidFill>
                  <a:srgbClr val="14262D"/>
                </a:solidFill>
                <a:latin typeface="Helvetica Neue"/>
                <a:ea typeface="Helvetica Neue"/>
                <a:cs typeface="Helvetica Neue"/>
              </a:defRPr>
            </a:pPr>
            <a:r>
              <a:rPr sz="1575" b="1">
                <a:solidFill>
                  <a:srgbClr val="14262D"/>
                </a:solidFill>
                <a:latin typeface="Helvetica Neue"/>
                <a:ea typeface="Helvetica Neue"/>
                <a:cs typeface="Helvetica Neue"/>
              </a:rPr>
              <a:t>Additional organism information</a:t>
            </a:r>
          </a:p>
        </p:txBody>
      </p:sp>
      <p:sp>
        <p:nvSpPr>
          <p:cNvPr id="18" name="">
            <a:extLst xmlns:a="http://schemas.openxmlformats.org/drawingml/2006/main">
              <a:ext uri="{FF2B5EF4-FFF2-40B4-BE49-F238E27FC236}">
                <a16:creationId xmlns:a16="http://schemas.microsoft.com/office/drawing/2014/main" id="{86E6DF48-AD1B-4293-A8B3-85F3F659DBC1}"/>
              </a:ext>
            </a:extLst>
          </p:cNvPr>
          <p:cNvSpPr>
            <a:spLocks xmlns:a="http://schemas.openxmlformats.org/drawingml/2006/main" noGrp="1"/>
          </p:cNvSpPr>
          <p:nvPr/>
        </p:nvSpPr>
        <p:spPr>
          <a:xfrm xmlns:a="http://schemas.openxmlformats.org/drawingml/2006/main">
            <a:off x="3714750" y="3781425"/>
            <a:ext cx="704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1636B"/>
                </a:solidFill>
                <a:latin typeface="Helvetica Neue"/>
                <a:ea typeface="Helvetica Neue"/>
                <a:cs typeface="Helvetica Neue"/>
              </a:defRPr>
            </a:pPr>
            <a:r>
              <a:rPr sz="1350" b="0">
                <a:solidFill>
                  <a:srgbClr val="51636B"/>
                </a:solidFill>
                <a:latin typeface="Helvetica Neue"/>
                <a:ea typeface="Helvetica Neue"/>
                <a:cs typeface="Helvetica Neue"/>
              </a:rPr>
              <a:t>Taxonomy ID, strain, lineage from superkingdom to genus, genome accession, genome GC content and size, and 16S rRNA accession and GC content.</a:t>
            </a:r>
          </a:p>
        </p:txBody>
      </p:sp>
      <p:sp>
        <p:nvSpPr>
          <p:cNvPr id="19" name="">
            <a:extLst xmlns:a="http://schemas.openxmlformats.org/drawingml/2006/main">
              <a:ext uri="{FF2B5EF4-FFF2-40B4-BE49-F238E27FC236}">
                <a16:creationId xmlns:a16="http://schemas.microsoft.com/office/drawing/2014/main" id="{60639394-9663-4EAA-9147-BF3F7BEEAA87}"/>
              </a:ext>
            </a:extLst>
          </p:cNvPr>
          <p:cNvSpPr>
            <a:spLocks xmlns:a="http://schemas.openxmlformats.org/drawingml/2006/main" noGrp="1"/>
          </p:cNvSpPr>
          <p:nvPr/>
        </p:nvSpPr>
        <p:spPr>
          <a:xfrm xmlns:a="http://schemas.openxmlformats.org/drawingml/2006/main">
            <a:off x="1714500" y="5429250"/>
            <a:ext cx="876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545"/>
          </a:bodyPr>
          <a:lstStyle xmlns:a="http://schemas.openxmlformats.org/drawingml/2006/main"/>
          <a:p xmlns:a="http://schemas.openxmlformats.org/drawingml/2006/main">
            <a:pPr algn="ctr">
              <a:defRPr sz="1575" b="1">
                <a:solidFill>
                  <a:srgbClr val="0E6B6F"/>
                </a:solidFill>
                <a:latin typeface="Helvetica Neue"/>
                <a:ea typeface="Helvetica Neue"/>
                <a:cs typeface="Helvetica Neue"/>
              </a:defRPr>
            </a:pPr>
            <a:r>
              <a:rPr sz="1575" b="1">
                <a:solidFill>
                  <a:srgbClr val="0E6B6F"/>
                </a:solidFill>
                <a:latin typeface="Helvetica Neue"/>
                <a:ea typeface="Helvetica Neue"/>
                <a:cs typeface="Helvetica Neue"/>
              </a:rPr>
              <a:t>Our proteins inherit these organism-level measurements through exact UniProt OX taxonomy-ID matching.</a:t>
            </a:r>
          </a:p>
        </p:txBody>
      </p:sp>
    </p:spTree>
    <p:extLst>
      <p:ext uri="{BB962C8B-B14F-4D97-AF65-F5344CB8AC3E}">
        <p14:creationId xmlns:p14="http://schemas.microsoft.com/office/powerpoint/2010/main" val="1908713634"/>
      </p:ext>
    </p:extLst>
  </p:cSld>
</p:sld>
</file>

<file path=ppt/slides/slide3.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648C9589-A99E-4ED6-90B3-42B71CE35B59}"/>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0E6B6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EF8B18A-C4A9-458F-B1E8-C209F9E0E0DB}"/>
              </a:ext>
            </a:extLst>
          </p:cNvPr>
          <p:cNvSpPr>
            <a:spLocks xmlns:a="http://schemas.openxmlformats.org/drawingml/2006/main" noGrp="1"/>
          </p:cNvSpPr>
          <p:nvPr/>
        </p:nvSpPr>
        <p:spPr>
          <a:xfrm xmlns:a="http://schemas.openxmlformats.org/drawingml/2006/main">
            <a:off x="552450" y="28575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a:solidFill>
                  <a:srgbClr val="0E6B6F"/>
                </a:solidFill>
                <a:latin typeface="Helvetica Neue"/>
                <a:ea typeface="Helvetica Neue"/>
                <a:cs typeface="Helvetica Neue"/>
              </a:defRPr>
            </a:pPr>
            <a:r>
              <a:rPr sz="900" b="1">
                <a:solidFill>
                  <a:srgbClr val="0E6B6F"/>
                </a:solidFill>
                <a:latin typeface="Helvetica Neue"/>
                <a:ea typeface="Helvetica Neue"/>
                <a:cs typeface="Helvetica Neue"/>
              </a:rPr>
              <a:t>DATA SOURCE</a:t>
            </a:r>
          </a:p>
        </p:txBody>
      </p:sp>
      <p:sp>
        <p:nvSpPr>
          <p:cNvPr id="3" name="">
            <a:extLst xmlns:a="http://schemas.openxmlformats.org/drawingml/2006/main">
              <a:ext uri="{FF2B5EF4-FFF2-40B4-BE49-F238E27FC236}">
                <a16:creationId xmlns:a16="http://schemas.microsoft.com/office/drawing/2014/main" id="{609756D1-A19F-4A65-99BC-53F960477F68}"/>
              </a:ext>
            </a:extLst>
          </p:cNvPr>
          <p:cNvSpPr>
            <a:spLocks xmlns:a="http://schemas.openxmlformats.org/drawingml/2006/main" noGrp="1"/>
          </p:cNvSpPr>
          <p:nvPr/>
        </p:nvSpPr>
        <p:spPr>
          <a:xfrm xmlns:a="http://schemas.openxmlformats.org/drawingml/2006/main">
            <a:off x="552450" y="495300"/>
            <a:ext cx="1081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14262D"/>
                </a:solidFill>
                <a:latin typeface="Helvetica Neue"/>
                <a:ea typeface="Helvetica Neue"/>
                <a:cs typeface="Helvetica Neue"/>
              </a:defRPr>
            </a:pPr>
            <a:r>
              <a:rPr sz="2400" b="1">
                <a:solidFill>
                  <a:srgbClr val="14262D"/>
                </a:solidFill>
                <a:latin typeface="Helvetica Neue"/>
                <a:ea typeface="Helvetica Neue"/>
                <a:cs typeface="Helvetica Neue"/>
              </a:rPr>
              <a:t>Temperature variables and data completeness</a:t>
            </a:r>
          </a:p>
        </p:txBody>
      </p:sp>
      <p:sp>
        <p:nvSpPr>
          <p:cNvPr id="4" name="">
            <a:extLst xmlns:a="http://schemas.openxmlformats.org/drawingml/2006/main">
              <a:ext uri="{FF2B5EF4-FFF2-40B4-BE49-F238E27FC236}">
                <a16:creationId xmlns:a16="http://schemas.microsoft.com/office/drawing/2014/main" id="{5DEA1F1A-5AF4-4224-896F-28FA394E0037}"/>
              </a:ext>
            </a:extLst>
          </p:cNvPr>
          <p:cNvSpPr>
            <a:spLocks xmlns:a="http://schemas.openxmlformats.org/drawingml/2006/main" noGrp="1"/>
          </p:cNvSpPr>
          <p:nvPr/>
        </p:nvSpPr>
        <p:spPr>
          <a:xfrm xmlns:a="http://schemas.openxmlformats.org/drawingml/2006/main">
            <a:off x="552450" y="1066800"/>
            <a:ext cx="11049000" cy="19050"/>
          </a:xfrm>
          <a:prstGeom xmlns:a="http://schemas.openxmlformats.org/drawingml/2006/main" prst="rect">
            <a:avLst/>
          </a:prstGeom>
          <a:solidFill xmlns:a="http://schemas.openxmlformats.org/drawingml/2006/main">
            <a:srgbClr val="CBD6D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DA42AC0-307C-48B9-9A8B-D980C6EADA05}"/>
              </a:ext>
            </a:extLst>
          </p:cNvPr>
          <p:cNvSpPr>
            <a:spLocks xmlns:a="http://schemas.openxmlformats.org/drawingml/2006/main" noGrp="1"/>
          </p:cNvSpPr>
          <p:nvPr/>
        </p:nvSpPr>
        <p:spPr>
          <a:xfrm xmlns:a="http://schemas.openxmlformats.org/drawingml/2006/main">
            <a:off x="11144250" y="6477000"/>
            <a:ext cx="47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r">
              <a:defRPr sz="825" b="0">
                <a:solidFill>
                  <a:srgbClr val="51636B"/>
                </a:solidFill>
                <a:latin typeface="Helvetica Neue"/>
                <a:ea typeface="Helvetica Neue"/>
                <a:cs typeface="Helvetica Neue"/>
              </a:defRPr>
            </a:pPr>
            <a:r>
              <a:rPr sz="825" b="0">
                <a:solidFill>
                  <a:srgbClr val="51636B"/>
                </a:solidFill>
                <a:latin typeface="Helvetica Neue"/>
                <a:ea typeface="Helvetica Neue"/>
                <a:cs typeface="Helvetica Neue"/>
              </a:rPr>
              <a:t>03</a:t>
            </a:r>
          </a:p>
        </p:txBody>
      </p:sp>
      <p:sp>
        <p:nvSpPr>
          <p:cNvPr id="6" name="">
            <a:extLst xmlns:a="http://schemas.openxmlformats.org/drawingml/2006/main">
              <a:ext uri="{FF2B5EF4-FFF2-40B4-BE49-F238E27FC236}">
                <a16:creationId xmlns:a16="http://schemas.microsoft.com/office/drawing/2014/main" id="{47E6B9EA-21FA-478E-BF26-C82FF4C4D99C}"/>
              </a:ext>
            </a:extLst>
          </p:cNvPr>
          <p:cNvSpPr>
            <a:spLocks xmlns:a="http://schemas.openxmlformats.org/drawingml/2006/main" noGrp="1"/>
          </p:cNvSpPr>
          <p:nvPr/>
        </p:nvSpPr>
        <p:spPr>
          <a:xfrm xmlns:a="http://schemas.openxmlformats.org/drawingml/2006/main">
            <a:off x="714375" y="1381125"/>
            <a:ext cx="1381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lgn="l">
              <a:defRPr sz="1200" b="1">
                <a:solidFill>
                  <a:srgbClr val="51636B"/>
                </a:solidFill>
                <a:latin typeface="Helvetica Neue"/>
                <a:ea typeface="Helvetica Neue"/>
                <a:cs typeface="Helvetica Neue"/>
              </a:defRPr>
            </a:pPr>
            <a:r>
              <a:rPr sz="1200" b="1">
                <a:solidFill>
                  <a:srgbClr val="51636B"/>
                </a:solidFill>
                <a:latin typeface="Helvetica Neue"/>
                <a:ea typeface="Helvetica Neue"/>
                <a:cs typeface="Helvetica Neue"/>
              </a:rPr>
              <a:t>Field</a:t>
            </a:r>
          </a:p>
        </p:txBody>
      </p:sp>
      <p:sp>
        <p:nvSpPr>
          <p:cNvPr id="7" name="">
            <a:extLst xmlns:a="http://schemas.openxmlformats.org/drawingml/2006/main">
              <a:ext uri="{FF2B5EF4-FFF2-40B4-BE49-F238E27FC236}">
                <a16:creationId xmlns:a16="http://schemas.microsoft.com/office/drawing/2014/main" id="{616FDA1C-8EC5-4FB4-A8F2-682F5462CDFC}"/>
              </a:ext>
            </a:extLst>
          </p:cNvPr>
          <p:cNvSpPr>
            <a:spLocks xmlns:a="http://schemas.openxmlformats.org/drawingml/2006/main" noGrp="1"/>
          </p:cNvSpPr>
          <p:nvPr/>
        </p:nvSpPr>
        <p:spPr>
          <a:xfrm xmlns:a="http://schemas.openxmlformats.org/drawingml/2006/main">
            <a:off x="2095500" y="1381125"/>
            <a:ext cx="5095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lgn="l">
              <a:defRPr sz="1200" b="1">
                <a:solidFill>
                  <a:srgbClr val="51636B"/>
                </a:solidFill>
                <a:latin typeface="Helvetica Neue"/>
                <a:ea typeface="Helvetica Neue"/>
                <a:cs typeface="Helvetica Neue"/>
              </a:defRPr>
            </a:pPr>
            <a:r>
              <a:rPr sz="1200" b="1">
                <a:solidFill>
                  <a:srgbClr val="51636B"/>
                </a:solidFill>
                <a:latin typeface="Helvetica Neue"/>
                <a:ea typeface="Helvetica Neue"/>
                <a:cs typeface="Helvetica Neue"/>
              </a:rPr>
              <a:t>Meaning</a:t>
            </a:r>
          </a:p>
        </p:txBody>
      </p:sp>
      <p:sp>
        <p:nvSpPr>
          <p:cNvPr id="8" name="">
            <a:extLst xmlns:a="http://schemas.openxmlformats.org/drawingml/2006/main">
              <a:ext uri="{FF2B5EF4-FFF2-40B4-BE49-F238E27FC236}">
                <a16:creationId xmlns:a16="http://schemas.microsoft.com/office/drawing/2014/main" id="{F925DFB0-D60D-41A9-9C53-2315D6587D9F}"/>
              </a:ext>
            </a:extLst>
          </p:cNvPr>
          <p:cNvSpPr>
            <a:spLocks xmlns:a="http://schemas.openxmlformats.org/drawingml/2006/main" noGrp="1"/>
          </p:cNvSpPr>
          <p:nvPr/>
        </p:nvSpPr>
        <p:spPr>
          <a:xfrm xmlns:a="http://schemas.openxmlformats.org/drawingml/2006/main">
            <a:off x="7524750" y="1381125"/>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lgn="ctr">
              <a:defRPr sz="1200" b="1">
                <a:solidFill>
                  <a:srgbClr val="51636B"/>
                </a:solidFill>
                <a:latin typeface="Helvetica Neue"/>
                <a:ea typeface="Helvetica Neue"/>
                <a:cs typeface="Helvetica Neue"/>
              </a:defRPr>
            </a:pPr>
            <a:r>
              <a:rPr sz="1200" b="1">
                <a:solidFill>
                  <a:srgbClr val="51636B"/>
                </a:solidFill>
                <a:latin typeface="Helvetica Neue"/>
                <a:ea typeface="Helvetica Neue"/>
                <a:cs typeface="Helvetica Neue"/>
              </a:rPr>
              <a:t>TEMPURA</a:t>
            </a:r>
          </a:p>
        </p:txBody>
      </p:sp>
      <p:sp>
        <p:nvSpPr>
          <p:cNvPr id="9" name="">
            <a:extLst xmlns:a="http://schemas.openxmlformats.org/drawingml/2006/main">
              <a:ext uri="{FF2B5EF4-FFF2-40B4-BE49-F238E27FC236}">
                <a16:creationId xmlns:a16="http://schemas.microsoft.com/office/drawing/2014/main" id="{77DAF3E0-15C8-4CD8-B4FC-CEA36F74EB04}"/>
              </a:ext>
            </a:extLst>
          </p:cNvPr>
          <p:cNvSpPr>
            <a:spLocks xmlns:a="http://schemas.openxmlformats.org/drawingml/2006/main" noGrp="1"/>
          </p:cNvSpPr>
          <p:nvPr/>
        </p:nvSpPr>
        <p:spPr>
          <a:xfrm xmlns:a="http://schemas.openxmlformats.org/drawingml/2006/main">
            <a:off x="9334500" y="1381125"/>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lgn="ctr">
              <a:defRPr sz="1200" b="1">
                <a:solidFill>
                  <a:srgbClr val="51636B"/>
                </a:solidFill>
                <a:latin typeface="Helvetica Neue"/>
                <a:ea typeface="Helvetica Neue"/>
                <a:cs typeface="Helvetica Neue"/>
              </a:defRPr>
            </a:pPr>
            <a:r>
              <a:rPr sz="1200" b="1">
                <a:solidFill>
                  <a:srgbClr val="51636B"/>
                </a:solidFill>
                <a:latin typeface="Helvetica Neue"/>
                <a:ea typeface="Helvetica Neue"/>
                <a:cs typeface="Helvetica Neue"/>
              </a:rPr>
              <a:t>Final J-domain MSA</a:t>
            </a:r>
          </a:p>
        </p:txBody>
      </p:sp>
      <p:sp>
        <p:nvSpPr>
          <p:cNvPr id="10" name="">
            <a:extLst xmlns:a="http://schemas.openxmlformats.org/drawingml/2006/main">
              <a:ext uri="{FF2B5EF4-FFF2-40B4-BE49-F238E27FC236}">
                <a16:creationId xmlns:a16="http://schemas.microsoft.com/office/drawing/2014/main" id="{12643B1B-4E1C-4E55-8BD0-DA6DC01E4557}"/>
              </a:ext>
            </a:extLst>
          </p:cNvPr>
          <p:cNvSpPr>
            <a:spLocks xmlns:a="http://schemas.openxmlformats.org/drawingml/2006/main" noGrp="1"/>
          </p:cNvSpPr>
          <p:nvPr/>
        </p:nvSpPr>
        <p:spPr>
          <a:xfrm xmlns:a="http://schemas.openxmlformats.org/drawingml/2006/main">
            <a:off x="619125" y="1695450"/>
            <a:ext cx="11001375" cy="571500"/>
          </a:xfrm>
          <a:prstGeom xmlns:a="http://schemas.openxmlformats.org/drawingml/2006/main" prst="rect">
            <a:avLst/>
          </a:prstGeom>
          <a:solidFill xmlns:a="http://schemas.openxmlformats.org/drawingml/2006/main">
            <a:srgbClr val="EEF5F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B936349-050B-456A-BCC8-47356C42AF3B}"/>
              </a:ext>
            </a:extLst>
          </p:cNvPr>
          <p:cNvSpPr>
            <a:spLocks xmlns:a="http://schemas.openxmlformats.org/drawingml/2006/main" noGrp="1"/>
          </p:cNvSpPr>
          <p:nvPr/>
        </p:nvSpPr>
        <p:spPr>
          <a:xfrm xmlns:a="http://schemas.openxmlformats.org/drawingml/2006/main">
            <a:off x="762000" y="1762125"/>
            <a:ext cx="123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0E6B6F"/>
                </a:solidFill>
                <a:latin typeface="Helvetica Neue"/>
                <a:ea typeface="Helvetica Neue"/>
                <a:cs typeface="Helvetica Neue"/>
              </a:defRPr>
            </a:pPr>
            <a:r>
              <a:rPr sz="1425" b="1">
                <a:solidFill>
                  <a:srgbClr val="0E6B6F"/>
                </a:solidFill>
                <a:latin typeface="Helvetica Neue"/>
                <a:ea typeface="Helvetica Neue"/>
                <a:cs typeface="Helvetica Neue"/>
              </a:rPr>
              <a:t>Tmin</a:t>
            </a:r>
          </a:p>
        </p:txBody>
      </p:sp>
      <p:sp>
        <p:nvSpPr>
          <p:cNvPr id="12" name="">
            <a:extLst xmlns:a="http://schemas.openxmlformats.org/drawingml/2006/main">
              <a:ext uri="{FF2B5EF4-FFF2-40B4-BE49-F238E27FC236}">
                <a16:creationId xmlns:a16="http://schemas.microsoft.com/office/drawing/2014/main" id="{9A55B0F3-7D50-4FFD-AA59-2EA609009AC5}"/>
              </a:ext>
            </a:extLst>
          </p:cNvPr>
          <p:cNvSpPr>
            <a:spLocks xmlns:a="http://schemas.openxmlformats.org/drawingml/2006/main" noGrp="1"/>
          </p:cNvSpPr>
          <p:nvPr/>
        </p:nvSpPr>
        <p:spPr>
          <a:xfrm xmlns:a="http://schemas.openxmlformats.org/drawingml/2006/main">
            <a:off x="2095500" y="1762125"/>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4262D"/>
                </a:solidFill>
                <a:latin typeface="Helvetica Neue"/>
                <a:ea typeface="Helvetica Neue"/>
                <a:cs typeface="Helvetica Neue"/>
              </a:defRPr>
            </a:pPr>
            <a:r>
              <a:rPr sz="1275" b="0">
                <a:solidFill>
                  <a:srgbClr val="14262D"/>
                </a:solidFill>
                <a:latin typeface="Helvetica Neue"/>
                <a:ea typeface="Helvetica Neue"/>
                <a:cs typeface="Helvetica Neue"/>
              </a:rPr>
              <a:t>Lowest reported temperature that supports growth</a:t>
            </a:r>
          </a:p>
        </p:txBody>
      </p:sp>
      <p:sp>
        <p:nvSpPr>
          <p:cNvPr id="13" name="">
            <a:extLst xmlns:a="http://schemas.openxmlformats.org/drawingml/2006/main">
              <a:ext uri="{FF2B5EF4-FFF2-40B4-BE49-F238E27FC236}">
                <a16:creationId xmlns:a16="http://schemas.microsoft.com/office/drawing/2014/main" id="{5C8E512B-2A27-4C67-BD5A-056105DCE7AB}"/>
              </a:ext>
            </a:extLst>
          </p:cNvPr>
          <p:cNvSpPr>
            <a:spLocks xmlns:a="http://schemas.openxmlformats.org/drawingml/2006/main" noGrp="1"/>
          </p:cNvSpPr>
          <p:nvPr/>
        </p:nvSpPr>
        <p:spPr>
          <a:xfrm xmlns:a="http://schemas.openxmlformats.org/drawingml/2006/main">
            <a:off x="7524750" y="1762125"/>
            <a:ext cx="161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14262D"/>
                </a:solidFill>
                <a:latin typeface="Helvetica Neue"/>
                <a:ea typeface="Helvetica Neue"/>
                <a:cs typeface="Helvetica Neue"/>
              </a:defRPr>
            </a:pPr>
            <a:r>
              <a:rPr sz="1275" b="1">
                <a:solidFill>
                  <a:srgbClr val="14262D"/>
                </a:solidFill>
                <a:latin typeface="Helvetica Neue"/>
                <a:ea typeface="Helvetica Neue"/>
                <a:cs typeface="Helvetica Neue"/>
              </a:rPr>
              <a:t>8,639  |  100%</a:t>
            </a:r>
          </a:p>
        </p:txBody>
      </p:sp>
      <p:sp>
        <p:nvSpPr>
          <p:cNvPr id="14" name="">
            <a:extLst xmlns:a="http://schemas.openxmlformats.org/drawingml/2006/main">
              <a:ext uri="{FF2B5EF4-FFF2-40B4-BE49-F238E27FC236}">
                <a16:creationId xmlns:a16="http://schemas.microsoft.com/office/drawing/2014/main" id="{972E50CC-94FC-4566-A248-A6E59C9523BF}"/>
              </a:ext>
            </a:extLst>
          </p:cNvPr>
          <p:cNvSpPr>
            <a:spLocks xmlns:a="http://schemas.openxmlformats.org/drawingml/2006/main" noGrp="1"/>
          </p:cNvSpPr>
          <p:nvPr/>
        </p:nvSpPr>
        <p:spPr>
          <a:xfrm xmlns:a="http://schemas.openxmlformats.org/drawingml/2006/main">
            <a:off x="9334500" y="1762125"/>
            <a:ext cx="219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14262D"/>
                </a:solidFill>
                <a:latin typeface="Helvetica Neue"/>
                <a:ea typeface="Helvetica Neue"/>
                <a:cs typeface="Helvetica Neue"/>
              </a:defRPr>
            </a:pPr>
            <a:r>
              <a:rPr sz="1275" b="1">
                <a:solidFill>
                  <a:srgbClr val="14262D"/>
                </a:solidFill>
                <a:latin typeface="Helvetica Neue"/>
                <a:ea typeface="Helvetica Neue"/>
                <a:cs typeface="Helvetica Neue"/>
              </a:rPr>
              <a:t>14,944  |  100%</a:t>
            </a:r>
          </a:p>
        </p:txBody>
      </p:sp>
      <p:sp>
        <p:nvSpPr>
          <p:cNvPr id="15" name="">
            <a:extLst xmlns:a="http://schemas.openxmlformats.org/drawingml/2006/main">
              <a:ext uri="{FF2B5EF4-FFF2-40B4-BE49-F238E27FC236}">
                <a16:creationId xmlns:a16="http://schemas.microsoft.com/office/drawing/2014/main" id="{CA9DEAA2-733B-4A21-BB2F-002FA9B7BEB8}"/>
              </a:ext>
            </a:extLst>
          </p:cNvPr>
          <p:cNvSpPr>
            <a:spLocks xmlns:a="http://schemas.openxmlformats.org/drawingml/2006/main" noGrp="1"/>
          </p:cNvSpPr>
          <p:nvPr/>
        </p:nvSpPr>
        <p:spPr>
          <a:xfrm xmlns:a="http://schemas.openxmlformats.org/drawingml/2006/main">
            <a:off x="762000" y="2390775"/>
            <a:ext cx="123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D7634C"/>
                </a:solidFill>
                <a:latin typeface="Helvetica Neue"/>
                <a:ea typeface="Helvetica Neue"/>
                <a:cs typeface="Helvetica Neue"/>
              </a:defRPr>
            </a:pPr>
            <a:r>
              <a:rPr sz="1425" b="1">
                <a:solidFill>
                  <a:srgbClr val="D7634C"/>
                </a:solidFill>
                <a:latin typeface="Helvetica Neue"/>
                <a:ea typeface="Helvetica Neue"/>
                <a:cs typeface="Helvetica Neue"/>
              </a:rPr>
              <a:t>Topt_ave</a:t>
            </a:r>
          </a:p>
        </p:txBody>
      </p:sp>
      <p:sp>
        <p:nvSpPr>
          <p:cNvPr id="16" name="">
            <a:extLst xmlns:a="http://schemas.openxmlformats.org/drawingml/2006/main">
              <a:ext uri="{FF2B5EF4-FFF2-40B4-BE49-F238E27FC236}">
                <a16:creationId xmlns:a16="http://schemas.microsoft.com/office/drawing/2014/main" id="{62A740C4-8310-48E9-B6E3-17FDA81C747F}"/>
              </a:ext>
            </a:extLst>
          </p:cNvPr>
          <p:cNvSpPr>
            <a:spLocks xmlns:a="http://schemas.openxmlformats.org/drawingml/2006/main" noGrp="1"/>
          </p:cNvSpPr>
          <p:nvPr/>
        </p:nvSpPr>
        <p:spPr>
          <a:xfrm xmlns:a="http://schemas.openxmlformats.org/drawingml/2006/main">
            <a:off x="2095500" y="2390775"/>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4262D"/>
                </a:solidFill>
                <a:latin typeface="Helvetica Neue"/>
                <a:ea typeface="Helvetica Neue"/>
                <a:cs typeface="Helvetica Neue"/>
              </a:defRPr>
            </a:pPr>
            <a:r>
              <a:rPr sz="1275" b="0">
                <a:solidFill>
                  <a:srgbClr val="14262D"/>
                </a:solidFill>
                <a:latin typeface="Helvetica Neue"/>
                <a:ea typeface="Helvetica Neue"/>
                <a:cs typeface="Helvetica Neue"/>
              </a:rPr>
              <a:t>Reported optimum, or midpoint when the optimum is a range</a:t>
            </a:r>
          </a:p>
        </p:txBody>
      </p:sp>
      <p:sp>
        <p:nvSpPr>
          <p:cNvPr id="17" name="">
            <a:extLst xmlns:a="http://schemas.openxmlformats.org/drawingml/2006/main">
              <a:ext uri="{FF2B5EF4-FFF2-40B4-BE49-F238E27FC236}">
                <a16:creationId xmlns:a16="http://schemas.microsoft.com/office/drawing/2014/main" id="{6B32A0BA-F82A-46BB-833D-2E84DB254220}"/>
              </a:ext>
            </a:extLst>
          </p:cNvPr>
          <p:cNvSpPr>
            <a:spLocks xmlns:a="http://schemas.openxmlformats.org/drawingml/2006/main" noGrp="1"/>
          </p:cNvSpPr>
          <p:nvPr/>
        </p:nvSpPr>
        <p:spPr>
          <a:xfrm xmlns:a="http://schemas.openxmlformats.org/drawingml/2006/main">
            <a:off x="7524750" y="2390775"/>
            <a:ext cx="161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14262D"/>
                </a:solidFill>
                <a:latin typeface="Helvetica Neue"/>
                <a:ea typeface="Helvetica Neue"/>
                <a:cs typeface="Helvetica Neue"/>
              </a:defRPr>
            </a:pPr>
            <a:r>
              <a:rPr sz="1275" b="1">
                <a:solidFill>
                  <a:srgbClr val="14262D"/>
                </a:solidFill>
                <a:latin typeface="Helvetica Neue"/>
                <a:ea typeface="Helvetica Neue"/>
                <a:cs typeface="Helvetica Neue"/>
              </a:rPr>
              <a:t>8,639  |  100%</a:t>
            </a:r>
          </a:p>
        </p:txBody>
      </p:sp>
      <p:sp>
        <p:nvSpPr>
          <p:cNvPr id="18" name="">
            <a:extLst xmlns:a="http://schemas.openxmlformats.org/drawingml/2006/main">
              <a:ext uri="{FF2B5EF4-FFF2-40B4-BE49-F238E27FC236}">
                <a16:creationId xmlns:a16="http://schemas.microsoft.com/office/drawing/2014/main" id="{1B3EE9BB-C92C-46D6-A3CB-71E9332EE9B4}"/>
              </a:ext>
            </a:extLst>
          </p:cNvPr>
          <p:cNvSpPr>
            <a:spLocks xmlns:a="http://schemas.openxmlformats.org/drawingml/2006/main" noGrp="1"/>
          </p:cNvSpPr>
          <p:nvPr/>
        </p:nvSpPr>
        <p:spPr>
          <a:xfrm xmlns:a="http://schemas.openxmlformats.org/drawingml/2006/main">
            <a:off x="9334500" y="2390775"/>
            <a:ext cx="219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14262D"/>
                </a:solidFill>
                <a:latin typeface="Helvetica Neue"/>
                <a:ea typeface="Helvetica Neue"/>
                <a:cs typeface="Helvetica Neue"/>
              </a:defRPr>
            </a:pPr>
            <a:r>
              <a:rPr sz="1275" b="1">
                <a:solidFill>
                  <a:srgbClr val="14262D"/>
                </a:solidFill>
                <a:latin typeface="Helvetica Neue"/>
                <a:ea typeface="Helvetica Neue"/>
                <a:cs typeface="Helvetica Neue"/>
              </a:rPr>
              <a:t>14,944  |  100%</a:t>
            </a:r>
          </a:p>
        </p:txBody>
      </p:sp>
      <p:sp>
        <p:nvSpPr>
          <p:cNvPr id="19" name="">
            <a:extLst xmlns:a="http://schemas.openxmlformats.org/drawingml/2006/main">
              <a:ext uri="{FF2B5EF4-FFF2-40B4-BE49-F238E27FC236}">
                <a16:creationId xmlns:a16="http://schemas.microsoft.com/office/drawing/2014/main" id="{3BAF6AAF-E495-4C96-8CD7-831EDF6BE3F9}"/>
              </a:ext>
            </a:extLst>
          </p:cNvPr>
          <p:cNvSpPr>
            <a:spLocks xmlns:a="http://schemas.openxmlformats.org/drawingml/2006/main" noGrp="1"/>
          </p:cNvSpPr>
          <p:nvPr/>
        </p:nvSpPr>
        <p:spPr>
          <a:xfrm xmlns:a="http://schemas.openxmlformats.org/drawingml/2006/main">
            <a:off x="619125" y="2952750"/>
            <a:ext cx="11001375" cy="571500"/>
          </a:xfrm>
          <a:prstGeom xmlns:a="http://schemas.openxmlformats.org/drawingml/2006/main" prst="rect">
            <a:avLst/>
          </a:prstGeom>
          <a:solidFill xmlns:a="http://schemas.openxmlformats.org/drawingml/2006/main">
            <a:srgbClr val="EEF5F3"/>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448A80E0-E544-4AFE-981C-A7966F9BA39D}"/>
              </a:ext>
            </a:extLst>
          </p:cNvPr>
          <p:cNvSpPr>
            <a:spLocks xmlns:a="http://schemas.openxmlformats.org/drawingml/2006/main" noGrp="1"/>
          </p:cNvSpPr>
          <p:nvPr/>
        </p:nvSpPr>
        <p:spPr>
          <a:xfrm xmlns:a="http://schemas.openxmlformats.org/drawingml/2006/main">
            <a:off x="762000" y="3019425"/>
            <a:ext cx="123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0E6B6F"/>
                </a:solidFill>
                <a:latin typeface="Helvetica Neue"/>
                <a:ea typeface="Helvetica Neue"/>
                <a:cs typeface="Helvetica Neue"/>
              </a:defRPr>
            </a:pPr>
            <a:r>
              <a:rPr sz="1425" b="1">
                <a:solidFill>
                  <a:srgbClr val="0E6B6F"/>
                </a:solidFill>
                <a:latin typeface="Helvetica Neue"/>
                <a:ea typeface="Helvetica Neue"/>
                <a:cs typeface="Helvetica Neue"/>
              </a:rPr>
              <a:t>Topt_low</a:t>
            </a:r>
          </a:p>
        </p:txBody>
      </p:sp>
      <p:sp>
        <p:nvSpPr>
          <p:cNvPr id="21" name="">
            <a:extLst xmlns:a="http://schemas.openxmlformats.org/drawingml/2006/main">
              <a:ext uri="{FF2B5EF4-FFF2-40B4-BE49-F238E27FC236}">
                <a16:creationId xmlns:a16="http://schemas.microsoft.com/office/drawing/2014/main" id="{1C5FD831-AF4D-44E1-BAFD-509CB7E1A987}"/>
              </a:ext>
            </a:extLst>
          </p:cNvPr>
          <p:cNvSpPr>
            <a:spLocks xmlns:a="http://schemas.openxmlformats.org/drawingml/2006/main" noGrp="1"/>
          </p:cNvSpPr>
          <p:nvPr/>
        </p:nvSpPr>
        <p:spPr>
          <a:xfrm xmlns:a="http://schemas.openxmlformats.org/drawingml/2006/main">
            <a:off x="2095500" y="3019425"/>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4262D"/>
                </a:solidFill>
                <a:latin typeface="Helvetica Neue"/>
                <a:ea typeface="Helvetica Neue"/>
                <a:cs typeface="Helvetica Neue"/>
              </a:defRPr>
            </a:pPr>
            <a:r>
              <a:rPr sz="1275" b="0">
                <a:solidFill>
                  <a:srgbClr val="14262D"/>
                </a:solidFill>
                <a:latin typeface="Helvetica Neue"/>
                <a:ea typeface="Helvetica Neue"/>
                <a:cs typeface="Helvetica Neue"/>
              </a:rPr>
              <a:t>Lower bound when an optimum range was reported</a:t>
            </a:r>
          </a:p>
        </p:txBody>
      </p:sp>
      <p:sp>
        <p:nvSpPr>
          <p:cNvPr id="22" name="">
            <a:extLst xmlns:a="http://schemas.openxmlformats.org/drawingml/2006/main">
              <a:ext uri="{FF2B5EF4-FFF2-40B4-BE49-F238E27FC236}">
                <a16:creationId xmlns:a16="http://schemas.microsoft.com/office/drawing/2014/main" id="{2BA4FE2C-9C8B-4D3B-AF07-ECC99BF510CA}"/>
              </a:ext>
            </a:extLst>
          </p:cNvPr>
          <p:cNvSpPr>
            <a:spLocks xmlns:a="http://schemas.openxmlformats.org/drawingml/2006/main" noGrp="1"/>
          </p:cNvSpPr>
          <p:nvPr/>
        </p:nvSpPr>
        <p:spPr>
          <a:xfrm xmlns:a="http://schemas.openxmlformats.org/drawingml/2006/main">
            <a:off x="7524750" y="3019425"/>
            <a:ext cx="161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14262D"/>
                </a:solidFill>
                <a:latin typeface="Helvetica Neue"/>
                <a:ea typeface="Helvetica Neue"/>
                <a:cs typeface="Helvetica Neue"/>
              </a:defRPr>
            </a:pPr>
            <a:r>
              <a:rPr sz="1275" b="1">
                <a:solidFill>
                  <a:srgbClr val="14262D"/>
                </a:solidFill>
                <a:latin typeface="Helvetica Neue"/>
                <a:ea typeface="Helvetica Neue"/>
                <a:cs typeface="Helvetica Neue"/>
              </a:rPr>
              <a:t>3,088  |  35.7%</a:t>
            </a:r>
          </a:p>
        </p:txBody>
      </p:sp>
      <p:sp>
        <p:nvSpPr>
          <p:cNvPr id="23" name="">
            <a:extLst xmlns:a="http://schemas.openxmlformats.org/drawingml/2006/main">
              <a:ext uri="{FF2B5EF4-FFF2-40B4-BE49-F238E27FC236}">
                <a16:creationId xmlns:a16="http://schemas.microsoft.com/office/drawing/2014/main" id="{B7D784D1-346D-469E-A35C-1D0A2A8AA4E5}"/>
              </a:ext>
            </a:extLst>
          </p:cNvPr>
          <p:cNvSpPr>
            <a:spLocks xmlns:a="http://schemas.openxmlformats.org/drawingml/2006/main" noGrp="1"/>
          </p:cNvSpPr>
          <p:nvPr/>
        </p:nvSpPr>
        <p:spPr>
          <a:xfrm xmlns:a="http://schemas.openxmlformats.org/drawingml/2006/main">
            <a:off x="9334500" y="3019425"/>
            <a:ext cx="219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14262D"/>
                </a:solidFill>
                <a:latin typeface="Helvetica Neue"/>
                <a:ea typeface="Helvetica Neue"/>
                <a:cs typeface="Helvetica Neue"/>
              </a:defRPr>
            </a:pPr>
            <a:r>
              <a:rPr sz="1275" b="1">
                <a:solidFill>
                  <a:srgbClr val="14262D"/>
                </a:solidFill>
                <a:latin typeface="Helvetica Neue"/>
                <a:ea typeface="Helvetica Neue"/>
                <a:cs typeface="Helvetica Neue"/>
              </a:rPr>
              <a:t>5,634  |  37.7%</a:t>
            </a:r>
          </a:p>
        </p:txBody>
      </p:sp>
      <p:sp>
        <p:nvSpPr>
          <p:cNvPr id="24" name="">
            <a:extLst xmlns:a="http://schemas.openxmlformats.org/drawingml/2006/main">
              <a:ext uri="{FF2B5EF4-FFF2-40B4-BE49-F238E27FC236}">
                <a16:creationId xmlns:a16="http://schemas.microsoft.com/office/drawing/2014/main" id="{1126A3C6-C8A8-41CC-8933-37C003A1023C}"/>
              </a:ext>
            </a:extLst>
          </p:cNvPr>
          <p:cNvSpPr>
            <a:spLocks xmlns:a="http://schemas.openxmlformats.org/drawingml/2006/main" noGrp="1"/>
          </p:cNvSpPr>
          <p:nvPr/>
        </p:nvSpPr>
        <p:spPr>
          <a:xfrm xmlns:a="http://schemas.openxmlformats.org/drawingml/2006/main">
            <a:off x="762000" y="3648075"/>
            <a:ext cx="123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0E6B6F"/>
                </a:solidFill>
                <a:latin typeface="Helvetica Neue"/>
                <a:ea typeface="Helvetica Neue"/>
                <a:cs typeface="Helvetica Neue"/>
              </a:defRPr>
            </a:pPr>
            <a:r>
              <a:rPr sz="1425" b="1">
                <a:solidFill>
                  <a:srgbClr val="0E6B6F"/>
                </a:solidFill>
                <a:latin typeface="Helvetica Neue"/>
                <a:ea typeface="Helvetica Neue"/>
                <a:cs typeface="Helvetica Neue"/>
              </a:rPr>
              <a:t>Topt_high</a:t>
            </a:r>
          </a:p>
        </p:txBody>
      </p:sp>
      <p:sp>
        <p:nvSpPr>
          <p:cNvPr id="25" name="">
            <a:extLst xmlns:a="http://schemas.openxmlformats.org/drawingml/2006/main">
              <a:ext uri="{FF2B5EF4-FFF2-40B4-BE49-F238E27FC236}">
                <a16:creationId xmlns:a16="http://schemas.microsoft.com/office/drawing/2014/main" id="{246E14A0-321A-4058-B353-6F75A73A16EF}"/>
              </a:ext>
            </a:extLst>
          </p:cNvPr>
          <p:cNvSpPr>
            <a:spLocks xmlns:a="http://schemas.openxmlformats.org/drawingml/2006/main" noGrp="1"/>
          </p:cNvSpPr>
          <p:nvPr/>
        </p:nvSpPr>
        <p:spPr>
          <a:xfrm xmlns:a="http://schemas.openxmlformats.org/drawingml/2006/main">
            <a:off x="2095500" y="3648075"/>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4262D"/>
                </a:solidFill>
                <a:latin typeface="Helvetica Neue"/>
                <a:ea typeface="Helvetica Neue"/>
                <a:cs typeface="Helvetica Neue"/>
              </a:defRPr>
            </a:pPr>
            <a:r>
              <a:rPr sz="1275" b="0">
                <a:solidFill>
                  <a:srgbClr val="14262D"/>
                </a:solidFill>
                <a:latin typeface="Helvetica Neue"/>
                <a:ea typeface="Helvetica Neue"/>
                <a:cs typeface="Helvetica Neue"/>
              </a:rPr>
              <a:t>Upper bound when an optimum range was reported</a:t>
            </a:r>
          </a:p>
        </p:txBody>
      </p:sp>
      <p:sp>
        <p:nvSpPr>
          <p:cNvPr id="26" name="">
            <a:extLst xmlns:a="http://schemas.openxmlformats.org/drawingml/2006/main">
              <a:ext uri="{FF2B5EF4-FFF2-40B4-BE49-F238E27FC236}">
                <a16:creationId xmlns:a16="http://schemas.microsoft.com/office/drawing/2014/main" id="{96BC4DA5-2059-4A92-BE5E-3F8CB9BCA226}"/>
              </a:ext>
            </a:extLst>
          </p:cNvPr>
          <p:cNvSpPr>
            <a:spLocks xmlns:a="http://schemas.openxmlformats.org/drawingml/2006/main" noGrp="1"/>
          </p:cNvSpPr>
          <p:nvPr/>
        </p:nvSpPr>
        <p:spPr>
          <a:xfrm xmlns:a="http://schemas.openxmlformats.org/drawingml/2006/main">
            <a:off x="7524750" y="3648075"/>
            <a:ext cx="161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14262D"/>
                </a:solidFill>
                <a:latin typeface="Helvetica Neue"/>
                <a:ea typeface="Helvetica Neue"/>
                <a:cs typeface="Helvetica Neue"/>
              </a:defRPr>
            </a:pPr>
            <a:r>
              <a:rPr sz="1275" b="1">
                <a:solidFill>
                  <a:srgbClr val="14262D"/>
                </a:solidFill>
                <a:latin typeface="Helvetica Neue"/>
                <a:ea typeface="Helvetica Neue"/>
                <a:cs typeface="Helvetica Neue"/>
              </a:rPr>
              <a:t>3,088  |  35.7%</a:t>
            </a:r>
          </a:p>
        </p:txBody>
      </p:sp>
      <p:sp>
        <p:nvSpPr>
          <p:cNvPr id="27" name="">
            <a:extLst xmlns:a="http://schemas.openxmlformats.org/drawingml/2006/main">
              <a:ext uri="{FF2B5EF4-FFF2-40B4-BE49-F238E27FC236}">
                <a16:creationId xmlns:a16="http://schemas.microsoft.com/office/drawing/2014/main" id="{9768D033-506A-437A-926A-3AB6BC5B022B}"/>
              </a:ext>
            </a:extLst>
          </p:cNvPr>
          <p:cNvSpPr>
            <a:spLocks xmlns:a="http://schemas.openxmlformats.org/drawingml/2006/main" noGrp="1"/>
          </p:cNvSpPr>
          <p:nvPr/>
        </p:nvSpPr>
        <p:spPr>
          <a:xfrm xmlns:a="http://schemas.openxmlformats.org/drawingml/2006/main">
            <a:off x="9334500" y="3648075"/>
            <a:ext cx="219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14262D"/>
                </a:solidFill>
                <a:latin typeface="Helvetica Neue"/>
                <a:ea typeface="Helvetica Neue"/>
                <a:cs typeface="Helvetica Neue"/>
              </a:defRPr>
            </a:pPr>
            <a:r>
              <a:rPr sz="1275" b="1">
                <a:solidFill>
                  <a:srgbClr val="14262D"/>
                </a:solidFill>
                <a:latin typeface="Helvetica Neue"/>
                <a:ea typeface="Helvetica Neue"/>
                <a:cs typeface="Helvetica Neue"/>
              </a:rPr>
              <a:t>5,634  |  37.7%</a:t>
            </a:r>
          </a:p>
        </p:txBody>
      </p:sp>
      <p:sp>
        <p:nvSpPr>
          <p:cNvPr id="28" name="">
            <a:extLst xmlns:a="http://schemas.openxmlformats.org/drawingml/2006/main">
              <a:ext uri="{FF2B5EF4-FFF2-40B4-BE49-F238E27FC236}">
                <a16:creationId xmlns:a16="http://schemas.microsoft.com/office/drawing/2014/main" id="{3BCE336C-5008-4A7B-AA46-8B14224ECE5E}"/>
              </a:ext>
            </a:extLst>
          </p:cNvPr>
          <p:cNvSpPr>
            <a:spLocks xmlns:a="http://schemas.openxmlformats.org/drawingml/2006/main" noGrp="1"/>
          </p:cNvSpPr>
          <p:nvPr/>
        </p:nvSpPr>
        <p:spPr>
          <a:xfrm xmlns:a="http://schemas.openxmlformats.org/drawingml/2006/main">
            <a:off x="619125" y="4210050"/>
            <a:ext cx="11001375" cy="571500"/>
          </a:xfrm>
          <a:prstGeom xmlns:a="http://schemas.openxmlformats.org/drawingml/2006/main" prst="rect">
            <a:avLst/>
          </a:prstGeom>
          <a:solidFill xmlns:a="http://schemas.openxmlformats.org/drawingml/2006/main">
            <a:srgbClr val="EEF5F3"/>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137E6903-99B4-47B6-B1CD-B1598008FE0C}"/>
              </a:ext>
            </a:extLst>
          </p:cNvPr>
          <p:cNvSpPr>
            <a:spLocks xmlns:a="http://schemas.openxmlformats.org/drawingml/2006/main" noGrp="1"/>
          </p:cNvSpPr>
          <p:nvPr/>
        </p:nvSpPr>
        <p:spPr>
          <a:xfrm xmlns:a="http://schemas.openxmlformats.org/drawingml/2006/main">
            <a:off x="762000" y="4276725"/>
            <a:ext cx="123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0E6B6F"/>
                </a:solidFill>
                <a:latin typeface="Helvetica Neue"/>
                <a:ea typeface="Helvetica Neue"/>
                <a:cs typeface="Helvetica Neue"/>
              </a:defRPr>
            </a:pPr>
            <a:r>
              <a:rPr sz="1425" b="1">
                <a:solidFill>
                  <a:srgbClr val="0E6B6F"/>
                </a:solidFill>
                <a:latin typeface="Helvetica Neue"/>
                <a:ea typeface="Helvetica Neue"/>
                <a:cs typeface="Helvetica Neue"/>
              </a:rPr>
              <a:t>Tmax</a:t>
            </a:r>
          </a:p>
        </p:txBody>
      </p:sp>
      <p:sp>
        <p:nvSpPr>
          <p:cNvPr id="30" name="">
            <a:extLst xmlns:a="http://schemas.openxmlformats.org/drawingml/2006/main">
              <a:ext uri="{FF2B5EF4-FFF2-40B4-BE49-F238E27FC236}">
                <a16:creationId xmlns:a16="http://schemas.microsoft.com/office/drawing/2014/main" id="{CC03DEA9-4C9E-42FF-A40C-E69D87AC6BB7}"/>
              </a:ext>
            </a:extLst>
          </p:cNvPr>
          <p:cNvSpPr>
            <a:spLocks xmlns:a="http://schemas.openxmlformats.org/drawingml/2006/main" noGrp="1"/>
          </p:cNvSpPr>
          <p:nvPr/>
        </p:nvSpPr>
        <p:spPr>
          <a:xfrm xmlns:a="http://schemas.openxmlformats.org/drawingml/2006/main">
            <a:off x="2095500" y="4276725"/>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4262D"/>
                </a:solidFill>
                <a:latin typeface="Helvetica Neue"/>
                <a:ea typeface="Helvetica Neue"/>
                <a:cs typeface="Helvetica Neue"/>
              </a:defRPr>
            </a:pPr>
            <a:r>
              <a:rPr sz="1275" b="0">
                <a:solidFill>
                  <a:srgbClr val="14262D"/>
                </a:solidFill>
                <a:latin typeface="Helvetica Neue"/>
                <a:ea typeface="Helvetica Neue"/>
                <a:cs typeface="Helvetica Neue"/>
              </a:rPr>
              <a:t>Highest reported temperature that supports growth</a:t>
            </a:r>
          </a:p>
        </p:txBody>
      </p:sp>
      <p:sp>
        <p:nvSpPr>
          <p:cNvPr id="31" name="">
            <a:extLst xmlns:a="http://schemas.openxmlformats.org/drawingml/2006/main">
              <a:ext uri="{FF2B5EF4-FFF2-40B4-BE49-F238E27FC236}">
                <a16:creationId xmlns:a16="http://schemas.microsoft.com/office/drawing/2014/main" id="{CDFC0C0A-8AA7-4492-85A1-2B41F1548CAC}"/>
              </a:ext>
            </a:extLst>
          </p:cNvPr>
          <p:cNvSpPr>
            <a:spLocks xmlns:a="http://schemas.openxmlformats.org/drawingml/2006/main" noGrp="1"/>
          </p:cNvSpPr>
          <p:nvPr/>
        </p:nvSpPr>
        <p:spPr>
          <a:xfrm xmlns:a="http://schemas.openxmlformats.org/drawingml/2006/main">
            <a:off x="7524750" y="4276725"/>
            <a:ext cx="161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14262D"/>
                </a:solidFill>
                <a:latin typeface="Helvetica Neue"/>
                <a:ea typeface="Helvetica Neue"/>
                <a:cs typeface="Helvetica Neue"/>
              </a:defRPr>
            </a:pPr>
            <a:r>
              <a:rPr sz="1275" b="1">
                <a:solidFill>
                  <a:srgbClr val="14262D"/>
                </a:solidFill>
                <a:latin typeface="Helvetica Neue"/>
                <a:ea typeface="Helvetica Neue"/>
                <a:cs typeface="Helvetica Neue"/>
              </a:rPr>
              <a:t>8,639  |  100%</a:t>
            </a:r>
          </a:p>
        </p:txBody>
      </p:sp>
      <p:sp>
        <p:nvSpPr>
          <p:cNvPr id="32" name="">
            <a:extLst xmlns:a="http://schemas.openxmlformats.org/drawingml/2006/main">
              <a:ext uri="{FF2B5EF4-FFF2-40B4-BE49-F238E27FC236}">
                <a16:creationId xmlns:a16="http://schemas.microsoft.com/office/drawing/2014/main" id="{D7350AF6-F5F4-4581-9437-8E0F18162A4C}"/>
              </a:ext>
            </a:extLst>
          </p:cNvPr>
          <p:cNvSpPr>
            <a:spLocks xmlns:a="http://schemas.openxmlformats.org/drawingml/2006/main" noGrp="1"/>
          </p:cNvSpPr>
          <p:nvPr/>
        </p:nvSpPr>
        <p:spPr>
          <a:xfrm xmlns:a="http://schemas.openxmlformats.org/drawingml/2006/main">
            <a:off x="9334500" y="4276725"/>
            <a:ext cx="219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14262D"/>
                </a:solidFill>
                <a:latin typeface="Helvetica Neue"/>
                <a:ea typeface="Helvetica Neue"/>
                <a:cs typeface="Helvetica Neue"/>
              </a:defRPr>
            </a:pPr>
            <a:r>
              <a:rPr sz="1275" b="1">
                <a:solidFill>
                  <a:srgbClr val="14262D"/>
                </a:solidFill>
                <a:latin typeface="Helvetica Neue"/>
                <a:ea typeface="Helvetica Neue"/>
                <a:cs typeface="Helvetica Neue"/>
              </a:rPr>
              <a:t>14,944  |  100%</a:t>
            </a:r>
          </a:p>
        </p:txBody>
      </p:sp>
      <p:sp>
        <p:nvSpPr>
          <p:cNvPr id="33" name="">
            <a:extLst xmlns:a="http://schemas.openxmlformats.org/drawingml/2006/main">
              <a:ext uri="{FF2B5EF4-FFF2-40B4-BE49-F238E27FC236}">
                <a16:creationId xmlns:a16="http://schemas.microsoft.com/office/drawing/2014/main" id="{5B788769-A8EA-4980-A896-ED30D42A251A}"/>
              </a:ext>
            </a:extLst>
          </p:cNvPr>
          <p:cNvSpPr>
            <a:spLocks xmlns:a="http://schemas.openxmlformats.org/drawingml/2006/main" noGrp="1"/>
          </p:cNvSpPr>
          <p:nvPr/>
        </p:nvSpPr>
        <p:spPr>
          <a:xfrm xmlns:a="http://schemas.openxmlformats.org/drawingml/2006/main">
            <a:off x="762000" y="4905375"/>
            <a:ext cx="123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0E6B6F"/>
                </a:solidFill>
                <a:latin typeface="Helvetica Neue"/>
                <a:ea typeface="Helvetica Neue"/>
                <a:cs typeface="Helvetica Neue"/>
              </a:defRPr>
            </a:pPr>
            <a:r>
              <a:rPr sz="1425" b="1">
                <a:solidFill>
                  <a:srgbClr val="0E6B6F"/>
                </a:solidFill>
                <a:latin typeface="Helvetica Neue"/>
                <a:ea typeface="Helvetica Neue"/>
                <a:cs typeface="Helvetica Neue"/>
              </a:rPr>
              <a:t>Tmax−Tmin</a:t>
            </a:r>
          </a:p>
        </p:txBody>
      </p:sp>
      <p:sp>
        <p:nvSpPr>
          <p:cNvPr id="34" name="">
            <a:extLst xmlns:a="http://schemas.openxmlformats.org/drawingml/2006/main">
              <a:ext uri="{FF2B5EF4-FFF2-40B4-BE49-F238E27FC236}">
                <a16:creationId xmlns:a16="http://schemas.microsoft.com/office/drawing/2014/main" id="{A58884E6-8E25-4D47-AFFD-D0F3559EB5C5}"/>
              </a:ext>
            </a:extLst>
          </p:cNvPr>
          <p:cNvSpPr>
            <a:spLocks xmlns:a="http://schemas.openxmlformats.org/drawingml/2006/main" noGrp="1"/>
          </p:cNvSpPr>
          <p:nvPr/>
        </p:nvSpPr>
        <p:spPr>
          <a:xfrm xmlns:a="http://schemas.openxmlformats.org/drawingml/2006/main">
            <a:off x="2095500" y="4905375"/>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4262D"/>
                </a:solidFill>
                <a:latin typeface="Helvetica Neue"/>
                <a:ea typeface="Helvetica Neue"/>
                <a:cs typeface="Helvetica Neue"/>
              </a:defRPr>
            </a:pPr>
            <a:r>
              <a:rPr sz="1275" b="0">
                <a:solidFill>
                  <a:srgbClr val="14262D"/>
                </a:solidFill>
                <a:latin typeface="Helvetica Neue"/>
                <a:ea typeface="Helvetica Neue"/>
                <a:cs typeface="Helvetica Neue"/>
              </a:rPr>
              <a:t>Derived width of the reported growth-temperature range</a:t>
            </a:r>
          </a:p>
        </p:txBody>
      </p:sp>
      <p:sp>
        <p:nvSpPr>
          <p:cNvPr id="35" name="">
            <a:extLst xmlns:a="http://schemas.openxmlformats.org/drawingml/2006/main">
              <a:ext uri="{FF2B5EF4-FFF2-40B4-BE49-F238E27FC236}">
                <a16:creationId xmlns:a16="http://schemas.microsoft.com/office/drawing/2014/main" id="{63D230D3-5FB1-4FD9-8550-03A67A83B31A}"/>
              </a:ext>
            </a:extLst>
          </p:cNvPr>
          <p:cNvSpPr>
            <a:spLocks xmlns:a="http://schemas.openxmlformats.org/drawingml/2006/main" noGrp="1"/>
          </p:cNvSpPr>
          <p:nvPr/>
        </p:nvSpPr>
        <p:spPr>
          <a:xfrm xmlns:a="http://schemas.openxmlformats.org/drawingml/2006/main">
            <a:off x="7524750" y="4905375"/>
            <a:ext cx="161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14262D"/>
                </a:solidFill>
                <a:latin typeface="Helvetica Neue"/>
                <a:ea typeface="Helvetica Neue"/>
                <a:cs typeface="Helvetica Neue"/>
              </a:defRPr>
            </a:pPr>
            <a:r>
              <a:rPr sz="1275" b="1">
                <a:solidFill>
                  <a:srgbClr val="14262D"/>
                </a:solidFill>
                <a:latin typeface="Helvetica Neue"/>
                <a:ea typeface="Helvetica Neue"/>
                <a:cs typeface="Helvetica Neue"/>
              </a:rPr>
              <a:t>8,639  |  100%</a:t>
            </a:r>
          </a:p>
        </p:txBody>
      </p:sp>
      <p:sp>
        <p:nvSpPr>
          <p:cNvPr id="36" name="">
            <a:extLst xmlns:a="http://schemas.openxmlformats.org/drawingml/2006/main">
              <a:ext uri="{FF2B5EF4-FFF2-40B4-BE49-F238E27FC236}">
                <a16:creationId xmlns:a16="http://schemas.microsoft.com/office/drawing/2014/main" id="{75FC6D77-106E-4E69-A49A-488ABF65BC8E}"/>
              </a:ext>
            </a:extLst>
          </p:cNvPr>
          <p:cNvSpPr>
            <a:spLocks xmlns:a="http://schemas.openxmlformats.org/drawingml/2006/main" noGrp="1"/>
          </p:cNvSpPr>
          <p:nvPr/>
        </p:nvSpPr>
        <p:spPr>
          <a:xfrm xmlns:a="http://schemas.openxmlformats.org/drawingml/2006/main">
            <a:off x="9334500" y="4905375"/>
            <a:ext cx="219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14262D"/>
                </a:solidFill>
                <a:latin typeface="Helvetica Neue"/>
                <a:ea typeface="Helvetica Neue"/>
                <a:cs typeface="Helvetica Neue"/>
              </a:defRPr>
            </a:pPr>
            <a:r>
              <a:rPr sz="1275" b="1">
                <a:solidFill>
                  <a:srgbClr val="14262D"/>
                </a:solidFill>
                <a:latin typeface="Helvetica Neue"/>
                <a:ea typeface="Helvetica Neue"/>
                <a:cs typeface="Helvetica Neue"/>
              </a:rPr>
              <a:t>14,944  |  100%</a:t>
            </a:r>
          </a:p>
        </p:txBody>
      </p:sp>
      <p:sp>
        <p:nvSpPr>
          <p:cNvPr id="37" name="">
            <a:extLst xmlns:a="http://schemas.openxmlformats.org/drawingml/2006/main">
              <a:ext uri="{FF2B5EF4-FFF2-40B4-BE49-F238E27FC236}">
                <a16:creationId xmlns:a16="http://schemas.microsoft.com/office/drawing/2014/main" id="{99CEF932-D92E-4064-8C12-ABB61A2A9BD5}"/>
              </a:ext>
            </a:extLst>
          </p:cNvPr>
          <p:cNvSpPr>
            <a:spLocks xmlns:a="http://schemas.openxmlformats.org/drawingml/2006/main" noGrp="1"/>
          </p:cNvSpPr>
          <p:nvPr/>
        </p:nvSpPr>
        <p:spPr>
          <a:xfrm xmlns:a="http://schemas.openxmlformats.org/drawingml/2006/main">
            <a:off x="1000125" y="5715000"/>
            <a:ext cx="10191750" cy="552450"/>
          </a:xfrm>
          <a:prstGeom xmlns:a="http://schemas.openxmlformats.org/drawingml/2006/main" prst="roundRect">
            <a:avLst>
              <a:gd name="adj" fmla="val 8621"/>
            </a:avLst>
          </a:prstGeom>
          <a:solidFill xmlns:a="http://schemas.openxmlformats.org/drawingml/2006/main">
            <a:srgbClr val="FFF2E9"/>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EE756CB5-A22B-4D55-B33F-E318A9B5EF15}"/>
              </a:ext>
            </a:extLst>
          </p:cNvPr>
          <p:cNvSpPr>
            <a:spLocks xmlns:a="http://schemas.openxmlformats.org/drawingml/2006/main" noGrp="1"/>
          </p:cNvSpPr>
          <p:nvPr/>
        </p:nvSpPr>
        <p:spPr>
          <a:xfrm xmlns:a="http://schemas.openxmlformats.org/drawingml/2006/main">
            <a:off x="1285875" y="5791200"/>
            <a:ext cx="962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236"/>
          </a:bodyPr>
          <a:lstStyle xmlns:a="http://schemas.openxmlformats.org/drawingml/2006/main"/>
          <a:p xmlns:a="http://schemas.openxmlformats.org/drawingml/2006/main">
            <a:pPr algn="ctr">
              <a:defRPr sz="1350" b="1">
                <a:solidFill>
                  <a:srgbClr val="D7634C"/>
                </a:solidFill>
                <a:latin typeface="Helvetica Neue"/>
                <a:ea typeface="Helvetica Neue"/>
                <a:cs typeface="Helvetica Neue"/>
              </a:defRPr>
            </a:pPr>
            <a:r>
              <a:rPr sz="1350" b="1">
                <a:solidFill>
                  <a:srgbClr val="D7634C"/>
                </a:solidFill>
                <a:latin typeface="Helvetica Neue"/>
                <a:ea typeface="Helvetica Neue"/>
                <a:cs typeface="Helvetica Neue"/>
              </a:rPr>
              <a:t>Topt_high is the upper end of an optimum range. Tmax is the highest temperature at which growth occurs. TEMPURA has no field named Topt_max.</a:t>
            </a:r>
          </a:p>
        </p:txBody>
      </p:sp>
    </p:spTree>
    <p:extLst>
      <p:ext uri="{BB962C8B-B14F-4D97-AF65-F5344CB8AC3E}">
        <p14:creationId xmlns:p14="http://schemas.microsoft.com/office/powerpoint/2010/main" val="713029152"/>
      </p:ext>
    </p:extLst>
  </p:cSld>
</p:sld>
</file>

<file path=ppt/slides/slide4.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E7161497-7B41-468C-A8F0-82369CEF2099}"/>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0E6B6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7E3FAA0-441B-4792-B844-1082BED915FD}"/>
              </a:ext>
            </a:extLst>
          </p:cNvPr>
          <p:cNvSpPr>
            <a:spLocks xmlns:a="http://schemas.openxmlformats.org/drawingml/2006/main" noGrp="1"/>
          </p:cNvSpPr>
          <p:nvPr/>
        </p:nvSpPr>
        <p:spPr>
          <a:xfrm xmlns:a="http://schemas.openxmlformats.org/drawingml/2006/main">
            <a:off x="552450" y="28575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a:solidFill>
                  <a:srgbClr val="0E6B6F"/>
                </a:solidFill>
                <a:latin typeface="Helvetica Neue"/>
                <a:ea typeface="Helvetica Neue"/>
                <a:cs typeface="Helvetica Neue"/>
              </a:defRPr>
            </a:pPr>
            <a:r>
              <a:rPr sz="900" b="1">
                <a:solidFill>
                  <a:srgbClr val="0E6B6F"/>
                </a:solidFill>
                <a:latin typeface="Helvetica Neue"/>
                <a:ea typeface="Helvetica Neue"/>
                <a:cs typeface="Helvetica Neue"/>
              </a:rPr>
              <a:t>STUDY DESIGN</a:t>
            </a:r>
          </a:p>
        </p:txBody>
      </p:sp>
      <p:sp>
        <p:nvSpPr>
          <p:cNvPr id="3" name="">
            <a:extLst xmlns:a="http://schemas.openxmlformats.org/drawingml/2006/main">
              <a:ext uri="{FF2B5EF4-FFF2-40B4-BE49-F238E27FC236}">
                <a16:creationId xmlns:a16="http://schemas.microsoft.com/office/drawing/2014/main" id="{610998B8-5B7E-4E2A-8580-1EA26DAEE6C0}"/>
              </a:ext>
            </a:extLst>
          </p:cNvPr>
          <p:cNvSpPr>
            <a:spLocks xmlns:a="http://schemas.openxmlformats.org/drawingml/2006/main" noGrp="1"/>
          </p:cNvSpPr>
          <p:nvPr/>
        </p:nvSpPr>
        <p:spPr>
          <a:xfrm xmlns:a="http://schemas.openxmlformats.org/drawingml/2006/main">
            <a:off x="552450" y="495300"/>
            <a:ext cx="1081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14262D"/>
                </a:solidFill>
                <a:latin typeface="Helvetica Neue"/>
                <a:ea typeface="Helvetica Neue"/>
                <a:cs typeface="Helvetica Neue"/>
              </a:defRPr>
            </a:pPr>
            <a:r>
              <a:rPr sz="2400" b="1">
                <a:solidFill>
                  <a:srgbClr val="14262D"/>
                </a:solidFill>
                <a:latin typeface="Helvetica Neue"/>
                <a:ea typeface="Helvetica Neue"/>
                <a:cs typeface="Helvetica Neue"/>
              </a:rPr>
              <a:t>Research question and validation strategy</a:t>
            </a:r>
          </a:p>
        </p:txBody>
      </p:sp>
      <p:sp>
        <p:nvSpPr>
          <p:cNvPr id="4" name="">
            <a:extLst xmlns:a="http://schemas.openxmlformats.org/drawingml/2006/main">
              <a:ext uri="{FF2B5EF4-FFF2-40B4-BE49-F238E27FC236}">
                <a16:creationId xmlns:a16="http://schemas.microsoft.com/office/drawing/2014/main" id="{BAED5DB7-D973-4F42-A546-E9F02EAE4B7D}"/>
              </a:ext>
            </a:extLst>
          </p:cNvPr>
          <p:cNvSpPr>
            <a:spLocks xmlns:a="http://schemas.openxmlformats.org/drawingml/2006/main" noGrp="1"/>
          </p:cNvSpPr>
          <p:nvPr/>
        </p:nvSpPr>
        <p:spPr>
          <a:xfrm xmlns:a="http://schemas.openxmlformats.org/drawingml/2006/main">
            <a:off x="552450" y="1066800"/>
            <a:ext cx="11049000" cy="19050"/>
          </a:xfrm>
          <a:prstGeom xmlns:a="http://schemas.openxmlformats.org/drawingml/2006/main" prst="rect">
            <a:avLst/>
          </a:prstGeom>
          <a:solidFill xmlns:a="http://schemas.openxmlformats.org/drawingml/2006/main">
            <a:srgbClr val="CBD6D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1555569-3075-4624-AFA6-E7009A899323}"/>
              </a:ext>
            </a:extLst>
          </p:cNvPr>
          <p:cNvSpPr>
            <a:spLocks xmlns:a="http://schemas.openxmlformats.org/drawingml/2006/main" noGrp="1"/>
          </p:cNvSpPr>
          <p:nvPr/>
        </p:nvSpPr>
        <p:spPr>
          <a:xfrm xmlns:a="http://schemas.openxmlformats.org/drawingml/2006/main">
            <a:off x="11144250" y="6477000"/>
            <a:ext cx="47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r">
              <a:defRPr sz="825" b="0">
                <a:solidFill>
                  <a:srgbClr val="51636B"/>
                </a:solidFill>
                <a:latin typeface="Helvetica Neue"/>
                <a:ea typeface="Helvetica Neue"/>
                <a:cs typeface="Helvetica Neue"/>
              </a:defRPr>
            </a:pPr>
            <a:r>
              <a:rPr sz="825" b="0">
                <a:solidFill>
                  <a:srgbClr val="51636B"/>
                </a:solidFill>
                <a:latin typeface="Helvetica Neue"/>
                <a:ea typeface="Helvetica Neue"/>
                <a:cs typeface="Helvetica Neue"/>
              </a:rPr>
              <a:t>04</a:t>
            </a:r>
          </a:p>
        </p:txBody>
      </p:sp>
      <p:sp>
        <p:nvSpPr>
          <p:cNvPr id="6" name="">
            <a:extLst xmlns:a="http://schemas.openxmlformats.org/drawingml/2006/main">
              <a:ext uri="{FF2B5EF4-FFF2-40B4-BE49-F238E27FC236}">
                <a16:creationId xmlns:a16="http://schemas.microsoft.com/office/drawing/2014/main" id="{3C422163-4846-45D0-8D6C-30EA4B78893F}"/>
              </a:ext>
            </a:extLst>
          </p:cNvPr>
          <p:cNvSpPr>
            <a:spLocks xmlns:a="http://schemas.openxmlformats.org/drawingml/2006/main" noGrp="1"/>
          </p:cNvSpPr>
          <p:nvPr/>
        </p:nvSpPr>
        <p:spPr>
          <a:xfrm xmlns:a="http://schemas.openxmlformats.org/drawingml/2006/main">
            <a:off x="714375" y="1381125"/>
            <a:ext cx="10572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14262D"/>
                </a:solidFill>
                <a:latin typeface="Helvetica Neue"/>
                <a:ea typeface="Helvetica Neue"/>
                <a:cs typeface="Helvetica Neue"/>
              </a:defRPr>
            </a:pPr>
            <a:r>
              <a:rPr sz="1875" b="1">
                <a:solidFill>
                  <a:srgbClr val="14262D"/>
                </a:solidFill>
                <a:latin typeface="Helvetica Neue"/>
                <a:ea typeface="Helvetica Neue"/>
                <a:cs typeface="Helvetica Neue"/>
              </a:rPr>
              <a:t>Can a conditional autoregressive model learn temperature-associated sequence variation while preserving realistic J-domain statistics?</a:t>
            </a:r>
          </a:p>
        </p:txBody>
      </p:sp>
      <p:sp>
        <p:nvSpPr>
          <p:cNvPr id="7" name="">
            <a:extLst xmlns:a="http://schemas.openxmlformats.org/drawingml/2006/main">
              <a:ext uri="{FF2B5EF4-FFF2-40B4-BE49-F238E27FC236}">
                <a16:creationId xmlns:a16="http://schemas.microsoft.com/office/drawing/2014/main" id="{604BF6C9-5FAC-411B-B9B7-DB487E7DD756}"/>
              </a:ext>
            </a:extLst>
          </p:cNvPr>
          <p:cNvSpPr>
            <a:spLocks xmlns:a="http://schemas.openxmlformats.org/drawingml/2006/main" noGrp="1"/>
          </p:cNvSpPr>
          <p:nvPr/>
        </p:nvSpPr>
        <p:spPr>
          <a:xfrm xmlns:a="http://schemas.openxmlformats.org/drawingml/2006/main">
            <a:off x="904875" y="2571750"/>
            <a:ext cx="1952625" cy="76200"/>
          </a:xfrm>
          <a:prstGeom xmlns:a="http://schemas.openxmlformats.org/drawingml/2006/main" prst="rect">
            <a:avLst/>
          </a:prstGeom>
          <a:solidFill xmlns:a="http://schemas.openxmlformats.org/drawingml/2006/main">
            <a:srgbClr val="2B8C9D"/>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FB6CA77-6113-43E2-92C9-FAD90961384E}"/>
              </a:ext>
            </a:extLst>
          </p:cNvPr>
          <p:cNvSpPr>
            <a:spLocks xmlns:a="http://schemas.openxmlformats.org/drawingml/2006/main" noGrp="1"/>
          </p:cNvSpPr>
          <p:nvPr/>
        </p:nvSpPr>
        <p:spPr>
          <a:xfrm xmlns:a="http://schemas.openxmlformats.org/drawingml/2006/main">
            <a:off x="904875" y="2809875"/>
            <a:ext cx="1952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75" b="1">
                <a:solidFill>
                  <a:srgbClr val="14262D"/>
                </a:solidFill>
                <a:latin typeface="Helvetica Neue"/>
                <a:ea typeface="Helvetica Neue"/>
                <a:cs typeface="Helvetica Neue"/>
              </a:defRPr>
            </a:pPr>
            <a:r>
              <a:rPr sz="1575" b="1">
                <a:solidFill>
                  <a:srgbClr val="14262D"/>
                </a:solidFill>
                <a:latin typeface="Helvetica Neue"/>
                <a:ea typeface="Helvetica Neue"/>
                <a:cs typeface="Helvetica Neue"/>
              </a:rPr>
              <a:t>Natural data</a:t>
            </a:r>
          </a:p>
        </p:txBody>
      </p:sp>
      <p:sp>
        <p:nvSpPr>
          <p:cNvPr id="9" name="">
            <a:extLst xmlns:a="http://schemas.openxmlformats.org/drawingml/2006/main">
              <a:ext uri="{FF2B5EF4-FFF2-40B4-BE49-F238E27FC236}">
                <a16:creationId xmlns:a16="http://schemas.microsoft.com/office/drawing/2014/main" id="{107BD2E2-B560-40BE-9880-D604C3B014F9}"/>
              </a:ext>
            </a:extLst>
          </p:cNvPr>
          <p:cNvSpPr>
            <a:spLocks xmlns:a="http://schemas.openxmlformats.org/drawingml/2006/main" noGrp="1"/>
          </p:cNvSpPr>
          <p:nvPr/>
        </p:nvSpPr>
        <p:spPr>
          <a:xfrm xmlns:a="http://schemas.openxmlformats.org/drawingml/2006/main">
            <a:off x="904875" y="3286125"/>
            <a:ext cx="1952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0">
                <a:solidFill>
                  <a:srgbClr val="51636B"/>
                </a:solidFill>
                <a:latin typeface="Helvetica Neue"/>
                <a:ea typeface="Helvetica Neue"/>
                <a:cs typeface="Helvetica Neue"/>
              </a:defRPr>
            </a:pPr>
            <a:r>
              <a:rPr sz="1275" b="0">
                <a:solidFill>
                  <a:srgbClr val="51636B"/>
                </a:solidFill>
                <a:latin typeface="Helvetica Neue"/>
                <a:ea typeface="Helvetica Neue"/>
                <a:cs typeface="Helvetica Neue"/>
              </a:rPr>
              <a:t>UniProt sequences matched to TEMPURA organisms and aligned to a J-domain profile HMM</a:t>
            </a:r>
          </a:p>
        </p:txBody>
      </p:sp>
      <p:sp>
        <p:nvSpPr>
          <p:cNvPr id="10" name="">
            <a:extLst xmlns:a="http://schemas.openxmlformats.org/drawingml/2006/main">
              <a:ext uri="{FF2B5EF4-FFF2-40B4-BE49-F238E27FC236}">
                <a16:creationId xmlns:a16="http://schemas.microsoft.com/office/drawing/2014/main" id="{B2EAF84F-B62A-415D-90B9-F778CB78E0ED}"/>
              </a:ext>
            </a:extLst>
          </p:cNvPr>
          <p:cNvSpPr>
            <a:spLocks xmlns:a="http://schemas.openxmlformats.org/drawingml/2006/main" noGrp="1"/>
          </p:cNvSpPr>
          <p:nvPr/>
        </p:nvSpPr>
        <p:spPr>
          <a:xfrm xmlns:a="http://schemas.openxmlformats.org/drawingml/2006/main">
            <a:off x="3095625" y="3314700"/>
            <a:ext cx="457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250" b="1">
                <a:solidFill>
                  <a:srgbClr val="CBD6D8"/>
                </a:solidFill>
                <a:latin typeface="Helvetica Neue"/>
                <a:ea typeface="Helvetica Neue"/>
                <a:cs typeface="Helvetica Neue"/>
              </a:defRPr>
            </a:pPr>
            <a:r>
              <a:rPr sz="2250" b="1">
                <a:solidFill>
                  <a:srgbClr val="CBD6D8"/>
                </a:solidFill>
                <a:latin typeface="Helvetica Neue"/>
                <a:ea typeface="Helvetica Neue"/>
                <a:cs typeface="Helvetica Neue"/>
              </a:rPr>
              <a:t>&gt;</a:t>
            </a:r>
          </a:p>
        </p:txBody>
      </p:sp>
      <p:sp>
        <p:nvSpPr>
          <p:cNvPr id="11" name="">
            <a:extLst xmlns:a="http://schemas.openxmlformats.org/drawingml/2006/main">
              <a:ext uri="{FF2B5EF4-FFF2-40B4-BE49-F238E27FC236}">
                <a16:creationId xmlns:a16="http://schemas.microsoft.com/office/drawing/2014/main" id="{CDF4FD65-4D65-4916-B03A-37C7ADD0C93D}"/>
              </a:ext>
            </a:extLst>
          </p:cNvPr>
          <p:cNvSpPr>
            <a:spLocks xmlns:a="http://schemas.openxmlformats.org/drawingml/2006/main" noGrp="1"/>
          </p:cNvSpPr>
          <p:nvPr/>
        </p:nvSpPr>
        <p:spPr>
          <a:xfrm xmlns:a="http://schemas.openxmlformats.org/drawingml/2006/main">
            <a:off x="4095750" y="2571750"/>
            <a:ext cx="1952625" cy="76200"/>
          </a:xfrm>
          <a:prstGeom xmlns:a="http://schemas.openxmlformats.org/drawingml/2006/main" prst="rect">
            <a:avLst/>
          </a:prstGeom>
          <a:solidFill xmlns:a="http://schemas.openxmlformats.org/drawingml/2006/main">
            <a:srgbClr val="0E6B6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17A4C30-7CFB-4E8F-9116-332CB0AA3E87}"/>
              </a:ext>
            </a:extLst>
          </p:cNvPr>
          <p:cNvSpPr>
            <a:spLocks xmlns:a="http://schemas.openxmlformats.org/drawingml/2006/main" noGrp="1"/>
          </p:cNvSpPr>
          <p:nvPr/>
        </p:nvSpPr>
        <p:spPr>
          <a:xfrm xmlns:a="http://schemas.openxmlformats.org/drawingml/2006/main">
            <a:off x="4095750" y="2809875"/>
            <a:ext cx="1952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75" b="1">
                <a:solidFill>
                  <a:srgbClr val="14262D"/>
                </a:solidFill>
                <a:latin typeface="Helvetica Neue"/>
                <a:ea typeface="Helvetica Neue"/>
                <a:cs typeface="Helvetica Neue"/>
              </a:defRPr>
            </a:pPr>
            <a:r>
              <a:rPr sz="1575" b="1">
                <a:solidFill>
                  <a:srgbClr val="14262D"/>
                </a:solidFill>
                <a:latin typeface="Helvetica Neue"/>
                <a:ea typeface="Helvetica Neue"/>
                <a:cs typeface="Helvetica Neue"/>
              </a:rPr>
              <a:t>Conditional model</a:t>
            </a:r>
          </a:p>
        </p:txBody>
      </p:sp>
      <p:sp>
        <p:nvSpPr>
          <p:cNvPr id="13" name="">
            <a:extLst xmlns:a="http://schemas.openxmlformats.org/drawingml/2006/main">
              <a:ext uri="{FF2B5EF4-FFF2-40B4-BE49-F238E27FC236}">
                <a16:creationId xmlns:a16="http://schemas.microsoft.com/office/drawing/2014/main" id="{C8373C70-923D-40EA-93EF-419981D5EC56}"/>
              </a:ext>
            </a:extLst>
          </p:cNvPr>
          <p:cNvSpPr>
            <a:spLocks xmlns:a="http://schemas.openxmlformats.org/drawingml/2006/main" noGrp="1"/>
          </p:cNvSpPr>
          <p:nvPr/>
        </p:nvSpPr>
        <p:spPr>
          <a:xfrm xmlns:a="http://schemas.openxmlformats.org/drawingml/2006/main">
            <a:off x="4095750" y="3286125"/>
            <a:ext cx="1952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0">
                <a:solidFill>
                  <a:srgbClr val="51636B"/>
                </a:solidFill>
                <a:latin typeface="Helvetica Neue"/>
                <a:ea typeface="Helvetica Neue"/>
                <a:cs typeface="Helvetica Neue"/>
              </a:defRPr>
            </a:pPr>
            <a:r>
              <a:rPr sz="1275" b="0">
                <a:solidFill>
                  <a:srgbClr val="51636B"/>
                </a:solidFill>
                <a:latin typeface="Helvetica Neue"/>
                <a:ea typeface="Helvetica Neue"/>
                <a:cs typeface="Helvetica Neue"/>
              </a:rPr>
              <a:t>FeatureDCA trained with standardized Topt_ave as the feature vector</a:t>
            </a:r>
          </a:p>
        </p:txBody>
      </p:sp>
      <p:sp>
        <p:nvSpPr>
          <p:cNvPr id="14" name="">
            <a:extLst xmlns:a="http://schemas.openxmlformats.org/drawingml/2006/main">
              <a:ext uri="{FF2B5EF4-FFF2-40B4-BE49-F238E27FC236}">
                <a16:creationId xmlns:a16="http://schemas.microsoft.com/office/drawing/2014/main" id="{65AB5832-258B-4DE8-AFD6-4868BCDF0120}"/>
              </a:ext>
            </a:extLst>
          </p:cNvPr>
          <p:cNvSpPr>
            <a:spLocks xmlns:a="http://schemas.openxmlformats.org/drawingml/2006/main" noGrp="1"/>
          </p:cNvSpPr>
          <p:nvPr/>
        </p:nvSpPr>
        <p:spPr>
          <a:xfrm xmlns:a="http://schemas.openxmlformats.org/drawingml/2006/main">
            <a:off x="6286500" y="3314700"/>
            <a:ext cx="457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250" b="1">
                <a:solidFill>
                  <a:srgbClr val="CBD6D8"/>
                </a:solidFill>
                <a:latin typeface="Helvetica Neue"/>
                <a:ea typeface="Helvetica Neue"/>
                <a:cs typeface="Helvetica Neue"/>
              </a:defRPr>
            </a:pPr>
            <a:r>
              <a:rPr sz="2250" b="1">
                <a:solidFill>
                  <a:srgbClr val="CBD6D8"/>
                </a:solidFill>
                <a:latin typeface="Helvetica Neue"/>
                <a:ea typeface="Helvetica Neue"/>
                <a:cs typeface="Helvetica Neue"/>
              </a:rPr>
              <a:t>&gt;</a:t>
            </a:r>
          </a:p>
        </p:txBody>
      </p:sp>
      <p:sp>
        <p:nvSpPr>
          <p:cNvPr id="15" name="">
            <a:extLst xmlns:a="http://schemas.openxmlformats.org/drawingml/2006/main">
              <a:ext uri="{FF2B5EF4-FFF2-40B4-BE49-F238E27FC236}">
                <a16:creationId xmlns:a16="http://schemas.microsoft.com/office/drawing/2014/main" id="{B0857383-EB4E-425B-BCB4-3FE3FF264927}"/>
              </a:ext>
            </a:extLst>
          </p:cNvPr>
          <p:cNvSpPr>
            <a:spLocks xmlns:a="http://schemas.openxmlformats.org/drawingml/2006/main" noGrp="1"/>
          </p:cNvSpPr>
          <p:nvPr/>
        </p:nvSpPr>
        <p:spPr>
          <a:xfrm xmlns:a="http://schemas.openxmlformats.org/drawingml/2006/main">
            <a:off x="7286625" y="2571750"/>
            <a:ext cx="1952625" cy="76200"/>
          </a:xfrm>
          <a:prstGeom xmlns:a="http://schemas.openxmlformats.org/drawingml/2006/main" prst="rect">
            <a:avLst/>
          </a:prstGeom>
          <a:solidFill xmlns:a="http://schemas.openxmlformats.org/drawingml/2006/main">
            <a:srgbClr val="D5A129"/>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E41BBE86-4C82-4DED-A409-FBE372E092A6}"/>
              </a:ext>
            </a:extLst>
          </p:cNvPr>
          <p:cNvSpPr>
            <a:spLocks xmlns:a="http://schemas.openxmlformats.org/drawingml/2006/main" noGrp="1"/>
          </p:cNvSpPr>
          <p:nvPr/>
        </p:nvSpPr>
        <p:spPr>
          <a:xfrm xmlns:a="http://schemas.openxmlformats.org/drawingml/2006/main">
            <a:off x="7286625" y="2809875"/>
            <a:ext cx="1952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75" b="1">
                <a:solidFill>
                  <a:srgbClr val="14262D"/>
                </a:solidFill>
                <a:latin typeface="Helvetica Neue"/>
                <a:ea typeface="Helvetica Neue"/>
                <a:cs typeface="Helvetica Neue"/>
              </a:defRPr>
            </a:pPr>
            <a:r>
              <a:rPr sz="1575" b="1">
                <a:solidFill>
                  <a:srgbClr val="14262D"/>
                </a:solidFill>
                <a:latin typeface="Helvetica Neue"/>
                <a:ea typeface="Helvetica Neue"/>
                <a:cs typeface="Helvetica Neue"/>
              </a:rPr>
              <a:t>Positive control</a:t>
            </a:r>
          </a:p>
        </p:txBody>
      </p:sp>
      <p:sp>
        <p:nvSpPr>
          <p:cNvPr id="17" name="">
            <a:extLst xmlns:a="http://schemas.openxmlformats.org/drawingml/2006/main">
              <a:ext uri="{FF2B5EF4-FFF2-40B4-BE49-F238E27FC236}">
                <a16:creationId xmlns:a16="http://schemas.microsoft.com/office/drawing/2014/main" id="{F31A9CAE-9598-4387-8AA6-E0B7FE9E9780}"/>
              </a:ext>
            </a:extLst>
          </p:cNvPr>
          <p:cNvSpPr>
            <a:spLocks xmlns:a="http://schemas.openxmlformats.org/drawingml/2006/main" noGrp="1"/>
          </p:cNvSpPr>
          <p:nvPr/>
        </p:nvSpPr>
        <p:spPr>
          <a:xfrm xmlns:a="http://schemas.openxmlformats.org/drawingml/2006/main">
            <a:off x="7286625" y="3286125"/>
            <a:ext cx="1952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0">
                <a:solidFill>
                  <a:srgbClr val="51636B"/>
                </a:solidFill>
                <a:latin typeface="Helvetica Neue"/>
                <a:ea typeface="Helvetica Neue"/>
                <a:cs typeface="Helvetica Neue"/>
              </a:defRPr>
            </a:pPr>
            <a:r>
              <a:rPr sz="1275" b="0">
                <a:solidFill>
                  <a:srgbClr val="51636B"/>
                </a:solidFill>
                <a:latin typeface="Helvetica Neue"/>
                <a:ea typeface="Helvetica Neue"/>
                <a:cs typeface="Helvetica Neue"/>
              </a:rPr>
              <a:t>A second model conditioned on natural PC1 and PC2 tests whether generation can recover known coordinates</a:t>
            </a:r>
          </a:p>
        </p:txBody>
      </p:sp>
      <p:sp>
        <p:nvSpPr>
          <p:cNvPr id="18" name="">
            <a:extLst xmlns:a="http://schemas.openxmlformats.org/drawingml/2006/main">
              <a:ext uri="{FF2B5EF4-FFF2-40B4-BE49-F238E27FC236}">
                <a16:creationId xmlns:a16="http://schemas.microsoft.com/office/drawing/2014/main" id="{670E560E-CD75-414F-9DB4-CFBC9574B29A}"/>
              </a:ext>
            </a:extLst>
          </p:cNvPr>
          <p:cNvSpPr>
            <a:spLocks xmlns:a="http://schemas.openxmlformats.org/drawingml/2006/main" noGrp="1"/>
          </p:cNvSpPr>
          <p:nvPr/>
        </p:nvSpPr>
        <p:spPr>
          <a:xfrm xmlns:a="http://schemas.openxmlformats.org/drawingml/2006/main">
            <a:off x="9477375" y="3314700"/>
            <a:ext cx="457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250" b="1">
                <a:solidFill>
                  <a:srgbClr val="CBD6D8"/>
                </a:solidFill>
                <a:latin typeface="Helvetica Neue"/>
                <a:ea typeface="Helvetica Neue"/>
                <a:cs typeface="Helvetica Neue"/>
              </a:defRPr>
            </a:pPr>
            <a:r>
              <a:rPr sz="2250" b="1">
                <a:solidFill>
                  <a:srgbClr val="CBD6D8"/>
                </a:solidFill>
                <a:latin typeface="Helvetica Neue"/>
                <a:ea typeface="Helvetica Neue"/>
                <a:cs typeface="Helvetica Neue"/>
              </a:rPr>
              <a:t>&gt;</a:t>
            </a:r>
          </a:p>
        </p:txBody>
      </p:sp>
      <p:sp>
        <p:nvSpPr>
          <p:cNvPr id="19" name="">
            <a:extLst xmlns:a="http://schemas.openxmlformats.org/drawingml/2006/main">
              <a:ext uri="{FF2B5EF4-FFF2-40B4-BE49-F238E27FC236}">
                <a16:creationId xmlns:a16="http://schemas.microsoft.com/office/drawing/2014/main" id="{47CBA1B2-5A47-409C-A776-9E0C952B8BB5}"/>
              </a:ext>
            </a:extLst>
          </p:cNvPr>
          <p:cNvSpPr>
            <a:spLocks xmlns:a="http://schemas.openxmlformats.org/drawingml/2006/main" noGrp="1"/>
          </p:cNvSpPr>
          <p:nvPr/>
        </p:nvSpPr>
        <p:spPr>
          <a:xfrm xmlns:a="http://schemas.openxmlformats.org/drawingml/2006/main">
            <a:off x="9858375" y="2571750"/>
            <a:ext cx="1952625" cy="76200"/>
          </a:xfrm>
          <a:prstGeom xmlns:a="http://schemas.openxmlformats.org/drawingml/2006/main" prst="rect">
            <a:avLst/>
          </a:prstGeom>
          <a:solidFill xmlns:a="http://schemas.openxmlformats.org/drawingml/2006/main">
            <a:srgbClr val="D7634C"/>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2B4A71C9-7412-4F7F-9453-E45F21716715}"/>
              </a:ext>
            </a:extLst>
          </p:cNvPr>
          <p:cNvSpPr>
            <a:spLocks xmlns:a="http://schemas.openxmlformats.org/drawingml/2006/main" noGrp="1"/>
          </p:cNvSpPr>
          <p:nvPr/>
        </p:nvSpPr>
        <p:spPr>
          <a:xfrm xmlns:a="http://schemas.openxmlformats.org/drawingml/2006/main">
            <a:off x="9858375" y="2809875"/>
            <a:ext cx="1952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75" b="1">
                <a:solidFill>
                  <a:srgbClr val="14262D"/>
                </a:solidFill>
                <a:latin typeface="Helvetica Neue"/>
                <a:ea typeface="Helvetica Neue"/>
                <a:cs typeface="Helvetica Neue"/>
              </a:defRPr>
            </a:pPr>
            <a:r>
              <a:rPr sz="1575" b="1">
                <a:solidFill>
                  <a:srgbClr val="14262D"/>
                </a:solidFill>
                <a:latin typeface="Helvetica Neue"/>
                <a:ea typeface="Helvetica Neue"/>
                <a:cs typeface="Helvetica Neue"/>
              </a:rPr>
              <a:t>Stress test</a:t>
            </a:r>
          </a:p>
        </p:txBody>
      </p:sp>
      <p:sp>
        <p:nvSpPr>
          <p:cNvPr id="21" name="">
            <a:extLst xmlns:a="http://schemas.openxmlformats.org/drawingml/2006/main">
              <a:ext uri="{FF2B5EF4-FFF2-40B4-BE49-F238E27FC236}">
                <a16:creationId xmlns:a16="http://schemas.microsoft.com/office/drawing/2014/main" id="{DFDEFF30-12D1-4DD6-8BE6-12499F7BA944}"/>
              </a:ext>
            </a:extLst>
          </p:cNvPr>
          <p:cNvSpPr>
            <a:spLocks xmlns:a="http://schemas.openxmlformats.org/drawingml/2006/main" noGrp="1"/>
          </p:cNvSpPr>
          <p:nvPr/>
        </p:nvSpPr>
        <p:spPr>
          <a:xfrm xmlns:a="http://schemas.openxmlformats.org/drawingml/2006/main">
            <a:off x="9858375" y="3286125"/>
            <a:ext cx="1952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0">
                <a:solidFill>
                  <a:srgbClr val="51636B"/>
                </a:solidFill>
                <a:latin typeface="Helvetica Neue"/>
                <a:ea typeface="Helvetica Neue"/>
                <a:cs typeface="Helvetica Neue"/>
              </a:defRPr>
            </a:pPr>
            <a:r>
              <a:rPr sz="1275" b="0">
                <a:solidFill>
                  <a:srgbClr val="51636B"/>
                </a:solidFill>
                <a:latin typeface="Helvetica Neue"/>
                <a:ea typeface="Helvetica Neue"/>
                <a:cs typeface="Helvetica Neue"/>
              </a:rPr>
              <a:t>A 60–90 °C ladder tests likelihood calibration and extrapolation behavior</a:t>
            </a:r>
          </a:p>
        </p:txBody>
      </p:sp>
      <p:sp>
        <p:nvSpPr>
          <p:cNvPr id="22" name="">
            <a:extLst xmlns:a="http://schemas.openxmlformats.org/drawingml/2006/main">
              <a:ext uri="{FF2B5EF4-FFF2-40B4-BE49-F238E27FC236}">
                <a16:creationId xmlns:a16="http://schemas.microsoft.com/office/drawing/2014/main" id="{6DD781C7-6320-4498-BF1B-46AB8A69ED32}"/>
              </a:ext>
            </a:extLst>
          </p:cNvPr>
          <p:cNvSpPr>
            <a:spLocks xmlns:a="http://schemas.openxmlformats.org/drawingml/2006/main" noGrp="1"/>
          </p:cNvSpPr>
          <p:nvPr/>
        </p:nvSpPr>
        <p:spPr>
          <a:xfrm xmlns:a="http://schemas.openxmlformats.org/drawingml/2006/main">
            <a:off x="1619250" y="5476875"/>
            <a:ext cx="8953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772"/>
          </a:bodyPr>
          <a:lstStyle xmlns:a="http://schemas.openxmlformats.org/drawingml/2006/main"/>
          <a:p xmlns:a="http://schemas.openxmlformats.org/drawingml/2006/main">
            <a:pPr algn="ctr">
              <a:defRPr sz="1500" b="1">
                <a:solidFill>
                  <a:srgbClr val="0E6B6F"/>
                </a:solidFill>
                <a:latin typeface="Helvetica Neue"/>
                <a:ea typeface="Helvetica Neue"/>
                <a:cs typeface="Helvetica Neue"/>
              </a:defRPr>
            </a:pPr>
            <a:r>
              <a:rPr sz="1500" b="1">
                <a:solidFill>
                  <a:srgbClr val="0E6B6F"/>
                </a:solidFill>
                <a:latin typeface="Helvetica Neue"/>
                <a:ea typeface="Helvetica Neue"/>
                <a:cs typeface="Helvetica Neue"/>
              </a:rPr>
              <a:t>The controls separate temperature information from broader phylogenetic and functional sequence variation.</a:t>
            </a:r>
          </a:p>
        </p:txBody>
      </p:sp>
    </p:spTree>
    <p:extLst>
      <p:ext uri="{BB962C8B-B14F-4D97-AF65-F5344CB8AC3E}">
        <p14:creationId xmlns:p14="http://schemas.microsoft.com/office/powerpoint/2010/main" val="1157651260"/>
      </p:ext>
    </p:extLst>
  </p:cSld>
</p:sld>
</file>

<file path=ppt/slides/slide5.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944A88A2-78D6-438F-832D-6C9BC0EA6445}"/>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0E6B6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2D9F8FF-D170-4A32-BDF3-11ADF8D1FE15}"/>
              </a:ext>
            </a:extLst>
          </p:cNvPr>
          <p:cNvSpPr>
            <a:spLocks xmlns:a="http://schemas.openxmlformats.org/drawingml/2006/main" noGrp="1"/>
          </p:cNvSpPr>
          <p:nvPr/>
        </p:nvSpPr>
        <p:spPr>
          <a:xfrm xmlns:a="http://schemas.openxmlformats.org/drawingml/2006/main">
            <a:off x="552450" y="28575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a:solidFill>
                  <a:srgbClr val="0E6B6F"/>
                </a:solidFill>
                <a:latin typeface="Helvetica Neue"/>
                <a:ea typeface="Helvetica Neue"/>
                <a:cs typeface="Helvetica Neue"/>
              </a:defRPr>
            </a:pPr>
            <a:r>
              <a:rPr sz="900" b="1">
                <a:solidFill>
                  <a:srgbClr val="0E6B6F"/>
                </a:solidFill>
                <a:latin typeface="Helvetica Neue"/>
                <a:ea typeface="Helvetica Neue"/>
                <a:cs typeface="Helvetica Neue"/>
              </a:rPr>
              <a:t>MSA CONSTRUCTION</a:t>
            </a:r>
          </a:p>
        </p:txBody>
      </p:sp>
      <p:sp>
        <p:nvSpPr>
          <p:cNvPr id="3" name="">
            <a:extLst xmlns:a="http://schemas.openxmlformats.org/drawingml/2006/main">
              <a:ext uri="{FF2B5EF4-FFF2-40B4-BE49-F238E27FC236}">
                <a16:creationId xmlns:a16="http://schemas.microsoft.com/office/drawing/2014/main" id="{12AE2537-8F94-4449-BA70-65C778830FD4}"/>
              </a:ext>
            </a:extLst>
          </p:cNvPr>
          <p:cNvSpPr>
            <a:spLocks xmlns:a="http://schemas.openxmlformats.org/drawingml/2006/main" noGrp="1"/>
          </p:cNvSpPr>
          <p:nvPr/>
        </p:nvSpPr>
        <p:spPr>
          <a:xfrm xmlns:a="http://schemas.openxmlformats.org/drawingml/2006/main">
            <a:off x="552450" y="495300"/>
            <a:ext cx="1081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14262D"/>
                </a:solidFill>
                <a:latin typeface="Helvetica Neue"/>
                <a:ea typeface="Helvetica Neue"/>
                <a:cs typeface="Helvetica Neue"/>
              </a:defRPr>
            </a:pPr>
            <a:r>
              <a:rPr sz="2400" b="1">
                <a:solidFill>
                  <a:srgbClr val="14262D"/>
                </a:solidFill>
                <a:latin typeface="Helvetica Neue"/>
                <a:ea typeface="Helvetica Neue"/>
                <a:cs typeface="Helvetica Neue"/>
              </a:rPr>
              <a:t>Source data and organism matching</a:t>
            </a:r>
          </a:p>
        </p:txBody>
      </p:sp>
      <p:sp>
        <p:nvSpPr>
          <p:cNvPr id="4" name="">
            <a:extLst xmlns:a="http://schemas.openxmlformats.org/drawingml/2006/main">
              <a:ext uri="{FF2B5EF4-FFF2-40B4-BE49-F238E27FC236}">
                <a16:creationId xmlns:a16="http://schemas.microsoft.com/office/drawing/2014/main" id="{5C537755-EB61-4AE1-B6F4-4F0F61DFF3E9}"/>
              </a:ext>
            </a:extLst>
          </p:cNvPr>
          <p:cNvSpPr>
            <a:spLocks xmlns:a="http://schemas.openxmlformats.org/drawingml/2006/main" noGrp="1"/>
          </p:cNvSpPr>
          <p:nvPr/>
        </p:nvSpPr>
        <p:spPr>
          <a:xfrm xmlns:a="http://schemas.openxmlformats.org/drawingml/2006/main">
            <a:off x="552450" y="1066800"/>
            <a:ext cx="11049000" cy="19050"/>
          </a:xfrm>
          <a:prstGeom xmlns:a="http://schemas.openxmlformats.org/drawingml/2006/main" prst="rect">
            <a:avLst/>
          </a:prstGeom>
          <a:solidFill xmlns:a="http://schemas.openxmlformats.org/drawingml/2006/main">
            <a:srgbClr val="CBD6D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E3E5AE3-EB83-497D-A570-183219A01370}"/>
              </a:ext>
            </a:extLst>
          </p:cNvPr>
          <p:cNvSpPr>
            <a:spLocks xmlns:a="http://schemas.openxmlformats.org/drawingml/2006/main" noGrp="1"/>
          </p:cNvSpPr>
          <p:nvPr/>
        </p:nvSpPr>
        <p:spPr>
          <a:xfrm xmlns:a="http://schemas.openxmlformats.org/drawingml/2006/main">
            <a:off x="11144250" y="6477000"/>
            <a:ext cx="47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r">
              <a:defRPr sz="825" b="0">
                <a:solidFill>
                  <a:srgbClr val="51636B"/>
                </a:solidFill>
                <a:latin typeface="Helvetica Neue"/>
                <a:ea typeface="Helvetica Neue"/>
                <a:cs typeface="Helvetica Neue"/>
              </a:defRPr>
            </a:pPr>
            <a:r>
              <a:rPr sz="825" b="0">
                <a:solidFill>
                  <a:srgbClr val="51636B"/>
                </a:solidFill>
                <a:latin typeface="Helvetica Neue"/>
                <a:ea typeface="Helvetica Neue"/>
                <a:cs typeface="Helvetica Neue"/>
              </a:rPr>
              <a:t>05</a:t>
            </a:r>
          </a:p>
        </p:txBody>
      </p:sp>
      <p:sp>
        <p:nvSpPr>
          <p:cNvPr id="6" name="">
            <a:extLst xmlns:a="http://schemas.openxmlformats.org/drawingml/2006/main">
              <a:ext uri="{FF2B5EF4-FFF2-40B4-BE49-F238E27FC236}">
                <a16:creationId xmlns:a16="http://schemas.microsoft.com/office/drawing/2014/main" id="{6797C660-485D-4542-81DE-E0F1FCCCD352}"/>
              </a:ext>
            </a:extLst>
          </p:cNvPr>
          <p:cNvSpPr>
            <a:spLocks xmlns:a="http://schemas.openxmlformats.org/drawingml/2006/main" noGrp="1"/>
          </p:cNvSpPr>
          <p:nvPr/>
        </p:nvSpPr>
        <p:spPr>
          <a:xfrm xmlns:a="http://schemas.openxmlformats.org/drawingml/2006/main">
            <a:off x="809625" y="1476375"/>
            <a:ext cx="209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020"/>
          </a:bodyPr>
          <a:lstStyle xmlns:a="http://schemas.openxmlformats.org/drawingml/2006/main"/>
          <a:p xmlns:a="http://schemas.openxmlformats.org/drawingml/2006/main">
            <a:pPr algn="l">
              <a:defRPr sz="2550" b="1">
                <a:solidFill>
                  <a:srgbClr val="2B8C9D"/>
                </a:solidFill>
                <a:latin typeface="Helvetica Neue"/>
                <a:ea typeface="Helvetica Neue"/>
                <a:cs typeface="Helvetica Neue"/>
              </a:defRPr>
            </a:pPr>
            <a:r>
              <a:rPr sz="2550" b="1">
                <a:solidFill>
                  <a:srgbClr val="2B8C9D"/>
                </a:solidFill>
                <a:latin typeface="Helvetica Neue"/>
                <a:ea typeface="Helvetica Neue"/>
                <a:cs typeface="Helvetica Neue"/>
              </a:rPr>
              <a:t>62,074</a:t>
            </a:r>
          </a:p>
        </p:txBody>
      </p:sp>
      <p:sp>
        <p:nvSpPr>
          <p:cNvPr id="7" name="">
            <a:extLst xmlns:a="http://schemas.openxmlformats.org/drawingml/2006/main">
              <a:ext uri="{FF2B5EF4-FFF2-40B4-BE49-F238E27FC236}">
                <a16:creationId xmlns:a16="http://schemas.microsoft.com/office/drawing/2014/main" id="{84CC7407-F5E6-4D79-9DF0-F2C2672CC944}"/>
              </a:ext>
            </a:extLst>
          </p:cNvPr>
          <p:cNvSpPr>
            <a:spLocks xmlns:a="http://schemas.openxmlformats.org/drawingml/2006/main" noGrp="1"/>
          </p:cNvSpPr>
          <p:nvPr/>
        </p:nvSpPr>
        <p:spPr>
          <a:xfrm xmlns:a="http://schemas.openxmlformats.org/drawingml/2006/main">
            <a:off x="809625" y="1933575"/>
            <a:ext cx="2095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556"/>
          </a:bodyPr>
          <a:lstStyle xmlns:a="http://schemas.openxmlformats.org/drawingml/2006/main"/>
          <a:p xmlns:a="http://schemas.openxmlformats.org/drawingml/2006/main">
            <a:pPr algn="l">
              <a:defRPr sz="1125" b="0">
                <a:solidFill>
                  <a:srgbClr val="51636B"/>
                </a:solidFill>
                <a:latin typeface="Helvetica Neue"/>
                <a:ea typeface="Helvetica Neue"/>
                <a:cs typeface="Helvetica Neue"/>
              </a:defRPr>
            </a:pPr>
            <a:r>
              <a:rPr sz="1125" b="0">
                <a:solidFill>
                  <a:srgbClr val="51636B"/>
                </a:solidFill>
                <a:latin typeface="Helvetica Neue"/>
                <a:ea typeface="Helvetica Neue"/>
                <a:cs typeface="Helvetica Neue"/>
              </a:rPr>
              <a:t>candidate J-domain records in the corrected UniProt FASTA</a:t>
            </a:r>
          </a:p>
        </p:txBody>
      </p:sp>
      <p:sp>
        <p:nvSpPr>
          <p:cNvPr id="8" name="">
            <a:extLst xmlns:a="http://schemas.openxmlformats.org/drawingml/2006/main">
              <a:ext uri="{FF2B5EF4-FFF2-40B4-BE49-F238E27FC236}">
                <a16:creationId xmlns:a16="http://schemas.microsoft.com/office/drawing/2014/main" id="{41F4B4B2-92ED-4182-8223-AC2AA0EC212E}"/>
              </a:ext>
            </a:extLst>
          </p:cNvPr>
          <p:cNvSpPr>
            <a:spLocks xmlns:a="http://schemas.openxmlformats.org/drawingml/2006/main" noGrp="1"/>
          </p:cNvSpPr>
          <p:nvPr/>
        </p:nvSpPr>
        <p:spPr>
          <a:xfrm xmlns:a="http://schemas.openxmlformats.org/drawingml/2006/main">
            <a:off x="3476625" y="1476375"/>
            <a:ext cx="209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020"/>
          </a:bodyPr>
          <a:lstStyle xmlns:a="http://schemas.openxmlformats.org/drawingml/2006/main"/>
          <a:p xmlns:a="http://schemas.openxmlformats.org/drawingml/2006/main">
            <a:pPr algn="l">
              <a:defRPr sz="2550" b="1">
                <a:solidFill>
                  <a:srgbClr val="0E6B6F"/>
                </a:solidFill>
                <a:latin typeface="Helvetica Neue"/>
                <a:ea typeface="Helvetica Neue"/>
                <a:cs typeface="Helvetica Neue"/>
              </a:defRPr>
            </a:pPr>
            <a:r>
              <a:rPr sz="2550" b="1">
                <a:solidFill>
                  <a:srgbClr val="0E6B6F"/>
                </a:solidFill>
                <a:latin typeface="Helvetica Neue"/>
                <a:ea typeface="Helvetica Neue"/>
                <a:cs typeface="Helvetica Neue"/>
              </a:rPr>
              <a:t>17,895</a:t>
            </a:r>
          </a:p>
        </p:txBody>
      </p:sp>
      <p:sp>
        <p:nvSpPr>
          <p:cNvPr id="9" name="">
            <a:extLst xmlns:a="http://schemas.openxmlformats.org/drawingml/2006/main">
              <a:ext uri="{FF2B5EF4-FFF2-40B4-BE49-F238E27FC236}">
                <a16:creationId xmlns:a16="http://schemas.microsoft.com/office/drawing/2014/main" id="{341DEA1B-8898-49F7-BAE6-B3868C3203ED}"/>
              </a:ext>
            </a:extLst>
          </p:cNvPr>
          <p:cNvSpPr>
            <a:spLocks xmlns:a="http://schemas.openxmlformats.org/drawingml/2006/main" noGrp="1"/>
          </p:cNvSpPr>
          <p:nvPr/>
        </p:nvSpPr>
        <p:spPr>
          <a:xfrm xmlns:a="http://schemas.openxmlformats.org/drawingml/2006/main">
            <a:off x="3476625" y="1933575"/>
            <a:ext cx="2095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556"/>
          </a:bodyPr>
          <a:lstStyle xmlns:a="http://schemas.openxmlformats.org/drawingml/2006/main"/>
          <a:p xmlns:a="http://schemas.openxmlformats.org/drawingml/2006/main">
            <a:pPr algn="l">
              <a:defRPr sz="1125" b="0">
                <a:solidFill>
                  <a:srgbClr val="51636B"/>
                </a:solidFill>
                <a:latin typeface="Helvetica Neue"/>
                <a:ea typeface="Helvetica Neue"/>
                <a:cs typeface="Helvetica Neue"/>
              </a:defRPr>
            </a:pPr>
            <a:r>
              <a:rPr sz="1125" b="0">
                <a:solidFill>
                  <a:srgbClr val="51636B"/>
                </a:solidFill>
                <a:latin typeface="Helvetica Neue"/>
                <a:ea typeface="Helvetica Neue"/>
                <a:cs typeface="Helvetica Neue"/>
              </a:rPr>
              <a:t>distinct UniProt taxonomy IDs before filtering</a:t>
            </a:r>
          </a:p>
        </p:txBody>
      </p:sp>
      <p:sp>
        <p:nvSpPr>
          <p:cNvPr id="10" name="">
            <a:extLst xmlns:a="http://schemas.openxmlformats.org/drawingml/2006/main">
              <a:ext uri="{FF2B5EF4-FFF2-40B4-BE49-F238E27FC236}">
                <a16:creationId xmlns:a16="http://schemas.microsoft.com/office/drawing/2014/main" id="{4C2EF2D2-6B20-411E-AA52-C49D23CC9690}"/>
              </a:ext>
            </a:extLst>
          </p:cNvPr>
          <p:cNvSpPr>
            <a:spLocks xmlns:a="http://schemas.openxmlformats.org/drawingml/2006/main" noGrp="1"/>
          </p:cNvSpPr>
          <p:nvPr/>
        </p:nvSpPr>
        <p:spPr>
          <a:xfrm xmlns:a="http://schemas.openxmlformats.org/drawingml/2006/main">
            <a:off x="6143625" y="1476375"/>
            <a:ext cx="209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020"/>
          </a:bodyPr>
          <a:lstStyle xmlns:a="http://schemas.openxmlformats.org/drawingml/2006/main"/>
          <a:p xmlns:a="http://schemas.openxmlformats.org/drawingml/2006/main">
            <a:pPr algn="l">
              <a:defRPr sz="2550" b="1">
                <a:solidFill>
                  <a:srgbClr val="D5A129"/>
                </a:solidFill>
                <a:latin typeface="Helvetica Neue"/>
                <a:ea typeface="Helvetica Neue"/>
                <a:cs typeface="Helvetica Neue"/>
              </a:defRPr>
            </a:pPr>
            <a:r>
              <a:rPr sz="2550" b="1">
                <a:solidFill>
                  <a:srgbClr val="D5A129"/>
                </a:solidFill>
                <a:latin typeface="Helvetica Neue"/>
                <a:ea typeface="Helvetica Neue"/>
                <a:cs typeface="Helvetica Neue"/>
              </a:rPr>
              <a:t>8,638</a:t>
            </a:r>
          </a:p>
        </p:txBody>
      </p:sp>
      <p:sp>
        <p:nvSpPr>
          <p:cNvPr id="11" name="">
            <a:extLst xmlns:a="http://schemas.openxmlformats.org/drawingml/2006/main">
              <a:ext uri="{FF2B5EF4-FFF2-40B4-BE49-F238E27FC236}">
                <a16:creationId xmlns:a16="http://schemas.microsoft.com/office/drawing/2014/main" id="{0CBE1876-BC96-4B1D-9BD7-BB7530FC25E3}"/>
              </a:ext>
            </a:extLst>
          </p:cNvPr>
          <p:cNvSpPr>
            <a:spLocks xmlns:a="http://schemas.openxmlformats.org/drawingml/2006/main" noGrp="1"/>
          </p:cNvSpPr>
          <p:nvPr/>
        </p:nvSpPr>
        <p:spPr>
          <a:xfrm xmlns:a="http://schemas.openxmlformats.org/drawingml/2006/main">
            <a:off x="6143625" y="1933575"/>
            <a:ext cx="2095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556"/>
          </a:bodyPr>
          <a:lstStyle xmlns:a="http://schemas.openxmlformats.org/drawingml/2006/main"/>
          <a:p xmlns:a="http://schemas.openxmlformats.org/drawingml/2006/main">
            <a:pPr algn="l">
              <a:defRPr sz="1125" b="0">
                <a:solidFill>
                  <a:srgbClr val="51636B"/>
                </a:solidFill>
                <a:latin typeface="Helvetica Neue"/>
                <a:ea typeface="Helvetica Neue"/>
                <a:cs typeface="Helvetica Neue"/>
              </a:defRPr>
            </a:pPr>
            <a:r>
              <a:rPr sz="1125" b="0">
                <a:solidFill>
                  <a:srgbClr val="51636B"/>
                </a:solidFill>
                <a:latin typeface="Helvetica Neue"/>
                <a:ea typeface="Helvetica Neue"/>
                <a:cs typeface="Helvetica Neue"/>
              </a:rPr>
              <a:t>distinct organisms in TEMPURA</a:t>
            </a:r>
          </a:p>
        </p:txBody>
      </p:sp>
      <p:sp>
        <p:nvSpPr>
          <p:cNvPr id="12" name="">
            <a:extLst xmlns:a="http://schemas.openxmlformats.org/drawingml/2006/main">
              <a:ext uri="{FF2B5EF4-FFF2-40B4-BE49-F238E27FC236}">
                <a16:creationId xmlns:a16="http://schemas.microsoft.com/office/drawing/2014/main" id="{0A9AC0BC-A8C9-40F3-B4E9-8F524DF7064E}"/>
              </a:ext>
            </a:extLst>
          </p:cNvPr>
          <p:cNvSpPr>
            <a:spLocks xmlns:a="http://schemas.openxmlformats.org/drawingml/2006/main" noGrp="1"/>
          </p:cNvSpPr>
          <p:nvPr/>
        </p:nvSpPr>
        <p:spPr>
          <a:xfrm xmlns:a="http://schemas.openxmlformats.org/drawingml/2006/main">
            <a:off x="8810625" y="1476375"/>
            <a:ext cx="209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020"/>
          </a:bodyPr>
          <a:lstStyle xmlns:a="http://schemas.openxmlformats.org/drawingml/2006/main"/>
          <a:p xmlns:a="http://schemas.openxmlformats.org/drawingml/2006/main">
            <a:pPr algn="l">
              <a:defRPr sz="2550" b="1">
                <a:solidFill>
                  <a:srgbClr val="D7634C"/>
                </a:solidFill>
                <a:latin typeface="Helvetica Neue"/>
                <a:ea typeface="Helvetica Neue"/>
                <a:cs typeface="Helvetica Neue"/>
              </a:defRPr>
            </a:pPr>
            <a:r>
              <a:rPr sz="2550" b="1">
                <a:solidFill>
                  <a:srgbClr val="D7634C"/>
                </a:solidFill>
                <a:latin typeface="Helvetica Neue"/>
                <a:ea typeface="Helvetica Neue"/>
                <a:cs typeface="Helvetica Neue"/>
              </a:rPr>
              <a:t>16,786</a:t>
            </a:r>
          </a:p>
        </p:txBody>
      </p:sp>
      <p:sp>
        <p:nvSpPr>
          <p:cNvPr id="13" name="">
            <a:extLst xmlns:a="http://schemas.openxmlformats.org/drawingml/2006/main">
              <a:ext uri="{FF2B5EF4-FFF2-40B4-BE49-F238E27FC236}">
                <a16:creationId xmlns:a16="http://schemas.microsoft.com/office/drawing/2014/main" id="{80B4AE16-141B-4720-B34F-04E5AB706C49}"/>
              </a:ext>
            </a:extLst>
          </p:cNvPr>
          <p:cNvSpPr>
            <a:spLocks xmlns:a="http://schemas.openxmlformats.org/drawingml/2006/main" noGrp="1"/>
          </p:cNvSpPr>
          <p:nvPr/>
        </p:nvSpPr>
        <p:spPr>
          <a:xfrm xmlns:a="http://schemas.openxmlformats.org/drawingml/2006/main">
            <a:off x="8810625" y="1933575"/>
            <a:ext cx="2095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556"/>
          </a:bodyPr>
          <a:lstStyle xmlns:a="http://schemas.openxmlformats.org/drawingml/2006/main"/>
          <a:p xmlns:a="http://schemas.openxmlformats.org/drawingml/2006/main">
            <a:pPr algn="l">
              <a:defRPr sz="1125" b="0">
                <a:solidFill>
                  <a:srgbClr val="51636B"/>
                </a:solidFill>
                <a:latin typeface="Helvetica Neue"/>
                <a:ea typeface="Helvetica Neue"/>
                <a:cs typeface="Helvetica Neue"/>
              </a:defRPr>
            </a:pPr>
            <a:r>
              <a:rPr sz="1125" b="0">
                <a:solidFill>
                  <a:srgbClr val="51636B"/>
                </a:solidFill>
                <a:latin typeface="Helvetica Neue"/>
                <a:ea typeface="Helvetica Neue"/>
                <a:cs typeface="Helvetica Neue"/>
              </a:rPr>
              <a:t>records matched to TEMPURA by taxonomy ID</a:t>
            </a:r>
          </a:p>
        </p:txBody>
      </p:sp>
      <p:sp>
        <p:nvSpPr>
          <p:cNvPr id="14" name="">
            <a:extLst xmlns:a="http://schemas.openxmlformats.org/drawingml/2006/main">
              <a:ext uri="{FF2B5EF4-FFF2-40B4-BE49-F238E27FC236}">
                <a16:creationId xmlns:a16="http://schemas.microsoft.com/office/drawing/2014/main" id="{EC34B4C6-46AB-49F2-9B0D-BCE7551E03D6}"/>
              </a:ext>
            </a:extLst>
          </p:cNvPr>
          <p:cNvSpPr>
            <a:spLocks xmlns:a="http://schemas.openxmlformats.org/drawingml/2006/main" noGrp="1"/>
          </p:cNvSpPr>
          <p:nvPr/>
        </p:nvSpPr>
        <p:spPr>
          <a:xfrm xmlns:a="http://schemas.openxmlformats.org/drawingml/2006/main">
            <a:off x="809625" y="2857500"/>
            <a:ext cx="10382250" cy="2190750"/>
          </a:xfrm>
          <a:prstGeom xmlns:a="http://schemas.openxmlformats.org/drawingml/2006/main" prst="roundRect">
            <a:avLst>
              <a:gd name="adj" fmla="val 2609"/>
            </a:avLst>
          </a:prstGeom>
          <a:solidFill xmlns:a="http://schemas.openxmlformats.org/drawingml/2006/main">
            <a:srgbClr val="FFFFFF"/>
          </a:solidFill>
          <a:ln xmlns:a="http://schemas.openxmlformats.org/drawingml/2006/main" w="9525">
            <a:solidFill>
              <a:srgbClr val="CBD6D8"/>
            </a:solidFill>
          </a:ln>
        </p:spPr>
      </p:sp>
      <p:sp>
        <p:nvSpPr>
          <p:cNvPr id="15" name="">
            <a:extLst xmlns:a="http://schemas.openxmlformats.org/drawingml/2006/main">
              <a:ext uri="{FF2B5EF4-FFF2-40B4-BE49-F238E27FC236}">
                <a16:creationId xmlns:a16="http://schemas.microsoft.com/office/drawing/2014/main" id="{8A1B1487-4B0C-4C0E-A1F2-236417A72B5C}"/>
              </a:ext>
            </a:extLst>
          </p:cNvPr>
          <p:cNvSpPr>
            <a:spLocks xmlns:a="http://schemas.openxmlformats.org/drawingml/2006/main" noGrp="1"/>
          </p:cNvSpPr>
          <p:nvPr/>
        </p:nvSpPr>
        <p:spPr>
          <a:xfrm xmlns:a="http://schemas.openxmlformats.org/drawingml/2006/main">
            <a:off x="1095375" y="3095625"/>
            <a:ext cx="200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14262D"/>
                </a:solidFill>
                <a:latin typeface="Helvetica Neue"/>
                <a:ea typeface="Helvetica Neue"/>
                <a:cs typeface="Helvetica Neue"/>
              </a:defRPr>
            </a:pPr>
            <a:r>
              <a:rPr sz="1575" b="1">
                <a:solidFill>
                  <a:srgbClr val="14262D"/>
                </a:solidFill>
                <a:latin typeface="Helvetica Neue"/>
                <a:ea typeface="Helvetica Neue"/>
                <a:cs typeface="Helvetica Neue"/>
              </a:rPr>
              <a:t>Matching rule</a:t>
            </a:r>
          </a:p>
        </p:txBody>
      </p:sp>
      <p:sp>
        <p:nvSpPr>
          <p:cNvPr id="16" name="">
            <a:extLst xmlns:a="http://schemas.openxmlformats.org/drawingml/2006/main">
              <a:ext uri="{FF2B5EF4-FFF2-40B4-BE49-F238E27FC236}">
                <a16:creationId xmlns:a16="http://schemas.microsoft.com/office/drawing/2014/main" id="{0DC785B6-2814-478E-8C7A-5CC6E10A7163}"/>
              </a:ext>
            </a:extLst>
          </p:cNvPr>
          <p:cNvSpPr>
            <a:spLocks xmlns:a="http://schemas.openxmlformats.org/drawingml/2006/main" noGrp="1"/>
          </p:cNvSpPr>
          <p:nvPr/>
        </p:nvSpPr>
        <p:spPr>
          <a:xfrm xmlns:a="http://schemas.openxmlformats.org/drawingml/2006/main">
            <a:off x="3143250" y="3095625"/>
            <a:ext cx="742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0E6B6F"/>
                </a:solidFill>
                <a:latin typeface="Helvetica Neue"/>
                <a:ea typeface="Helvetica Neue"/>
                <a:cs typeface="Helvetica Neue"/>
              </a:defRPr>
            </a:pPr>
            <a:r>
              <a:rPr sz="1650" b="1">
                <a:solidFill>
                  <a:srgbClr val="0E6B6F"/>
                </a:solidFill>
                <a:latin typeface="Helvetica Neue"/>
                <a:ea typeface="Helvetica Neue"/>
                <a:cs typeface="Helvetica Neue"/>
              </a:rPr>
              <a:t>UniProt OX taxonomy ID = TEMPURA taxonomy_id</a:t>
            </a:r>
          </a:p>
        </p:txBody>
      </p:sp>
      <p:sp>
        <p:nvSpPr>
          <p:cNvPr id="17" name="">
            <a:extLst xmlns:a="http://schemas.openxmlformats.org/drawingml/2006/main">
              <a:ext uri="{FF2B5EF4-FFF2-40B4-BE49-F238E27FC236}">
                <a16:creationId xmlns:a16="http://schemas.microsoft.com/office/drawing/2014/main" id="{6C9B1C56-AD28-4F47-BE2C-EBB2B3791C3E}"/>
              </a:ext>
            </a:extLst>
          </p:cNvPr>
          <p:cNvSpPr>
            <a:spLocks xmlns:a="http://schemas.openxmlformats.org/drawingml/2006/main" noGrp="1"/>
          </p:cNvSpPr>
          <p:nvPr/>
        </p:nvSpPr>
        <p:spPr>
          <a:xfrm xmlns:a="http://schemas.openxmlformats.org/drawingml/2006/main">
            <a:off x="1095375" y="3638550"/>
            <a:ext cx="952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1636B"/>
                </a:solidFill>
                <a:latin typeface="Helvetica Neue"/>
                <a:ea typeface="Helvetica Neue"/>
                <a:cs typeface="Helvetica Neue"/>
              </a:defRPr>
            </a:pPr>
            <a:r>
              <a:rPr sz="1350" b="0">
                <a:solidFill>
                  <a:srgbClr val="51636B"/>
                </a:solidFill>
                <a:latin typeface="Helvetica Neue"/>
                <a:ea typeface="Helvetica Neue"/>
                <a:cs typeface="Helvetica Neue"/>
              </a:rPr>
              <a:t>Strict taxonomy-ID matching avoided ambiguous species-name joins. No species-name fallback was used in the final dataset.</a:t>
            </a:r>
          </a:p>
        </p:txBody>
      </p:sp>
      <p:sp>
        <p:nvSpPr>
          <p:cNvPr id="18" name="">
            <a:extLst xmlns:a="http://schemas.openxmlformats.org/drawingml/2006/main">
              <a:ext uri="{FF2B5EF4-FFF2-40B4-BE49-F238E27FC236}">
                <a16:creationId xmlns:a16="http://schemas.microsoft.com/office/drawing/2014/main" id="{771913B7-0CF5-4860-BAA0-85D01465DC30}"/>
              </a:ext>
            </a:extLst>
          </p:cNvPr>
          <p:cNvSpPr>
            <a:spLocks xmlns:a="http://schemas.openxmlformats.org/drawingml/2006/main" noGrp="1"/>
          </p:cNvSpPr>
          <p:nvPr/>
        </p:nvSpPr>
        <p:spPr>
          <a:xfrm xmlns:a="http://schemas.openxmlformats.org/drawingml/2006/main">
            <a:off x="1095375" y="4286250"/>
            <a:ext cx="952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1636B"/>
                </a:solidFill>
                <a:latin typeface="Helvetica Neue"/>
                <a:ea typeface="Helvetica Neue"/>
                <a:cs typeface="Helvetica Neue"/>
              </a:defRPr>
            </a:pPr>
            <a:r>
              <a:rPr sz="1350" b="0">
                <a:solidFill>
                  <a:srgbClr val="51636B"/>
                </a:solidFill>
                <a:latin typeface="Helvetica Neue"/>
                <a:ea typeface="Helvetica Neue"/>
                <a:cs typeface="Helvetica Neue"/>
              </a:rPr>
              <a:t>All temperature fields remained attached to each protein: Tmin, Topt_ave, Topt_low, Topt_high, Tmax, and Tmax−Tmin. Multiple homologs from the same organism were retained.</a:t>
            </a:r>
          </a:p>
        </p:txBody>
      </p:sp>
      <p:sp>
        <p:nvSpPr>
          <p:cNvPr id="19" name="">
            <a:extLst xmlns:a="http://schemas.openxmlformats.org/drawingml/2006/main">
              <a:ext uri="{FF2B5EF4-FFF2-40B4-BE49-F238E27FC236}">
                <a16:creationId xmlns:a16="http://schemas.microsoft.com/office/drawing/2014/main" id="{CDD8B2B4-78C3-44A8-BCD2-247F859F89A7}"/>
              </a:ext>
            </a:extLst>
          </p:cNvPr>
          <p:cNvSpPr>
            <a:spLocks xmlns:a="http://schemas.openxmlformats.org/drawingml/2006/main" noGrp="1"/>
          </p:cNvSpPr>
          <p:nvPr/>
        </p:nvSpPr>
        <p:spPr>
          <a:xfrm xmlns:a="http://schemas.openxmlformats.org/drawingml/2006/main">
            <a:off x="952500" y="55245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0">
                <a:solidFill>
                  <a:srgbClr val="51636B"/>
                </a:solidFill>
                <a:latin typeface="Helvetica Neue"/>
                <a:ea typeface="Helvetica Neue"/>
                <a:cs typeface="Helvetica Neue"/>
              </a:defRPr>
            </a:pPr>
            <a:r>
              <a:rPr sz="1125" b="0">
                <a:solidFill>
                  <a:srgbClr val="51636B"/>
                </a:solidFill>
                <a:latin typeface="Helvetica Neue"/>
                <a:ea typeface="Helvetica Neue"/>
                <a:cs typeface="Helvetica Neue"/>
              </a:rPr>
              <a:t>One TEMPURA organism appears twice: Methanopyrus kandleri, taxonomy ID 2320.</a:t>
            </a:r>
          </a:p>
        </p:txBody>
      </p:sp>
    </p:spTree>
    <p:extLst>
      <p:ext uri="{BB962C8B-B14F-4D97-AF65-F5344CB8AC3E}">
        <p14:creationId xmlns:p14="http://schemas.microsoft.com/office/powerpoint/2010/main" val="685605262"/>
      </p:ext>
    </p:extLst>
  </p:cSld>
</p:sld>
</file>

<file path=ppt/slides/slide6.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CDA54C97-77DD-4A89-83C3-02D4AAFE2F93}"/>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0E6B6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2B9F06E-EBB9-49FE-8475-C46741733A6C}"/>
              </a:ext>
            </a:extLst>
          </p:cNvPr>
          <p:cNvSpPr>
            <a:spLocks xmlns:a="http://schemas.openxmlformats.org/drawingml/2006/main" noGrp="1"/>
          </p:cNvSpPr>
          <p:nvPr/>
        </p:nvSpPr>
        <p:spPr>
          <a:xfrm xmlns:a="http://schemas.openxmlformats.org/drawingml/2006/main">
            <a:off x="552450" y="28575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a:solidFill>
                  <a:srgbClr val="0E6B6F"/>
                </a:solidFill>
                <a:latin typeface="Helvetica Neue"/>
                <a:ea typeface="Helvetica Neue"/>
                <a:cs typeface="Helvetica Neue"/>
              </a:defRPr>
            </a:pPr>
            <a:r>
              <a:rPr sz="900" b="1">
                <a:solidFill>
                  <a:srgbClr val="0E6B6F"/>
                </a:solidFill>
                <a:latin typeface="Helvetica Neue"/>
                <a:ea typeface="Helvetica Neue"/>
                <a:cs typeface="Helvetica Neue"/>
              </a:rPr>
              <a:t>MSA CONSTRUCTION</a:t>
            </a:r>
          </a:p>
        </p:txBody>
      </p:sp>
      <p:sp>
        <p:nvSpPr>
          <p:cNvPr id="3" name="">
            <a:extLst xmlns:a="http://schemas.openxmlformats.org/drawingml/2006/main">
              <a:ext uri="{FF2B5EF4-FFF2-40B4-BE49-F238E27FC236}">
                <a16:creationId xmlns:a16="http://schemas.microsoft.com/office/drawing/2014/main" id="{D1D3C7D0-B017-42A3-A33F-27C91DFC5D35}"/>
              </a:ext>
            </a:extLst>
          </p:cNvPr>
          <p:cNvSpPr>
            <a:spLocks xmlns:a="http://schemas.openxmlformats.org/drawingml/2006/main" noGrp="1"/>
          </p:cNvSpPr>
          <p:nvPr/>
        </p:nvSpPr>
        <p:spPr>
          <a:xfrm xmlns:a="http://schemas.openxmlformats.org/drawingml/2006/main">
            <a:off x="552450" y="495300"/>
            <a:ext cx="1081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14262D"/>
                </a:solidFill>
                <a:latin typeface="Helvetica Neue"/>
                <a:ea typeface="Helvetica Neue"/>
                <a:cs typeface="Helvetica Neue"/>
              </a:defRPr>
            </a:pPr>
            <a:r>
              <a:rPr sz="2400" b="1">
                <a:solidFill>
                  <a:srgbClr val="14262D"/>
                </a:solidFill>
                <a:latin typeface="Helvetica Neue"/>
                <a:ea typeface="Helvetica Neue"/>
                <a:cs typeface="Helvetica Neue"/>
              </a:rPr>
              <a:t>J-domain sequence filtering and alignment</a:t>
            </a:r>
          </a:p>
        </p:txBody>
      </p:sp>
      <p:sp>
        <p:nvSpPr>
          <p:cNvPr id="4" name="">
            <a:extLst xmlns:a="http://schemas.openxmlformats.org/drawingml/2006/main">
              <a:ext uri="{FF2B5EF4-FFF2-40B4-BE49-F238E27FC236}">
                <a16:creationId xmlns:a16="http://schemas.microsoft.com/office/drawing/2014/main" id="{0940646F-E244-44D3-A9D6-AFE11E98759F}"/>
              </a:ext>
            </a:extLst>
          </p:cNvPr>
          <p:cNvSpPr>
            <a:spLocks xmlns:a="http://schemas.openxmlformats.org/drawingml/2006/main" noGrp="1"/>
          </p:cNvSpPr>
          <p:nvPr/>
        </p:nvSpPr>
        <p:spPr>
          <a:xfrm xmlns:a="http://schemas.openxmlformats.org/drawingml/2006/main">
            <a:off x="552450" y="1066800"/>
            <a:ext cx="11049000" cy="19050"/>
          </a:xfrm>
          <a:prstGeom xmlns:a="http://schemas.openxmlformats.org/drawingml/2006/main" prst="rect">
            <a:avLst/>
          </a:prstGeom>
          <a:solidFill xmlns:a="http://schemas.openxmlformats.org/drawingml/2006/main">
            <a:srgbClr val="CBD6D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E95C28B-C8CE-427B-A2BE-3E4965B01C80}"/>
              </a:ext>
            </a:extLst>
          </p:cNvPr>
          <p:cNvSpPr>
            <a:spLocks xmlns:a="http://schemas.openxmlformats.org/drawingml/2006/main" noGrp="1"/>
          </p:cNvSpPr>
          <p:nvPr/>
        </p:nvSpPr>
        <p:spPr>
          <a:xfrm xmlns:a="http://schemas.openxmlformats.org/drawingml/2006/main">
            <a:off x="11144250" y="6477000"/>
            <a:ext cx="47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r">
              <a:defRPr sz="825" b="0">
                <a:solidFill>
                  <a:srgbClr val="51636B"/>
                </a:solidFill>
                <a:latin typeface="Helvetica Neue"/>
                <a:ea typeface="Helvetica Neue"/>
                <a:cs typeface="Helvetica Neue"/>
              </a:defRPr>
            </a:pPr>
            <a:r>
              <a:rPr sz="825" b="0">
                <a:solidFill>
                  <a:srgbClr val="51636B"/>
                </a:solidFill>
                <a:latin typeface="Helvetica Neue"/>
                <a:ea typeface="Helvetica Neue"/>
                <a:cs typeface="Helvetica Neue"/>
              </a:rPr>
              <a:t>06</a:t>
            </a:r>
          </a:p>
        </p:txBody>
      </p:sp>
      <p:sp>
        <p:nvSpPr>
          <p:cNvPr id="6" name="">
            <a:extLst xmlns:a="http://schemas.openxmlformats.org/drawingml/2006/main">
              <a:ext uri="{FF2B5EF4-FFF2-40B4-BE49-F238E27FC236}">
                <a16:creationId xmlns:a16="http://schemas.microsoft.com/office/drawing/2014/main" id="{E6DA5640-F826-482F-AE76-63B7C752CB75}"/>
              </a:ext>
            </a:extLst>
          </p:cNvPr>
          <p:cNvSpPr>
            <a:spLocks xmlns:a="http://schemas.openxmlformats.org/drawingml/2006/main" noGrp="1"/>
          </p:cNvSpPr>
          <p:nvPr/>
        </p:nvSpPr>
        <p:spPr>
          <a:xfrm xmlns:a="http://schemas.openxmlformats.org/drawingml/2006/main">
            <a:off x="523875" y="1809750"/>
            <a:ext cx="1952625" cy="1809750"/>
          </a:xfrm>
          <a:prstGeom xmlns:a="http://schemas.openxmlformats.org/drawingml/2006/main" prst="roundRect">
            <a:avLst>
              <a:gd name="adj" fmla="val 2632"/>
            </a:avLst>
          </a:prstGeom>
          <a:solidFill xmlns:a="http://schemas.openxmlformats.org/drawingml/2006/main">
            <a:srgbClr val="FFFFFF"/>
          </a:solidFill>
          <a:ln xmlns:a="http://schemas.openxmlformats.org/drawingml/2006/main" w="9525">
            <a:solidFill>
              <a:srgbClr val="CBD6D8"/>
            </a:solidFill>
          </a:ln>
        </p:spPr>
      </p:sp>
      <p:sp>
        <p:nvSpPr>
          <p:cNvPr id="7" name="">
            <a:extLst xmlns:a="http://schemas.openxmlformats.org/drawingml/2006/main">
              <a:ext uri="{FF2B5EF4-FFF2-40B4-BE49-F238E27FC236}">
                <a16:creationId xmlns:a16="http://schemas.microsoft.com/office/drawing/2014/main" id="{2372F7B7-264C-42F1-99A0-A0BAE8641308}"/>
              </a:ext>
            </a:extLst>
          </p:cNvPr>
          <p:cNvSpPr>
            <a:spLocks xmlns:a="http://schemas.openxmlformats.org/drawingml/2006/main" noGrp="1"/>
          </p:cNvSpPr>
          <p:nvPr/>
        </p:nvSpPr>
        <p:spPr>
          <a:xfrm xmlns:a="http://schemas.openxmlformats.org/drawingml/2006/main">
            <a:off x="523875" y="1809750"/>
            <a:ext cx="1952625" cy="95250"/>
          </a:xfrm>
          <a:prstGeom xmlns:a="http://schemas.openxmlformats.org/drawingml/2006/main" prst="rect">
            <a:avLst/>
          </a:prstGeom>
          <a:solidFill xmlns:a="http://schemas.openxmlformats.org/drawingml/2006/main">
            <a:srgbClr val="2B8C9D"/>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BF7E6EE-D046-4BAF-BE58-DF282C28B102}"/>
              </a:ext>
            </a:extLst>
          </p:cNvPr>
          <p:cNvSpPr>
            <a:spLocks xmlns:a="http://schemas.openxmlformats.org/drawingml/2006/main" noGrp="1"/>
          </p:cNvSpPr>
          <p:nvPr/>
        </p:nvSpPr>
        <p:spPr>
          <a:xfrm xmlns:a="http://schemas.openxmlformats.org/drawingml/2006/main">
            <a:off x="657225" y="2133600"/>
            <a:ext cx="16859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333"/>
          </a:bodyPr>
          <a:lstStyle xmlns:a="http://schemas.openxmlformats.org/drawingml/2006/main"/>
          <a:p xmlns:a="http://schemas.openxmlformats.org/drawingml/2006/main">
            <a:pPr algn="ctr">
              <a:defRPr sz="1500" b="1">
                <a:solidFill>
                  <a:srgbClr val="14262D"/>
                </a:solidFill>
                <a:latin typeface="Helvetica Neue"/>
                <a:ea typeface="Helvetica Neue"/>
                <a:cs typeface="Helvetica Neue"/>
              </a:defRPr>
            </a:pPr>
            <a:r>
              <a:rPr sz="1500" b="1">
                <a:solidFill>
                  <a:srgbClr val="14262D"/>
                </a:solidFill>
                <a:latin typeface="Helvetica Neue"/>
                <a:ea typeface="Helvetica Neue"/>
                <a:cs typeface="Helvetica Neue"/>
              </a:rPr>
              <a:t>Corrected UniProt FASTA</a:t>
            </a:r>
          </a:p>
        </p:txBody>
      </p:sp>
      <p:sp>
        <p:nvSpPr>
          <p:cNvPr id="9" name="">
            <a:extLst xmlns:a="http://schemas.openxmlformats.org/drawingml/2006/main">
              <a:ext uri="{FF2B5EF4-FFF2-40B4-BE49-F238E27FC236}">
                <a16:creationId xmlns:a16="http://schemas.microsoft.com/office/drawing/2014/main" id="{25EEAD06-680A-40E8-A436-0D9B8A198099}"/>
              </a:ext>
            </a:extLst>
          </p:cNvPr>
          <p:cNvSpPr>
            <a:spLocks xmlns:a="http://schemas.openxmlformats.org/drawingml/2006/main" noGrp="1"/>
          </p:cNvSpPr>
          <p:nvPr/>
        </p:nvSpPr>
        <p:spPr>
          <a:xfrm xmlns:a="http://schemas.openxmlformats.org/drawingml/2006/main">
            <a:off x="657225" y="2819400"/>
            <a:ext cx="16859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2B8C9D"/>
                </a:solidFill>
                <a:latin typeface="Helvetica Neue"/>
                <a:ea typeface="Helvetica Neue"/>
                <a:cs typeface="Helvetica Neue"/>
              </a:defRPr>
            </a:pPr>
            <a:r>
              <a:rPr sz="1350" b="1">
                <a:solidFill>
                  <a:srgbClr val="2B8C9D"/>
                </a:solidFill>
                <a:latin typeface="Helvetica Neue"/>
                <a:ea typeface="Helvetica Neue"/>
                <a:cs typeface="Helvetica Neue"/>
              </a:rPr>
              <a:t>62,074 sequences</a:t>
            </a:r>
          </a:p>
        </p:txBody>
      </p:sp>
      <p:sp>
        <p:nvSpPr>
          <p:cNvPr id="10" name="">
            <a:extLst xmlns:a="http://schemas.openxmlformats.org/drawingml/2006/main">
              <a:ext uri="{FF2B5EF4-FFF2-40B4-BE49-F238E27FC236}">
                <a16:creationId xmlns:a16="http://schemas.microsoft.com/office/drawing/2014/main" id="{B5B2DEFF-8E2F-45CE-A9B7-B0ECDEC150DB}"/>
              </a:ext>
            </a:extLst>
          </p:cNvPr>
          <p:cNvSpPr>
            <a:spLocks xmlns:a="http://schemas.openxmlformats.org/drawingml/2006/main" noGrp="1"/>
          </p:cNvSpPr>
          <p:nvPr/>
        </p:nvSpPr>
        <p:spPr>
          <a:xfrm xmlns:a="http://schemas.openxmlformats.org/drawingml/2006/main">
            <a:off x="2495550" y="2476500"/>
            <a:ext cx="3524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CBD6D8"/>
                </a:solidFill>
                <a:latin typeface="Helvetica Neue"/>
                <a:ea typeface="Helvetica Neue"/>
                <a:cs typeface="Helvetica Neue"/>
              </a:defRPr>
            </a:pPr>
            <a:r>
              <a:rPr sz="2100" b="1">
                <a:solidFill>
                  <a:srgbClr val="CBD6D8"/>
                </a:solidFill>
                <a:latin typeface="Helvetica Neue"/>
                <a:ea typeface="Helvetica Neue"/>
                <a:cs typeface="Helvetica Neue"/>
              </a:rPr>
              <a:t>&gt;</a:t>
            </a:r>
          </a:p>
        </p:txBody>
      </p:sp>
      <p:sp>
        <p:nvSpPr>
          <p:cNvPr id="11" name="">
            <a:extLst xmlns:a="http://schemas.openxmlformats.org/drawingml/2006/main">
              <a:ext uri="{FF2B5EF4-FFF2-40B4-BE49-F238E27FC236}">
                <a16:creationId xmlns:a16="http://schemas.microsoft.com/office/drawing/2014/main" id="{224918FC-59B9-4AC3-83FD-B7F52156F04F}"/>
              </a:ext>
            </a:extLst>
          </p:cNvPr>
          <p:cNvSpPr>
            <a:spLocks xmlns:a="http://schemas.openxmlformats.org/drawingml/2006/main" noGrp="1"/>
          </p:cNvSpPr>
          <p:nvPr/>
        </p:nvSpPr>
        <p:spPr>
          <a:xfrm xmlns:a="http://schemas.openxmlformats.org/drawingml/2006/main">
            <a:off x="2847975" y="1809750"/>
            <a:ext cx="1952625" cy="1809750"/>
          </a:xfrm>
          <a:prstGeom xmlns:a="http://schemas.openxmlformats.org/drawingml/2006/main" prst="roundRect">
            <a:avLst>
              <a:gd name="adj" fmla="val 2632"/>
            </a:avLst>
          </a:prstGeom>
          <a:solidFill xmlns:a="http://schemas.openxmlformats.org/drawingml/2006/main">
            <a:srgbClr val="FFFFFF"/>
          </a:solidFill>
          <a:ln xmlns:a="http://schemas.openxmlformats.org/drawingml/2006/main" w="9525">
            <a:solidFill>
              <a:srgbClr val="CBD6D8"/>
            </a:solidFill>
          </a:ln>
        </p:spPr>
      </p:sp>
      <p:sp>
        <p:nvSpPr>
          <p:cNvPr id="12" name="">
            <a:extLst xmlns:a="http://schemas.openxmlformats.org/drawingml/2006/main">
              <a:ext uri="{FF2B5EF4-FFF2-40B4-BE49-F238E27FC236}">
                <a16:creationId xmlns:a16="http://schemas.microsoft.com/office/drawing/2014/main" id="{D31B5110-F28A-46F6-BC9E-F6403E86D6D9}"/>
              </a:ext>
            </a:extLst>
          </p:cNvPr>
          <p:cNvSpPr>
            <a:spLocks xmlns:a="http://schemas.openxmlformats.org/drawingml/2006/main" noGrp="1"/>
          </p:cNvSpPr>
          <p:nvPr/>
        </p:nvSpPr>
        <p:spPr>
          <a:xfrm xmlns:a="http://schemas.openxmlformats.org/drawingml/2006/main">
            <a:off x="2847975" y="1809750"/>
            <a:ext cx="1952625" cy="95250"/>
          </a:xfrm>
          <a:prstGeom xmlns:a="http://schemas.openxmlformats.org/drawingml/2006/main" prst="rect">
            <a:avLst/>
          </a:prstGeom>
          <a:solidFill xmlns:a="http://schemas.openxmlformats.org/drawingml/2006/main">
            <a:srgbClr val="0E6B6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1AD3AE7-CD7F-47EA-A39D-A2449D4465D2}"/>
              </a:ext>
            </a:extLst>
          </p:cNvPr>
          <p:cNvSpPr>
            <a:spLocks xmlns:a="http://schemas.openxmlformats.org/drawingml/2006/main" noGrp="1"/>
          </p:cNvSpPr>
          <p:nvPr/>
        </p:nvSpPr>
        <p:spPr>
          <a:xfrm xmlns:a="http://schemas.openxmlformats.org/drawingml/2006/main">
            <a:off x="2981325" y="2133600"/>
            <a:ext cx="16859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333"/>
          </a:bodyPr>
          <a:lstStyle xmlns:a="http://schemas.openxmlformats.org/drawingml/2006/main"/>
          <a:p xmlns:a="http://schemas.openxmlformats.org/drawingml/2006/main">
            <a:pPr algn="ctr">
              <a:defRPr sz="1500" b="1">
                <a:solidFill>
                  <a:srgbClr val="14262D"/>
                </a:solidFill>
                <a:latin typeface="Helvetica Neue"/>
                <a:ea typeface="Helvetica Neue"/>
                <a:cs typeface="Helvetica Neue"/>
              </a:defRPr>
            </a:pPr>
            <a:r>
              <a:rPr sz="1500" b="1">
                <a:solidFill>
                  <a:srgbClr val="14262D"/>
                </a:solidFill>
                <a:latin typeface="Helvetica Neue"/>
                <a:ea typeface="Helvetica Neue"/>
                <a:cs typeface="Helvetica Neue"/>
              </a:rPr>
              <a:t>TEMPURA tax-ID match</a:t>
            </a:r>
          </a:p>
        </p:txBody>
      </p:sp>
      <p:sp>
        <p:nvSpPr>
          <p:cNvPr id="14" name="">
            <a:extLst xmlns:a="http://schemas.openxmlformats.org/drawingml/2006/main">
              <a:ext uri="{FF2B5EF4-FFF2-40B4-BE49-F238E27FC236}">
                <a16:creationId xmlns:a16="http://schemas.microsoft.com/office/drawing/2014/main" id="{1DA33BC7-2D4B-4FD5-A163-EF990973935F}"/>
              </a:ext>
            </a:extLst>
          </p:cNvPr>
          <p:cNvSpPr>
            <a:spLocks xmlns:a="http://schemas.openxmlformats.org/drawingml/2006/main" noGrp="1"/>
          </p:cNvSpPr>
          <p:nvPr/>
        </p:nvSpPr>
        <p:spPr>
          <a:xfrm xmlns:a="http://schemas.openxmlformats.org/drawingml/2006/main">
            <a:off x="2981325" y="2819400"/>
            <a:ext cx="16859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0E6B6F"/>
                </a:solidFill>
                <a:latin typeface="Helvetica Neue"/>
                <a:ea typeface="Helvetica Neue"/>
                <a:cs typeface="Helvetica Neue"/>
              </a:defRPr>
            </a:pPr>
            <a:r>
              <a:rPr sz="1350" b="1">
                <a:solidFill>
                  <a:srgbClr val="0E6B6F"/>
                </a:solidFill>
                <a:latin typeface="Helvetica Neue"/>
                <a:ea typeface="Helvetica Neue"/>
                <a:cs typeface="Helvetica Neue"/>
              </a:rPr>
              <a:t>16,786 sequences</a:t>
            </a:r>
          </a:p>
        </p:txBody>
      </p:sp>
      <p:sp>
        <p:nvSpPr>
          <p:cNvPr id="15" name="">
            <a:extLst xmlns:a="http://schemas.openxmlformats.org/drawingml/2006/main">
              <a:ext uri="{FF2B5EF4-FFF2-40B4-BE49-F238E27FC236}">
                <a16:creationId xmlns:a16="http://schemas.microsoft.com/office/drawing/2014/main" id="{3F6A15BD-699D-4D0C-81D3-4B866F2A1CAB}"/>
              </a:ext>
            </a:extLst>
          </p:cNvPr>
          <p:cNvSpPr>
            <a:spLocks xmlns:a="http://schemas.openxmlformats.org/drawingml/2006/main" noGrp="1"/>
          </p:cNvSpPr>
          <p:nvPr/>
        </p:nvSpPr>
        <p:spPr>
          <a:xfrm xmlns:a="http://schemas.openxmlformats.org/drawingml/2006/main">
            <a:off x="4819650" y="2476500"/>
            <a:ext cx="3524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CBD6D8"/>
                </a:solidFill>
                <a:latin typeface="Helvetica Neue"/>
                <a:ea typeface="Helvetica Neue"/>
                <a:cs typeface="Helvetica Neue"/>
              </a:defRPr>
            </a:pPr>
            <a:r>
              <a:rPr sz="2100" b="1">
                <a:solidFill>
                  <a:srgbClr val="CBD6D8"/>
                </a:solidFill>
                <a:latin typeface="Helvetica Neue"/>
                <a:ea typeface="Helvetica Neue"/>
                <a:cs typeface="Helvetica Neue"/>
              </a:rPr>
              <a:t>&gt;</a:t>
            </a:r>
          </a:p>
        </p:txBody>
      </p:sp>
      <p:sp>
        <p:nvSpPr>
          <p:cNvPr id="16" name="">
            <a:extLst xmlns:a="http://schemas.openxmlformats.org/drawingml/2006/main">
              <a:ext uri="{FF2B5EF4-FFF2-40B4-BE49-F238E27FC236}">
                <a16:creationId xmlns:a16="http://schemas.microsoft.com/office/drawing/2014/main" id="{020691A3-9948-41F2-99E8-789089E65430}"/>
              </a:ext>
            </a:extLst>
          </p:cNvPr>
          <p:cNvSpPr>
            <a:spLocks xmlns:a="http://schemas.openxmlformats.org/drawingml/2006/main" noGrp="1"/>
          </p:cNvSpPr>
          <p:nvPr/>
        </p:nvSpPr>
        <p:spPr>
          <a:xfrm xmlns:a="http://schemas.openxmlformats.org/drawingml/2006/main">
            <a:off x="5172075" y="1809750"/>
            <a:ext cx="1952625" cy="1809750"/>
          </a:xfrm>
          <a:prstGeom xmlns:a="http://schemas.openxmlformats.org/drawingml/2006/main" prst="roundRect">
            <a:avLst>
              <a:gd name="adj" fmla="val 2632"/>
            </a:avLst>
          </a:prstGeom>
          <a:solidFill xmlns:a="http://schemas.openxmlformats.org/drawingml/2006/main">
            <a:srgbClr val="FFFFFF"/>
          </a:solidFill>
          <a:ln xmlns:a="http://schemas.openxmlformats.org/drawingml/2006/main" w="9525">
            <a:solidFill>
              <a:srgbClr val="CBD6D8"/>
            </a:solidFill>
          </a:ln>
        </p:spPr>
      </p:sp>
      <p:sp>
        <p:nvSpPr>
          <p:cNvPr id="17" name="">
            <a:extLst xmlns:a="http://schemas.openxmlformats.org/drawingml/2006/main">
              <a:ext uri="{FF2B5EF4-FFF2-40B4-BE49-F238E27FC236}">
                <a16:creationId xmlns:a16="http://schemas.microsoft.com/office/drawing/2014/main" id="{0E98B874-304C-4E85-B48D-3E06B038283F}"/>
              </a:ext>
            </a:extLst>
          </p:cNvPr>
          <p:cNvSpPr>
            <a:spLocks xmlns:a="http://schemas.openxmlformats.org/drawingml/2006/main" noGrp="1"/>
          </p:cNvSpPr>
          <p:nvPr/>
        </p:nvSpPr>
        <p:spPr>
          <a:xfrm xmlns:a="http://schemas.openxmlformats.org/drawingml/2006/main">
            <a:off x="5172075" y="1809750"/>
            <a:ext cx="1952625" cy="95250"/>
          </a:xfrm>
          <a:prstGeom xmlns:a="http://schemas.openxmlformats.org/drawingml/2006/main" prst="rect">
            <a:avLst/>
          </a:prstGeom>
          <a:solidFill xmlns:a="http://schemas.openxmlformats.org/drawingml/2006/main">
            <a:srgbClr val="D5A129"/>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E1601B46-72E4-4318-B547-98C8C08CB126}"/>
              </a:ext>
            </a:extLst>
          </p:cNvPr>
          <p:cNvSpPr>
            <a:spLocks xmlns:a="http://schemas.openxmlformats.org/drawingml/2006/main" noGrp="1"/>
          </p:cNvSpPr>
          <p:nvPr/>
        </p:nvSpPr>
        <p:spPr>
          <a:xfrm xmlns:a="http://schemas.openxmlformats.org/drawingml/2006/main">
            <a:off x="5305425" y="2133600"/>
            <a:ext cx="16859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333"/>
          </a:bodyPr>
          <a:lstStyle xmlns:a="http://schemas.openxmlformats.org/drawingml/2006/main"/>
          <a:p xmlns:a="http://schemas.openxmlformats.org/drawingml/2006/main">
            <a:pPr algn="ctr">
              <a:defRPr sz="1500" b="1">
                <a:solidFill>
                  <a:srgbClr val="14262D"/>
                </a:solidFill>
                <a:latin typeface="Helvetica Neue"/>
                <a:ea typeface="Helvetica Neue"/>
                <a:cs typeface="Helvetica Neue"/>
              </a:defRPr>
            </a:pPr>
            <a:r>
              <a:rPr sz="1500" b="1">
                <a:solidFill>
                  <a:srgbClr val="14262D"/>
                </a:solidFill>
                <a:latin typeface="Helvetica Neue"/>
                <a:ea typeface="Helvetica Neue"/>
                <a:cs typeface="Helvetica Neue"/>
              </a:rPr>
              <a:t>J-domain hmmsearch</a:t>
            </a:r>
          </a:p>
        </p:txBody>
      </p:sp>
      <p:sp>
        <p:nvSpPr>
          <p:cNvPr id="19" name="">
            <a:extLst xmlns:a="http://schemas.openxmlformats.org/drawingml/2006/main">
              <a:ext uri="{FF2B5EF4-FFF2-40B4-BE49-F238E27FC236}">
                <a16:creationId xmlns:a16="http://schemas.microsoft.com/office/drawing/2014/main" id="{0EF86F0C-AAE1-4E2C-9F64-20552C39E2A0}"/>
              </a:ext>
            </a:extLst>
          </p:cNvPr>
          <p:cNvSpPr>
            <a:spLocks xmlns:a="http://schemas.openxmlformats.org/drawingml/2006/main" noGrp="1"/>
          </p:cNvSpPr>
          <p:nvPr/>
        </p:nvSpPr>
        <p:spPr>
          <a:xfrm xmlns:a="http://schemas.openxmlformats.org/drawingml/2006/main">
            <a:off x="5305425" y="2819400"/>
            <a:ext cx="16859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897"/>
          </a:bodyPr>
          <a:lstStyle xmlns:a="http://schemas.openxmlformats.org/drawingml/2006/main"/>
          <a:p xmlns:a="http://schemas.openxmlformats.org/drawingml/2006/main">
            <a:pPr algn="ctr">
              <a:defRPr sz="1350" b="1">
                <a:solidFill>
                  <a:srgbClr val="D5A129"/>
                </a:solidFill>
                <a:latin typeface="Helvetica Neue"/>
                <a:ea typeface="Helvetica Neue"/>
                <a:cs typeface="Helvetica Neue"/>
              </a:defRPr>
            </a:pPr>
            <a:r>
              <a:rPr sz="1350" b="1">
                <a:solidFill>
                  <a:srgbClr val="D5A129"/>
                </a:solidFill>
                <a:latin typeface="Helvetica Neue"/>
                <a:ea typeface="Helvetica Neue"/>
                <a:cs typeface="Helvetica Neue"/>
              </a:rPr>
              <a:t>14,954 significant hits</a:t>
            </a:r>
          </a:p>
        </p:txBody>
      </p:sp>
      <p:sp>
        <p:nvSpPr>
          <p:cNvPr id="20" name="">
            <a:extLst xmlns:a="http://schemas.openxmlformats.org/drawingml/2006/main">
              <a:ext uri="{FF2B5EF4-FFF2-40B4-BE49-F238E27FC236}">
                <a16:creationId xmlns:a16="http://schemas.microsoft.com/office/drawing/2014/main" id="{0BBF6284-DF07-4A40-B6A2-056076C35A8C}"/>
              </a:ext>
            </a:extLst>
          </p:cNvPr>
          <p:cNvSpPr>
            <a:spLocks xmlns:a="http://schemas.openxmlformats.org/drawingml/2006/main" noGrp="1"/>
          </p:cNvSpPr>
          <p:nvPr/>
        </p:nvSpPr>
        <p:spPr>
          <a:xfrm xmlns:a="http://schemas.openxmlformats.org/drawingml/2006/main">
            <a:off x="7143750" y="2476500"/>
            <a:ext cx="3524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CBD6D8"/>
                </a:solidFill>
                <a:latin typeface="Helvetica Neue"/>
                <a:ea typeface="Helvetica Neue"/>
                <a:cs typeface="Helvetica Neue"/>
              </a:defRPr>
            </a:pPr>
            <a:r>
              <a:rPr sz="2100" b="1">
                <a:solidFill>
                  <a:srgbClr val="CBD6D8"/>
                </a:solidFill>
                <a:latin typeface="Helvetica Neue"/>
                <a:ea typeface="Helvetica Neue"/>
                <a:cs typeface="Helvetica Neue"/>
              </a:rPr>
              <a:t>&gt;</a:t>
            </a:r>
          </a:p>
        </p:txBody>
      </p:sp>
      <p:sp>
        <p:nvSpPr>
          <p:cNvPr id="21" name="">
            <a:extLst xmlns:a="http://schemas.openxmlformats.org/drawingml/2006/main">
              <a:ext uri="{FF2B5EF4-FFF2-40B4-BE49-F238E27FC236}">
                <a16:creationId xmlns:a16="http://schemas.microsoft.com/office/drawing/2014/main" id="{D40D0423-1933-4F1C-AF39-31416307D7D0}"/>
              </a:ext>
            </a:extLst>
          </p:cNvPr>
          <p:cNvSpPr>
            <a:spLocks xmlns:a="http://schemas.openxmlformats.org/drawingml/2006/main" noGrp="1"/>
          </p:cNvSpPr>
          <p:nvPr/>
        </p:nvSpPr>
        <p:spPr>
          <a:xfrm xmlns:a="http://schemas.openxmlformats.org/drawingml/2006/main">
            <a:off x="7496175" y="1809750"/>
            <a:ext cx="1952625" cy="1809750"/>
          </a:xfrm>
          <a:prstGeom xmlns:a="http://schemas.openxmlformats.org/drawingml/2006/main" prst="roundRect">
            <a:avLst>
              <a:gd name="adj" fmla="val 2632"/>
            </a:avLst>
          </a:prstGeom>
          <a:solidFill xmlns:a="http://schemas.openxmlformats.org/drawingml/2006/main">
            <a:srgbClr val="FFFFFF"/>
          </a:solidFill>
          <a:ln xmlns:a="http://schemas.openxmlformats.org/drawingml/2006/main" w="9525">
            <a:solidFill>
              <a:srgbClr val="CBD6D8"/>
            </a:solidFill>
          </a:ln>
        </p:spPr>
      </p:sp>
      <p:sp>
        <p:nvSpPr>
          <p:cNvPr id="22" name="">
            <a:extLst xmlns:a="http://schemas.openxmlformats.org/drawingml/2006/main">
              <a:ext uri="{FF2B5EF4-FFF2-40B4-BE49-F238E27FC236}">
                <a16:creationId xmlns:a16="http://schemas.microsoft.com/office/drawing/2014/main" id="{257232C1-B9FD-4CDB-AEBF-744B16B55618}"/>
              </a:ext>
            </a:extLst>
          </p:cNvPr>
          <p:cNvSpPr>
            <a:spLocks xmlns:a="http://schemas.openxmlformats.org/drawingml/2006/main" noGrp="1"/>
          </p:cNvSpPr>
          <p:nvPr/>
        </p:nvSpPr>
        <p:spPr>
          <a:xfrm xmlns:a="http://schemas.openxmlformats.org/drawingml/2006/main">
            <a:off x="7496175" y="1809750"/>
            <a:ext cx="1952625" cy="95250"/>
          </a:xfrm>
          <a:prstGeom xmlns:a="http://schemas.openxmlformats.org/drawingml/2006/main" prst="rect">
            <a:avLst/>
          </a:prstGeom>
          <a:solidFill xmlns:a="http://schemas.openxmlformats.org/drawingml/2006/main">
            <a:srgbClr val="D7634C"/>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FF0C26D8-1E16-4E21-87CE-8F77143C3CB2}"/>
              </a:ext>
            </a:extLst>
          </p:cNvPr>
          <p:cNvSpPr>
            <a:spLocks xmlns:a="http://schemas.openxmlformats.org/drawingml/2006/main" noGrp="1"/>
          </p:cNvSpPr>
          <p:nvPr/>
        </p:nvSpPr>
        <p:spPr>
          <a:xfrm xmlns:a="http://schemas.openxmlformats.org/drawingml/2006/main">
            <a:off x="7629525" y="2133600"/>
            <a:ext cx="16859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14262D"/>
                </a:solidFill>
                <a:latin typeface="Helvetica Neue"/>
                <a:ea typeface="Helvetica Neue"/>
                <a:cs typeface="Helvetica Neue"/>
              </a:defRPr>
            </a:pPr>
            <a:r>
              <a:rPr sz="1500" b="1">
                <a:solidFill>
                  <a:srgbClr val="14262D"/>
                </a:solidFill>
                <a:latin typeface="Helvetica Neue"/>
                <a:ea typeface="Helvetica Neue"/>
                <a:cs typeface="Helvetica Neue"/>
              </a:rPr>
              <a:t>hmmalign --trim</a:t>
            </a:r>
          </a:p>
        </p:txBody>
      </p:sp>
      <p:sp>
        <p:nvSpPr>
          <p:cNvPr id="24" name="">
            <a:extLst xmlns:a="http://schemas.openxmlformats.org/drawingml/2006/main">
              <a:ext uri="{FF2B5EF4-FFF2-40B4-BE49-F238E27FC236}">
                <a16:creationId xmlns:a16="http://schemas.microsoft.com/office/drawing/2014/main" id="{BD4CBA5C-9085-45C2-BAB0-08E4DF930C23}"/>
              </a:ext>
            </a:extLst>
          </p:cNvPr>
          <p:cNvSpPr>
            <a:spLocks xmlns:a="http://schemas.openxmlformats.org/drawingml/2006/main" noGrp="1"/>
          </p:cNvSpPr>
          <p:nvPr/>
        </p:nvSpPr>
        <p:spPr>
          <a:xfrm xmlns:a="http://schemas.openxmlformats.org/drawingml/2006/main">
            <a:off x="7629525" y="2819400"/>
            <a:ext cx="16859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581"/>
          </a:bodyPr>
          <a:lstStyle xmlns:a="http://schemas.openxmlformats.org/drawingml/2006/main"/>
          <a:p xmlns:a="http://schemas.openxmlformats.org/drawingml/2006/main">
            <a:pPr algn="ctr">
              <a:defRPr sz="1350" b="1">
                <a:solidFill>
                  <a:srgbClr val="D7634C"/>
                </a:solidFill>
                <a:latin typeface="Helvetica Neue"/>
                <a:ea typeface="Helvetica Neue"/>
                <a:cs typeface="Helvetica Neue"/>
              </a:defRPr>
            </a:pPr>
            <a:r>
              <a:rPr sz="1350" b="1">
                <a:solidFill>
                  <a:srgbClr val="D7634C"/>
                </a:solidFill>
                <a:latin typeface="Helvetica Neue"/>
                <a:ea typeface="Helvetica Neue"/>
                <a:cs typeface="Helvetica Neue"/>
              </a:rPr>
              <a:t>62 model positions</a:t>
            </a:r>
          </a:p>
        </p:txBody>
      </p:sp>
      <p:sp>
        <p:nvSpPr>
          <p:cNvPr id="25" name="">
            <a:extLst xmlns:a="http://schemas.openxmlformats.org/drawingml/2006/main">
              <a:ext uri="{FF2B5EF4-FFF2-40B4-BE49-F238E27FC236}">
                <a16:creationId xmlns:a16="http://schemas.microsoft.com/office/drawing/2014/main" id="{115A518C-664D-4EB4-AB7D-3C5D1A7703FA}"/>
              </a:ext>
            </a:extLst>
          </p:cNvPr>
          <p:cNvSpPr>
            <a:spLocks xmlns:a="http://schemas.openxmlformats.org/drawingml/2006/main" noGrp="1"/>
          </p:cNvSpPr>
          <p:nvPr/>
        </p:nvSpPr>
        <p:spPr>
          <a:xfrm xmlns:a="http://schemas.openxmlformats.org/drawingml/2006/main">
            <a:off x="9467850" y="2476500"/>
            <a:ext cx="3524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CBD6D8"/>
                </a:solidFill>
                <a:latin typeface="Helvetica Neue"/>
                <a:ea typeface="Helvetica Neue"/>
                <a:cs typeface="Helvetica Neue"/>
              </a:defRPr>
            </a:pPr>
            <a:r>
              <a:rPr sz="2100" b="1">
                <a:solidFill>
                  <a:srgbClr val="CBD6D8"/>
                </a:solidFill>
                <a:latin typeface="Helvetica Neue"/>
                <a:ea typeface="Helvetica Neue"/>
                <a:cs typeface="Helvetica Neue"/>
              </a:rPr>
              <a:t>&gt;</a:t>
            </a:r>
          </a:p>
        </p:txBody>
      </p:sp>
      <p:sp>
        <p:nvSpPr>
          <p:cNvPr id="26" name="">
            <a:extLst xmlns:a="http://schemas.openxmlformats.org/drawingml/2006/main">
              <a:ext uri="{FF2B5EF4-FFF2-40B4-BE49-F238E27FC236}">
                <a16:creationId xmlns:a16="http://schemas.microsoft.com/office/drawing/2014/main" id="{2AC4DCCE-07BB-4E93-861C-5559F14B0B2B}"/>
              </a:ext>
            </a:extLst>
          </p:cNvPr>
          <p:cNvSpPr>
            <a:spLocks xmlns:a="http://schemas.openxmlformats.org/drawingml/2006/main" noGrp="1"/>
          </p:cNvSpPr>
          <p:nvPr/>
        </p:nvSpPr>
        <p:spPr>
          <a:xfrm xmlns:a="http://schemas.openxmlformats.org/drawingml/2006/main">
            <a:off x="9820275" y="1809750"/>
            <a:ext cx="1952625" cy="1809750"/>
          </a:xfrm>
          <a:prstGeom xmlns:a="http://schemas.openxmlformats.org/drawingml/2006/main" prst="roundRect">
            <a:avLst>
              <a:gd name="adj" fmla="val 2632"/>
            </a:avLst>
          </a:prstGeom>
          <a:solidFill xmlns:a="http://schemas.openxmlformats.org/drawingml/2006/main">
            <a:srgbClr val="FFFFFF"/>
          </a:solidFill>
          <a:ln xmlns:a="http://schemas.openxmlformats.org/drawingml/2006/main" w="9525">
            <a:solidFill>
              <a:srgbClr val="CBD6D8"/>
            </a:solidFill>
          </a:ln>
        </p:spPr>
      </p:sp>
      <p:sp>
        <p:nvSpPr>
          <p:cNvPr id="27" name="">
            <a:extLst xmlns:a="http://schemas.openxmlformats.org/drawingml/2006/main">
              <a:ext uri="{FF2B5EF4-FFF2-40B4-BE49-F238E27FC236}">
                <a16:creationId xmlns:a16="http://schemas.microsoft.com/office/drawing/2014/main" id="{DB9B2056-957F-4948-8D72-6B9B66F84BF8}"/>
              </a:ext>
            </a:extLst>
          </p:cNvPr>
          <p:cNvSpPr>
            <a:spLocks xmlns:a="http://schemas.openxmlformats.org/drawingml/2006/main" noGrp="1"/>
          </p:cNvSpPr>
          <p:nvPr/>
        </p:nvSpPr>
        <p:spPr>
          <a:xfrm xmlns:a="http://schemas.openxmlformats.org/drawingml/2006/main">
            <a:off x="9820275" y="1809750"/>
            <a:ext cx="1952625" cy="95250"/>
          </a:xfrm>
          <a:prstGeom xmlns:a="http://schemas.openxmlformats.org/drawingml/2006/main" prst="rect">
            <a:avLst/>
          </a:prstGeom>
          <a:solidFill xmlns:a="http://schemas.openxmlformats.org/drawingml/2006/main">
            <a:srgbClr val="5B8F57"/>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6A92ECF7-4918-4F1B-9C2D-9F278B9379CD}"/>
              </a:ext>
            </a:extLst>
          </p:cNvPr>
          <p:cNvSpPr>
            <a:spLocks xmlns:a="http://schemas.openxmlformats.org/drawingml/2006/main" noGrp="1"/>
          </p:cNvSpPr>
          <p:nvPr/>
        </p:nvSpPr>
        <p:spPr>
          <a:xfrm xmlns:a="http://schemas.openxmlformats.org/drawingml/2006/main">
            <a:off x="9953625" y="2133600"/>
            <a:ext cx="16859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333"/>
          </a:bodyPr>
          <a:lstStyle xmlns:a="http://schemas.openxmlformats.org/drawingml/2006/main"/>
          <a:p xmlns:a="http://schemas.openxmlformats.org/drawingml/2006/main">
            <a:pPr algn="ctr">
              <a:defRPr sz="1500" b="1">
                <a:solidFill>
                  <a:srgbClr val="14262D"/>
                </a:solidFill>
                <a:latin typeface="Helvetica Neue"/>
                <a:ea typeface="Helvetica Neue"/>
                <a:cs typeface="Helvetica Neue"/>
              </a:defRPr>
            </a:pPr>
            <a:r>
              <a:rPr sz="1500" b="1">
                <a:solidFill>
                  <a:srgbClr val="14262D"/>
                </a:solidFill>
                <a:latin typeface="Helvetica Neue"/>
                <a:ea typeface="Helvetica Neue"/>
                <a:cs typeface="Helvetica Neue"/>
              </a:rPr>
              <a:t>Maximum 50% gaps</a:t>
            </a:r>
          </a:p>
        </p:txBody>
      </p:sp>
      <p:sp>
        <p:nvSpPr>
          <p:cNvPr id="29" name="">
            <a:extLst xmlns:a="http://schemas.openxmlformats.org/drawingml/2006/main">
              <a:ext uri="{FF2B5EF4-FFF2-40B4-BE49-F238E27FC236}">
                <a16:creationId xmlns:a16="http://schemas.microsoft.com/office/drawing/2014/main" id="{C12EA1FE-C258-4774-9C98-D7DC9FB7B67F}"/>
              </a:ext>
            </a:extLst>
          </p:cNvPr>
          <p:cNvSpPr>
            <a:spLocks xmlns:a="http://schemas.openxmlformats.org/drawingml/2006/main" noGrp="1"/>
          </p:cNvSpPr>
          <p:nvPr/>
        </p:nvSpPr>
        <p:spPr>
          <a:xfrm xmlns:a="http://schemas.openxmlformats.org/drawingml/2006/main">
            <a:off x="9953625" y="2819400"/>
            <a:ext cx="16859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944"/>
          </a:bodyPr>
          <a:lstStyle xmlns:a="http://schemas.openxmlformats.org/drawingml/2006/main"/>
          <a:p xmlns:a="http://schemas.openxmlformats.org/drawingml/2006/main">
            <a:pPr algn="ctr">
              <a:defRPr sz="1350" b="1">
                <a:solidFill>
                  <a:srgbClr val="5B8F57"/>
                </a:solidFill>
                <a:latin typeface="Helvetica Neue"/>
                <a:ea typeface="Helvetica Neue"/>
                <a:cs typeface="Helvetica Neue"/>
              </a:defRPr>
            </a:pPr>
            <a:r>
              <a:rPr sz="1350" b="1">
                <a:solidFill>
                  <a:srgbClr val="5B8F57"/>
                </a:solidFill>
                <a:latin typeface="Helvetica Neue"/>
                <a:ea typeface="Helvetica Neue"/>
                <a:cs typeface="Helvetica Neue"/>
              </a:rPr>
              <a:t>14,944 final sequences</a:t>
            </a:r>
          </a:p>
        </p:txBody>
      </p:sp>
      <p:sp>
        <p:nvSpPr>
          <p:cNvPr id="30" name="">
            <a:extLst xmlns:a="http://schemas.openxmlformats.org/drawingml/2006/main">
              <a:ext uri="{FF2B5EF4-FFF2-40B4-BE49-F238E27FC236}">
                <a16:creationId xmlns:a16="http://schemas.microsoft.com/office/drawing/2014/main" id="{2217A46B-BD38-4E39-B4A0-AE2D735DD987}"/>
              </a:ext>
            </a:extLst>
          </p:cNvPr>
          <p:cNvSpPr>
            <a:spLocks xmlns:a="http://schemas.openxmlformats.org/drawingml/2006/main" noGrp="1"/>
          </p:cNvSpPr>
          <p:nvPr/>
        </p:nvSpPr>
        <p:spPr>
          <a:xfrm xmlns:a="http://schemas.openxmlformats.org/drawingml/2006/main">
            <a:off x="904875" y="4191000"/>
            <a:ext cx="10382250" cy="1219200"/>
          </a:xfrm>
          <a:prstGeom xmlns:a="http://schemas.openxmlformats.org/drawingml/2006/main" prst="roundRect">
            <a:avLst>
              <a:gd name="adj" fmla="val 3906"/>
            </a:avLst>
          </a:prstGeom>
          <a:solidFill xmlns:a="http://schemas.openxmlformats.org/drawingml/2006/main">
            <a:srgbClr val="EEF5F3"/>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60E7C598-6AC2-42E8-A1EE-8D8E977810C7}"/>
              </a:ext>
            </a:extLst>
          </p:cNvPr>
          <p:cNvSpPr>
            <a:spLocks xmlns:a="http://schemas.openxmlformats.org/drawingml/2006/main" noGrp="1"/>
          </p:cNvSpPr>
          <p:nvPr/>
        </p:nvSpPr>
        <p:spPr>
          <a:xfrm xmlns:a="http://schemas.openxmlformats.org/drawingml/2006/main">
            <a:off x="1190625" y="4400550"/>
            <a:ext cx="1762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14262D"/>
                </a:solidFill>
                <a:latin typeface="Helvetica Neue"/>
                <a:ea typeface="Helvetica Neue"/>
                <a:cs typeface="Helvetica Neue"/>
              </a:defRPr>
            </a:pPr>
            <a:r>
              <a:rPr sz="1350" b="1">
                <a:solidFill>
                  <a:srgbClr val="14262D"/>
                </a:solidFill>
                <a:latin typeface="Helvetica Neue"/>
                <a:ea typeface="Helvetica Neue"/>
                <a:cs typeface="Helvetica Neue"/>
              </a:rPr>
              <a:t>HMM threshold</a:t>
            </a:r>
          </a:p>
        </p:txBody>
      </p:sp>
      <p:sp>
        <p:nvSpPr>
          <p:cNvPr id="32" name="">
            <a:extLst xmlns:a="http://schemas.openxmlformats.org/drawingml/2006/main">
              <a:ext uri="{FF2B5EF4-FFF2-40B4-BE49-F238E27FC236}">
                <a16:creationId xmlns:a16="http://schemas.microsoft.com/office/drawing/2014/main" id="{52A0A445-F330-4FD0-BB9A-2A06CD0A1664}"/>
              </a:ext>
            </a:extLst>
          </p:cNvPr>
          <p:cNvSpPr>
            <a:spLocks xmlns:a="http://schemas.openxmlformats.org/drawingml/2006/main" noGrp="1"/>
          </p:cNvSpPr>
          <p:nvPr/>
        </p:nvSpPr>
        <p:spPr>
          <a:xfrm xmlns:a="http://schemas.openxmlformats.org/drawingml/2006/main">
            <a:off x="2952750" y="440055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519"/>
          </a:bodyPr>
          <a:lstStyle xmlns:a="http://schemas.openxmlformats.org/drawingml/2006/main"/>
          <a:p xmlns:a="http://schemas.openxmlformats.org/drawingml/2006/main">
            <a:pPr algn="l">
              <a:defRPr sz="1350" b="1">
                <a:solidFill>
                  <a:srgbClr val="0E6B6F"/>
                </a:solidFill>
                <a:latin typeface="Helvetica Neue"/>
                <a:ea typeface="Helvetica Neue"/>
                <a:cs typeface="Helvetica Neue"/>
              </a:defRPr>
            </a:pPr>
            <a:r>
              <a:rPr sz="1350" b="1">
                <a:solidFill>
                  <a:srgbClr val="0E6B6F"/>
                </a:solidFill>
                <a:latin typeface="Helvetica Neue"/>
                <a:ea typeface="Helvetica Neue"/>
                <a:cs typeface="Helvetica Neue"/>
              </a:rPr>
              <a:t>Sequence and domain E-value ≤ 10⁻⁵</a:t>
            </a:r>
          </a:p>
        </p:txBody>
      </p:sp>
      <p:sp>
        <p:nvSpPr>
          <p:cNvPr id="33" name="">
            <a:extLst xmlns:a="http://schemas.openxmlformats.org/drawingml/2006/main">
              <a:ext uri="{FF2B5EF4-FFF2-40B4-BE49-F238E27FC236}">
                <a16:creationId xmlns:a16="http://schemas.microsoft.com/office/drawing/2014/main" id="{D72BBB81-2558-4B85-A9B9-34DBCE3B6409}"/>
              </a:ext>
            </a:extLst>
          </p:cNvPr>
          <p:cNvSpPr>
            <a:spLocks xmlns:a="http://schemas.openxmlformats.org/drawingml/2006/main" noGrp="1"/>
          </p:cNvSpPr>
          <p:nvPr/>
        </p:nvSpPr>
        <p:spPr>
          <a:xfrm xmlns:a="http://schemas.openxmlformats.org/drawingml/2006/main">
            <a:off x="6191250" y="440055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14262D"/>
                </a:solidFill>
                <a:latin typeface="Helvetica Neue"/>
                <a:ea typeface="Helvetica Neue"/>
                <a:cs typeface="Helvetica Neue"/>
              </a:defRPr>
            </a:pPr>
            <a:r>
              <a:rPr sz="1350" b="1">
                <a:solidFill>
                  <a:srgbClr val="14262D"/>
                </a:solidFill>
                <a:latin typeface="Helvetica Neue"/>
                <a:ea typeface="Helvetica Neue"/>
                <a:cs typeface="Helvetica Neue"/>
              </a:rPr>
              <a:t>Alignment cleanup</a:t>
            </a:r>
          </a:p>
        </p:txBody>
      </p:sp>
      <p:sp>
        <p:nvSpPr>
          <p:cNvPr id="34" name="">
            <a:extLst xmlns:a="http://schemas.openxmlformats.org/drawingml/2006/main">
              <a:ext uri="{FF2B5EF4-FFF2-40B4-BE49-F238E27FC236}">
                <a16:creationId xmlns:a16="http://schemas.microsoft.com/office/drawing/2014/main" id="{629F87DB-2536-45B5-B0F3-765A2B5E9DC4}"/>
              </a:ext>
            </a:extLst>
          </p:cNvPr>
          <p:cNvSpPr>
            <a:spLocks xmlns:a="http://schemas.openxmlformats.org/drawingml/2006/main" noGrp="1"/>
          </p:cNvSpPr>
          <p:nvPr/>
        </p:nvSpPr>
        <p:spPr>
          <a:xfrm xmlns:a="http://schemas.openxmlformats.org/drawingml/2006/main">
            <a:off x="8001000" y="4400550"/>
            <a:ext cx="2905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9431"/>
          </a:bodyPr>
          <a:lstStyle xmlns:a="http://schemas.openxmlformats.org/drawingml/2006/main"/>
          <a:p xmlns:a="http://schemas.openxmlformats.org/drawingml/2006/main">
            <a:pPr algn="l">
              <a:defRPr sz="1350" b="1">
                <a:solidFill>
                  <a:srgbClr val="0E6B6F"/>
                </a:solidFill>
                <a:latin typeface="Helvetica Neue"/>
                <a:ea typeface="Helvetica Neue"/>
                <a:cs typeface="Helvetica Neue"/>
              </a:defRPr>
            </a:pPr>
            <a:r>
              <a:rPr sz="1350" b="1">
                <a:solidFill>
                  <a:srgbClr val="0E6B6F"/>
                </a:solidFill>
                <a:latin typeface="Helvetica Neue"/>
                <a:ea typeface="Helvetica Neue"/>
                <a:cs typeface="Helvetica Neue"/>
              </a:rPr>
              <a:t>Lowercase insertions and dot columns removed</a:t>
            </a:r>
          </a:p>
        </p:txBody>
      </p:sp>
      <p:sp>
        <p:nvSpPr>
          <p:cNvPr id="35" name="">
            <a:extLst xmlns:a="http://schemas.openxmlformats.org/drawingml/2006/main">
              <a:ext uri="{FF2B5EF4-FFF2-40B4-BE49-F238E27FC236}">
                <a16:creationId xmlns:a16="http://schemas.microsoft.com/office/drawing/2014/main" id="{14DF4DE8-8644-4C7F-B8DB-5F13D0F2B82F}"/>
              </a:ext>
            </a:extLst>
          </p:cNvPr>
          <p:cNvSpPr>
            <a:spLocks xmlns:a="http://schemas.openxmlformats.org/drawingml/2006/main" noGrp="1"/>
          </p:cNvSpPr>
          <p:nvPr/>
        </p:nvSpPr>
        <p:spPr>
          <a:xfrm xmlns:a="http://schemas.openxmlformats.org/drawingml/2006/main">
            <a:off x="1190625" y="4905375"/>
            <a:ext cx="971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51636B"/>
                </a:solidFill>
                <a:latin typeface="Helvetica Neue"/>
                <a:ea typeface="Helvetica Neue"/>
                <a:cs typeface="Helvetica Neue"/>
              </a:defRPr>
            </a:pPr>
            <a:r>
              <a:rPr sz="1275" b="0">
                <a:solidFill>
                  <a:srgbClr val="51636B"/>
                </a:solidFill>
                <a:latin typeface="Helvetica Neue"/>
                <a:ea typeface="Helvetica Neue"/>
                <a:cs typeface="Helvetica Neue"/>
              </a:rPr>
              <a:t>maxgap50 removes sequences with &gt;50% alignment gaps, not sequences with more than 50 individual gaps.</a:t>
            </a:r>
          </a:p>
        </p:txBody>
      </p:sp>
      <p:sp>
        <p:nvSpPr>
          <p:cNvPr id="36" name="">
            <a:extLst xmlns:a="http://schemas.openxmlformats.org/drawingml/2006/main">
              <a:ext uri="{FF2B5EF4-FFF2-40B4-BE49-F238E27FC236}">
                <a16:creationId xmlns:a16="http://schemas.microsoft.com/office/drawing/2014/main" id="{A32CA1FD-7AD1-4608-9A65-6A68B5E4CC40}"/>
              </a:ext>
            </a:extLst>
          </p:cNvPr>
          <p:cNvSpPr>
            <a:spLocks xmlns:a="http://schemas.openxmlformats.org/drawingml/2006/main" noGrp="1"/>
          </p:cNvSpPr>
          <p:nvPr/>
        </p:nvSpPr>
        <p:spPr>
          <a:xfrm xmlns:a="http://schemas.openxmlformats.org/drawingml/2006/main">
            <a:off x="2667000" y="5810250"/>
            <a:ext cx="685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406"/>
          </a:bodyPr>
          <a:lstStyle xmlns:a="http://schemas.openxmlformats.org/drawingml/2006/main"/>
          <a:p xmlns:a="http://schemas.openxmlformats.org/drawingml/2006/main">
            <a:pPr algn="ctr">
              <a:defRPr sz="1725" b="1">
                <a:solidFill>
                  <a:srgbClr val="14262D"/>
                </a:solidFill>
                <a:latin typeface="Helvetica Neue"/>
                <a:ea typeface="Helvetica Neue"/>
                <a:cs typeface="Helvetica Neue"/>
              </a:defRPr>
            </a:pPr>
            <a:r>
              <a:rPr sz="1725" b="1">
                <a:solidFill>
                  <a:srgbClr val="14262D"/>
                </a:solidFill>
                <a:latin typeface="Helvetica Neue"/>
                <a:ea typeface="Helvetica Neue"/>
                <a:cs typeface="Helvetica Neue"/>
              </a:rPr>
              <a:t>Final coverage: 14,944 sequences from 4,855 organisms</a:t>
            </a:r>
          </a:p>
        </p:txBody>
      </p:sp>
    </p:spTree>
    <p:extLst>
      <p:ext uri="{BB962C8B-B14F-4D97-AF65-F5344CB8AC3E}">
        <p14:creationId xmlns:p14="http://schemas.microsoft.com/office/powerpoint/2010/main" val="715995790"/>
      </p:ext>
    </p:extLst>
  </p:cSld>
</p:sld>
</file>

<file path=ppt/slides/slide7.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7B8A830C-6C04-4C2A-A4DE-29A419AD075E}"/>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0E6B6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6453038-5E8E-4AC1-9AEA-18BB6B4BF8C2}"/>
              </a:ext>
            </a:extLst>
          </p:cNvPr>
          <p:cNvSpPr>
            <a:spLocks xmlns:a="http://schemas.openxmlformats.org/drawingml/2006/main" noGrp="1"/>
          </p:cNvSpPr>
          <p:nvPr/>
        </p:nvSpPr>
        <p:spPr>
          <a:xfrm xmlns:a="http://schemas.openxmlformats.org/drawingml/2006/main">
            <a:off x="552450" y="28575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a:solidFill>
                  <a:srgbClr val="0E6B6F"/>
                </a:solidFill>
                <a:latin typeface="Helvetica Neue"/>
                <a:ea typeface="Helvetica Neue"/>
                <a:cs typeface="Helvetica Neue"/>
              </a:defRPr>
            </a:pPr>
            <a:r>
              <a:rPr sz="900" b="1">
                <a:solidFill>
                  <a:srgbClr val="0E6B6F"/>
                </a:solidFill>
                <a:latin typeface="Helvetica Neue"/>
                <a:ea typeface="Helvetica Neue"/>
                <a:cs typeface="Helvetica Neue"/>
              </a:rPr>
              <a:t>MODEL</a:t>
            </a:r>
          </a:p>
        </p:txBody>
      </p:sp>
      <p:sp>
        <p:nvSpPr>
          <p:cNvPr id="3" name="">
            <a:extLst xmlns:a="http://schemas.openxmlformats.org/drawingml/2006/main">
              <a:ext uri="{FF2B5EF4-FFF2-40B4-BE49-F238E27FC236}">
                <a16:creationId xmlns:a16="http://schemas.microsoft.com/office/drawing/2014/main" id="{8B0CD34B-8725-4718-A169-75C400D2D9F0}"/>
              </a:ext>
            </a:extLst>
          </p:cNvPr>
          <p:cNvSpPr>
            <a:spLocks xmlns:a="http://schemas.openxmlformats.org/drawingml/2006/main" noGrp="1"/>
          </p:cNvSpPr>
          <p:nvPr/>
        </p:nvSpPr>
        <p:spPr>
          <a:xfrm xmlns:a="http://schemas.openxmlformats.org/drawingml/2006/main">
            <a:off x="552450" y="495300"/>
            <a:ext cx="1081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14262D"/>
                </a:solidFill>
                <a:latin typeface="Helvetica Neue"/>
                <a:ea typeface="Helvetica Neue"/>
                <a:cs typeface="Helvetica Neue"/>
              </a:defRPr>
            </a:pPr>
            <a:r>
              <a:rPr sz="2400" b="1">
                <a:solidFill>
                  <a:srgbClr val="14262D"/>
                </a:solidFill>
                <a:latin typeface="Helvetica Neue"/>
                <a:ea typeface="Helvetica Neue"/>
                <a:cs typeface="Helvetica Neue"/>
              </a:rPr>
              <a:t>Temperature-conditioned FeatureDCA model</a:t>
            </a:r>
          </a:p>
        </p:txBody>
      </p:sp>
      <p:sp>
        <p:nvSpPr>
          <p:cNvPr id="4" name="">
            <a:extLst xmlns:a="http://schemas.openxmlformats.org/drawingml/2006/main">
              <a:ext uri="{FF2B5EF4-FFF2-40B4-BE49-F238E27FC236}">
                <a16:creationId xmlns:a16="http://schemas.microsoft.com/office/drawing/2014/main" id="{BD34728D-FF20-419E-A678-B9B73029BDEE}"/>
              </a:ext>
            </a:extLst>
          </p:cNvPr>
          <p:cNvSpPr>
            <a:spLocks xmlns:a="http://schemas.openxmlformats.org/drawingml/2006/main" noGrp="1"/>
          </p:cNvSpPr>
          <p:nvPr/>
        </p:nvSpPr>
        <p:spPr>
          <a:xfrm xmlns:a="http://schemas.openxmlformats.org/drawingml/2006/main">
            <a:off x="552450" y="1066800"/>
            <a:ext cx="11049000" cy="19050"/>
          </a:xfrm>
          <a:prstGeom xmlns:a="http://schemas.openxmlformats.org/drawingml/2006/main" prst="rect">
            <a:avLst/>
          </a:prstGeom>
          <a:solidFill xmlns:a="http://schemas.openxmlformats.org/drawingml/2006/main">
            <a:srgbClr val="CBD6D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3F1EAA1-4D85-4907-878A-AF1AFD01D052}"/>
              </a:ext>
            </a:extLst>
          </p:cNvPr>
          <p:cNvSpPr>
            <a:spLocks xmlns:a="http://schemas.openxmlformats.org/drawingml/2006/main" noGrp="1"/>
          </p:cNvSpPr>
          <p:nvPr/>
        </p:nvSpPr>
        <p:spPr>
          <a:xfrm xmlns:a="http://schemas.openxmlformats.org/drawingml/2006/main">
            <a:off x="11144250" y="6477000"/>
            <a:ext cx="47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r">
              <a:defRPr sz="825" b="0">
                <a:solidFill>
                  <a:srgbClr val="51636B"/>
                </a:solidFill>
                <a:latin typeface="Helvetica Neue"/>
                <a:ea typeface="Helvetica Neue"/>
                <a:cs typeface="Helvetica Neue"/>
              </a:defRPr>
            </a:pPr>
            <a:r>
              <a:rPr sz="825" b="0">
                <a:solidFill>
                  <a:srgbClr val="51636B"/>
                </a:solidFill>
                <a:latin typeface="Helvetica Neue"/>
                <a:ea typeface="Helvetica Neue"/>
                <a:cs typeface="Helvetica Neue"/>
              </a:rPr>
              <a:t>07</a:t>
            </a:r>
          </a:p>
        </p:txBody>
      </p:sp>
      <p:sp>
        <p:nvSpPr>
          <p:cNvPr id="6" name="">
            <a:extLst xmlns:a="http://schemas.openxmlformats.org/drawingml/2006/main">
              <a:ext uri="{FF2B5EF4-FFF2-40B4-BE49-F238E27FC236}">
                <a16:creationId xmlns:a16="http://schemas.microsoft.com/office/drawing/2014/main" id="{09537349-613B-492A-8B6C-F9B9CFA5D0A4}"/>
              </a:ext>
            </a:extLst>
          </p:cNvPr>
          <p:cNvSpPr>
            <a:spLocks xmlns:a="http://schemas.openxmlformats.org/drawingml/2006/main" noGrp="1"/>
          </p:cNvSpPr>
          <p:nvPr/>
        </p:nvSpPr>
        <p:spPr>
          <a:xfrm xmlns:a="http://schemas.openxmlformats.org/drawingml/2006/main">
            <a:off x="762000" y="1428750"/>
            <a:ext cx="10668000" cy="1190625"/>
          </a:xfrm>
          <a:prstGeom xmlns:a="http://schemas.openxmlformats.org/drawingml/2006/main" prst="roundRect">
            <a:avLst>
              <a:gd name="adj" fmla="val 4800"/>
            </a:avLst>
          </a:prstGeom>
          <a:solidFill xmlns:a="http://schemas.openxmlformats.org/drawingml/2006/main">
            <a:srgbClr val="14262D"/>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9944D95-24A0-4167-A34B-175252E7832D}"/>
              </a:ext>
            </a:extLst>
          </p:cNvPr>
          <p:cNvSpPr>
            <a:spLocks xmlns:a="http://schemas.openxmlformats.org/drawingml/2006/main" noGrp="1"/>
          </p:cNvSpPr>
          <p:nvPr/>
        </p:nvSpPr>
        <p:spPr>
          <a:xfrm xmlns:a="http://schemas.openxmlformats.org/drawingml/2006/main">
            <a:off x="1047750" y="1685925"/>
            <a:ext cx="1009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75" b="0">
                <a:solidFill>
                  <a:srgbClr val="FFFFFF"/>
                </a:solidFill>
                <a:latin typeface="Helvetica Neue"/>
                <a:ea typeface="Helvetica Neue"/>
                <a:cs typeface="Helvetica Neue"/>
              </a:defRPr>
            </a:pPr>
            <a:r>
              <a:rPr sz="2175" b="0">
                <a:solidFill>
                  <a:srgbClr val="FFFFFF"/>
                </a:solidFill>
                <a:latin typeface="Helvetica Neue"/>
                <a:ea typeface="Helvetica Neue"/>
                <a:cs typeface="Helvetica Neue"/>
              </a:rPr>
              <a:t>P(zᵢ = a | z₁…zᵢ₋₁, y) ∝ exp[hᵢ(a) + Gᵢ(a)y + Σⱼ&lt;ᵢ Jᵢⱼ(a, zⱼ)]</a:t>
            </a:r>
          </a:p>
        </p:txBody>
      </p:sp>
      <p:sp>
        <p:nvSpPr>
          <p:cNvPr id="8" name="">
            <a:extLst xmlns:a="http://schemas.openxmlformats.org/drawingml/2006/main">
              <a:ext uri="{FF2B5EF4-FFF2-40B4-BE49-F238E27FC236}">
                <a16:creationId xmlns:a16="http://schemas.microsoft.com/office/drawing/2014/main" id="{33C624AF-5098-4C72-AE9B-96A5D43D0F4F}"/>
              </a:ext>
            </a:extLst>
          </p:cNvPr>
          <p:cNvSpPr>
            <a:spLocks xmlns:a="http://schemas.openxmlformats.org/drawingml/2006/main" noGrp="1"/>
          </p:cNvSpPr>
          <p:nvPr/>
        </p:nvSpPr>
        <p:spPr>
          <a:xfrm xmlns:a="http://schemas.openxmlformats.org/drawingml/2006/main">
            <a:off x="952500" y="314325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75" b="1">
                <a:solidFill>
                  <a:srgbClr val="2B8C9D"/>
                </a:solidFill>
                <a:latin typeface="Helvetica Neue"/>
                <a:ea typeface="Helvetica Neue"/>
                <a:cs typeface="Helvetica Neue"/>
              </a:defRPr>
            </a:pPr>
            <a:r>
              <a:rPr sz="1575" b="1">
                <a:solidFill>
                  <a:srgbClr val="2B8C9D"/>
                </a:solidFill>
                <a:latin typeface="Helvetica Neue"/>
                <a:ea typeface="Helvetica Neue"/>
                <a:cs typeface="Helvetica Neue"/>
              </a:rPr>
              <a:t>h fields</a:t>
            </a:r>
          </a:p>
        </p:txBody>
      </p:sp>
      <p:sp>
        <p:nvSpPr>
          <p:cNvPr id="9" name="">
            <a:extLst xmlns:a="http://schemas.openxmlformats.org/drawingml/2006/main">
              <a:ext uri="{FF2B5EF4-FFF2-40B4-BE49-F238E27FC236}">
                <a16:creationId xmlns:a16="http://schemas.microsoft.com/office/drawing/2014/main" id="{60E555E6-93B0-4300-A42A-73F49CFE6A67}"/>
              </a:ext>
            </a:extLst>
          </p:cNvPr>
          <p:cNvSpPr>
            <a:spLocks xmlns:a="http://schemas.openxmlformats.org/drawingml/2006/main" noGrp="1"/>
          </p:cNvSpPr>
          <p:nvPr/>
        </p:nvSpPr>
        <p:spPr>
          <a:xfrm xmlns:a="http://schemas.openxmlformats.org/drawingml/2006/main">
            <a:off x="952500" y="3590925"/>
            <a:ext cx="2095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51636B"/>
                </a:solidFill>
                <a:latin typeface="Helvetica Neue"/>
                <a:ea typeface="Helvetica Neue"/>
                <a:cs typeface="Helvetica Neue"/>
              </a:defRPr>
            </a:pPr>
            <a:r>
              <a:rPr sz="1200" b="0">
                <a:solidFill>
                  <a:srgbClr val="51636B"/>
                </a:solidFill>
                <a:latin typeface="Helvetica Neue"/>
                <a:ea typeface="Helvetica Neue"/>
                <a:cs typeface="Helvetica Neue"/>
              </a:rPr>
              <a:t>Baseline amino-acid preference at each alignment position</a:t>
            </a:r>
          </a:p>
        </p:txBody>
      </p:sp>
      <p:sp>
        <p:nvSpPr>
          <p:cNvPr id="10" name="">
            <a:extLst xmlns:a="http://schemas.openxmlformats.org/drawingml/2006/main">
              <a:ext uri="{FF2B5EF4-FFF2-40B4-BE49-F238E27FC236}">
                <a16:creationId xmlns:a16="http://schemas.microsoft.com/office/drawing/2014/main" id="{EFC139C0-750C-4369-A5E6-0B6431D07E57}"/>
              </a:ext>
            </a:extLst>
          </p:cNvPr>
          <p:cNvSpPr>
            <a:spLocks xmlns:a="http://schemas.openxmlformats.org/drawingml/2006/main" noGrp="1"/>
          </p:cNvSpPr>
          <p:nvPr/>
        </p:nvSpPr>
        <p:spPr>
          <a:xfrm xmlns:a="http://schemas.openxmlformats.org/drawingml/2006/main">
            <a:off x="3667125" y="314325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75" b="1">
                <a:solidFill>
                  <a:srgbClr val="D5A129"/>
                </a:solidFill>
                <a:latin typeface="Helvetica Neue"/>
                <a:ea typeface="Helvetica Neue"/>
                <a:cs typeface="Helvetica Neue"/>
              </a:defRPr>
            </a:pPr>
            <a:r>
              <a:rPr sz="1575" b="1">
                <a:solidFill>
                  <a:srgbClr val="D5A129"/>
                </a:solidFill>
                <a:latin typeface="Helvetica Neue"/>
                <a:ea typeface="Helvetica Neue"/>
                <a:cs typeface="Helvetica Neue"/>
              </a:rPr>
              <a:t>J couplings</a:t>
            </a:r>
          </a:p>
        </p:txBody>
      </p:sp>
      <p:sp>
        <p:nvSpPr>
          <p:cNvPr id="11" name="">
            <a:extLst xmlns:a="http://schemas.openxmlformats.org/drawingml/2006/main">
              <a:ext uri="{FF2B5EF4-FFF2-40B4-BE49-F238E27FC236}">
                <a16:creationId xmlns:a16="http://schemas.microsoft.com/office/drawing/2014/main" id="{8DBC8E47-61FB-4C00-B785-AA98F8FEE9AA}"/>
              </a:ext>
            </a:extLst>
          </p:cNvPr>
          <p:cNvSpPr>
            <a:spLocks xmlns:a="http://schemas.openxmlformats.org/drawingml/2006/main" noGrp="1"/>
          </p:cNvSpPr>
          <p:nvPr/>
        </p:nvSpPr>
        <p:spPr>
          <a:xfrm xmlns:a="http://schemas.openxmlformats.org/drawingml/2006/main">
            <a:off x="3667125" y="3590925"/>
            <a:ext cx="2095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51636B"/>
                </a:solidFill>
                <a:latin typeface="Helvetica Neue"/>
                <a:ea typeface="Helvetica Neue"/>
                <a:cs typeface="Helvetica Neue"/>
              </a:defRPr>
            </a:pPr>
            <a:r>
              <a:rPr sz="1200" b="0">
                <a:solidFill>
                  <a:srgbClr val="51636B"/>
                </a:solidFill>
                <a:latin typeface="Helvetica Neue"/>
                <a:ea typeface="Helvetica Neue"/>
                <a:cs typeface="Helvetica Neue"/>
              </a:rPr>
              <a:t>Dependence on amino acids at preceding positions in the autoregressive order</a:t>
            </a:r>
          </a:p>
        </p:txBody>
      </p:sp>
      <p:sp>
        <p:nvSpPr>
          <p:cNvPr id="12" name="">
            <a:extLst xmlns:a="http://schemas.openxmlformats.org/drawingml/2006/main">
              <a:ext uri="{FF2B5EF4-FFF2-40B4-BE49-F238E27FC236}">
                <a16:creationId xmlns:a16="http://schemas.microsoft.com/office/drawing/2014/main" id="{BE31D6EB-7A84-44DB-8702-74AB955C967E}"/>
              </a:ext>
            </a:extLst>
          </p:cNvPr>
          <p:cNvSpPr>
            <a:spLocks xmlns:a="http://schemas.openxmlformats.org/drawingml/2006/main" noGrp="1"/>
          </p:cNvSpPr>
          <p:nvPr/>
        </p:nvSpPr>
        <p:spPr>
          <a:xfrm xmlns:a="http://schemas.openxmlformats.org/drawingml/2006/main">
            <a:off x="6381750" y="314325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75" b="1">
                <a:solidFill>
                  <a:srgbClr val="D7634C"/>
                </a:solidFill>
                <a:latin typeface="Helvetica Neue"/>
                <a:ea typeface="Helvetica Neue"/>
                <a:cs typeface="Helvetica Neue"/>
              </a:defRPr>
            </a:pPr>
            <a:r>
              <a:rPr sz="1575" b="1">
                <a:solidFill>
                  <a:srgbClr val="D7634C"/>
                </a:solidFill>
                <a:latin typeface="Helvetica Neue"/>
                <a:ea typeface="Helvetica Neue"/>
                <a:cs typeface="Helvetica Neue"/>
              </a:rPr>
              <a:t>G coefficients</a:t>
            </a:r>
          </a:p>
        </p:txBody>
      </p:sp>
      <p:sp>
        <p:nvSpPr>
          <p:cNvPr id="13" name="">
            <a:extLst xmlns:a="http://schemas.openxmlformats.org/drawingml/2006/main">
              <a:ext uri="{FF2B5EF4-FFF2-40B4-BE49-F238E27FC236}">
                <a16:creationId xmlns:a16="http://schemas.microsoft.com/office/drawing/2014/main" id="{36883130-7FD8-4EC6-92EC-A15AE7F46A40}"/>
              </a:ext>
            </a:extLst>
          </p:cNvPr>
          <p:cNvSpPr>
            <a:spLocks xmlns:a="http://schemas.openxmlformats.org/drawingml/2006/main" noGrp="1"/>
          </p:cNvSpPr>
          <p:nvPr/>
        </p:nvSpPr>
        <p:spPr>
          <a:xfrm xmlns:a="http://schemas.openxmlformats.org/drawingml/2006/main">
            <a:off x="6381750" y="3590925"/>
            <a:ext cx="2095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51636B"/>
                </a:solidFill>
                <a:latin typeface="Helvetica Neue"/>
                <a:ea typeface="Helvetica Neue"/>
                <a:cs typeface="Helvetica Neue"/>
              </a:defRPr>
            </a:pPr>
            <a:r>
              <a:rPr sz="1200" b="0">
                <a:solidFill>
                  <a:srgbClr val="51636B"/>
                </a:solidFill>
                <a:latin typeface="Helvetica Neue"/>
                <a:ea typeface="Helvetica Neue"/>
                <a:cs typeface="Helvetica Neue"/>
              </a:rPr>
              <a:t>Change in residue preference per unit of temperature feature</a:t>
            </a:r>
          </a:p>
        </p:txBody>
      </p:sp>
      <p:sp>
        <p:nvSpPr>
          <p:cNvPr id="14" name="">
            <a:extLst xmlns:a="http://schemas.openxmlformats.org/drawingml/2006/main">
              <a:ext uri="{FF2B5EF4-FFF2-40B4-BE49-F238E27FC236}">
                <a16:creationId xmlns:a16="http://schemas.microsoft.com/office/drawing/2014/main" id="{27607C34-5638-45DC-8249-258B860ECBC6}"/>
              </a:ext>
            </a:extLst>
          </p:cNvPr>
          <p:cNvSpPr>
            <a:spLocks xmlns:a="http://schemas.openxmlformats.org/drawingml/2006/main" noGrp="1"/>
          </p:cNvSpPr>
          <p:nvPr/>
        </p:nvSpPr>
        <p:spPr>
          <a:xfrm xmlns:a="http://schemas.openxmlformats.org/drawingml/2006/main">
            <a:off x="9096375" y="314325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75" b="1">
                <a:solidFill>
                  <a:srgbClr val="5B8F57"/>
                </a:solidFill>
                <a:latin typeface="Helvetica Neue"/>
                <a:ea typeface="Helvetica Neue"/>
                <a:cs typeface="Helvetica Neue"/>
              </a:defRPr>
            </a:pPr>
            <a:r>
              <a:rPr sz="1575" b="1">
                <a:solidFill>
                  <a:srgbClr val="5B8F57"/>
                </a:solidFill>
                <a:latin typeface="Helvetica Neue"/>
                <a:ea typeface="Helvetica Neue"/>
                <a:cs typeface="Helvetica Neue"/>
              </a:rPr>
              <a:t>Feature y</a:t>
            </a:r>
          </a:p>
        </p:txBody>
      </p:sp>
      <p:sp>
        <p:nvSpPr>
          <p:cNvPr id="15" name="">
            <a:extLst xmlns:a="http://schemas.openxmlformats.org/drawingml/2006/main">
              <a:ext uri="{FF2B5EF4-FFF2-40B4-BE49-F238E27FC236}">
                <a16:creationId xmlns:a16="http://schemas.microsoft.com/office/drawing/2014/main" id="{7D7FD159-A461-47D7-B7C6-6A9A1E047ECD}"/>
              </a:ext>
            </a:extLst>
          </p:cNvPr>
          <p:cNvSpPr>
            <a:spLocks xmlns:a="http://schemas.openxmlformats.org/drawingml/2006/main" noGrp="1"/>
          </p:cNvSpPr>
          <p:nvPr/>
        </p:nvSpPr>
        <p:spPr>
          <a:xfrm xmlns:a="http://schemas.openxmlformats.org/drawingml/2006/main">
            <a:off x="9096375" y="3590925"/>
            <a:ext cx="2095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51636B"/>
                </a:solidFill>
                <a:latin typeface="Helvetica Neue"/>
                <a:ea typeface="Helvetica Neue"/>
                <a:cs typeface="Helvetica Neue"/>
              </a:defRPr>
            </a:pPr>
            <a:r>
              <a:rPr sz="1200" b="0">
                <a:solidFill>
                  <a:srgbClr val="51636B"/>
                </a:solidFill>
                <a:latin typeface="Helvetica Neue"/>
                <a:ea typeface="Helvetica Neue"/>
                <a:cs typeface="Helvetica Neue"/>
              </a:rPr>
              <a:t>One scalar per sequence for the first model</a:t>
            </a:r>
          </a:p>
        </p:txBody>
      </p:sp>
      <p:sp>
        <p:nvSpPr>
          <p:cNvPr id="16" name="">
            <a:extLst xmlns:a="http://schemas.openxmlformats.org/drawingml/2006/main">
              <a:ext uri="{FF2B5EF4-FFF2-40B4-BE49-F238E27FC236}">
                <a16:creationId xmlns:a16="http://schemas.microsoft.com/office/drawing/2014/main" id="{ED044C94-0493-421C-9A8F-627BA67C7E2C}"/>
              </a:ext>
            </a:extLst>
          </p:cNvPr>
          <p:cNvSpPr>
            <a:spLocks xmlns:a="http://schemas.openxmlformats.org/drawingml/2006/main" noGrp="1"/>
          </p:cNvSpPr>
          <p:nvPr/>
        </p:nvSpPr>
        <p:spPr>
          <a:xfrm xmlns:a="http://schemas.openxmlformats.org/drawingml/2006/main">
            <a:off x="1000125" y="5095875"/>
            <a:ext cx="10191750" cy="876300"/>
          </a:xfrm>
          <a:prstGeom xmlns:a="http://schemas.openxmlformats.org/drawingml/2006/main" prst="roundRect">
            <a:avLst>
              <a:gd name="adj" fmla="val 5435"/>
            </a:avLst>
          </a:prstGeom>
          <a:solidFill xmlns:a="http://schemas.openxmlformats.org/drawingml/2006/main">
            <a:srgbClr val="EEF5F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7C75E208-5F2E-49FE-8F95-1EDF3851D86E}"/>
              </a:ext>
            </a:extLst>
          </p:cNvPr>
          <p:cNvSpPr>
            <a:spLocks xmlns:a="http://schemas.openxmlformats.org/drawingml/2006/main" noGrp="1"/>
          </p:cNvSpPr>
          <p:nvPr/>
        </p:nvSpPr>
        <p:spPr>
          <a:xfrm xmlns:a="http://schemas.openxmlformats.org/drawingml/2006/main">
            <a:off x="1381125" y="5248275"/>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0E6B6F"/>
                </a:solidFill>
                <a:latin typeface="Helvetica Neue"/>
                <a:ea typeface="Helvetica Neue"/>
                <a:cs typeface="Helvetica Neue"/>
              </a:defRPr>
            </a:pPr>
            <a:r>
              <a:rPr sz="1725" b="1">
                <a:solidFill>
                  <a:srgbClr val="0E6B6F"/>
                </a:solidFill>
                <a:latin typeface="Helvetica Neue"/>
                <a:ea typeface="Helvetica Neue"/>
                <a:cs typeface="Helvetica Neue"/>
              </a:rPr>
              <a:t>y = (Topt_ave − 31.3635 °C) / 7.7944 °C</a:t>
            </a:r>
          </a:p>
        </p:txBody>
      </p:sp>
      <p:sp>
        <p:nvSpPr>
          <p:cNvPr id="18" name="">
            <a:extLst xmlns:a="http://schemas.openxmlformats.org/drawingml/2006/main">
              <a:ext uri="{FF2B5EF4-FFF2-40B4-BE49-F238E27FC236}">
                <a16:creationId xmlns:a16="http://schemas.microsoft.com/office/drawing/2014/main" id="{BF855CA2-F3D6-4CCD-9BCA-F86A146906A3}"/>
              </a:ext>
            </a:extLst>
          </p:cNvPr>
          <p:cNvSpPr>
            <a:spLocks xmlns:a="http://schemas.openxmlformats.org/drawingml/2006/main" noGrp="1"/>
          </p:cNvSpPr>
          <p:nvPr/>
        </p:nvSpPr>
        <p:spPr>
          <a:xfrm xmlns:a="http://schemas.openxmlformats.org/drawingml/2006/main">
            <a:off x="6191250" y="5191125"/>
            <a:ext cx="461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51636B"/>
                </a:solidFill>
                <a:latin typeface="Helvetica Neue"/>
                <a:ea typeface="Helvetica Neue"/>
                <a:cs typeface="Helvetica Neue"/>
              </a:defRPr>
            </a:pPr>
            <a:r>
              <a:rPr sz="1275" b="0">
                <a:solidFill>
                  <a:srgbClr val="51636B"/>
                </a:solidFill>
                <a:latin typeface="Helvetica Neue"/>
                <a:ea typeface="Helvetica Neue"/>
                <a:cs typeface="Helvetica Neue"/>
              </a:rPr>
              <a:t>Sequence weighting gives Meff ≈ 2,056 from 14,944 proteins. L2 regularization: λH = λG = λJ = 0.01.</a:t>
            </a:r>
          </a:p>
        </p:txBody>
      </p:sp>
    </p:spTree>
    <p:extLst>
      <p:ext uri="{BB962C8B-B14F-4D97-AF65-F5344CB8AC3E}">
        <p14:creationId xmlns:p14="http://schemas.microsoft.com/office/powerpoint/2010/main" val="728407121"/>
      </p:ext>
    </p:extLst>
  </p:cSld>
</p:sld>
</file>

<file path=ppt/slides/slide8.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CBF4863-339D-403B-91E1-BA649C390FFE}"/>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0E6B6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5C32D88-EF68-4BFC-813E-E1FB70C252D6}"/>
              </a:ext>
            </a:extLst>
          </p:cNvPr>
          <p:cNvSpPr>
            <a:spLocks xmlns:a="http://schemas.openxmlformats.org/drawingml/2006/main" noGrp="1"/>
          </p:cNvSpPr>
          <p:nvPr/>
        </p:nvSpPr>
        <p:spPr>
          <a:xfrm xmlns:a="http://schemas.openxmlformats.org/drawingml/2006/main">
            <a:off x="552450" y="28575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a:solidFill>
                  <a:srgbClr val="0E6B6F"/>
                </a:solidFill>
                <a:latin typeface="Helvetica Neue"/>
                <a:ea typeface="Helvetica Neue"/>
                <a:cs typeface="Helvetica Neue"/>
              </a:defRPr>
            </a:pPr>
            <a:r>
              <a:rPr sz="900" b="1">
                <a:solidFill>
                  <a:srgbClr val="0E6B6F"/>
                </a:solidFill>
                <a:latin typeface="Helvetica Neue"/>
                <a:ea typeface="Helvetica Neue"/>
                <a:cs typeface="Helvetica Neue"/>
              </a:rPr>
              <a:t>PRELIMINARY RESULTS</a:t>
            </a:r>
          </a:p>
        </p:txBody>
      </p:sp>
      <p:sp>
        <p:nvSpPr>
          <p:cNvPr id="3" name="">
            <a:extLst xmlns:a="http://schemas.openxmlformats.org/drawingml/2006/main">
              <a:ext uri="{FF2B5EF4-FFF2-40B4-BE49-F238E27FC236}">
                <a16:creationId xmlns:a16="http://schemas.microsoft.com/office/drawing/2014/main" id="{01B5DE21-487D-4A5D-AAD3-BB8420EA450F}"/>
              </a:ext>
            </a:extLst>
          </p:cNvPr>
          <p:cNvSpPr>
            <a:spLocks xmlns:a="http://schemas.openxmlformats.org/drawingml/2006/main" noGrp="1"/>
          </p:cNvSpPr>
          <p:nvPr/>
        </p:nvSpPr>
        <p:spPr>
          <a:xfrm xmlns:a="http://schemas.openxmlformats.org/drawingml/2006/main">
            <a:off x="552450" y="495300"/>
            <a:ext cx="1081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14262D"/>
                </a:solidFill>
                <a:latin typeface="Helvetica Neue"/>
                <a:ea typeface="Helvetica Neue"/>
                <a:cs typeface="Helvetica Neue"/>
              </a:defRPr>
            </a:pPr>
            <a:r>
              <a:rPr sz="2400" b="1">
                <a:solidFill>
                  <a:srgbClr val="14262D"/>
                </a:solidFill>
                <a:latin typeface="Helvetica Neue"/>
                <a:ea typeface="Helvetica Neue"/>
                <a:cs typeface="Helvetica Neue"/>
              </a:rPr>
              <a:t>Generated samples preserve local sequence statistics</a:t>
            </a:r>
          </a:p>
        </p:txBody>
      </p:sp>
      <p:sp>
        <p:nvSpPr>
          <p:cNvPr id="4" name="">
            <a:extLst xmlns:a="http://schemas.openxmlformats.org/drawingml/2006/main">
              <a:ext uri="{FF2B5EF4-FFF2-40B4-BE49-F238E27FC236}">
                <a16:creationId xmlns:a16="http://schemas.microsoft.com/office/drawing/2014/main" id="{7BAFA72F-CD8D-4CF4-BF50-AD2A4C5F3977}"/>
              </a:ext>
            </a:extLst>
          </p:cNvPr>
          <p:cNvSpPr>
            <a:spLocks xmlns:a="http://schemas.openxmlformats.org/drawingml/2006/main" noGrp="1"/>
          </p:cNvSpPr>
          <p:nvPr/>
        </p:nvSpPr>
        <p:spPr>
          <a:xfrm xmlns:a="http://schemas.openxmlformats.org/drawingml/2006/main">
            <a:off x="552450" y="1066800"/>
            <a:ext cx="11049000" cy="19050"/>
          </a:xfrm>
          <a:prstGeom xmlns:a="http://schemas.openxmlformats.org/drawingml/2006/main" prst="rect">
            <a:avLst/>
          </a:prstGeom>
          <a:solidFill xmlns:a="http://schemas.openxmlformats.org/drawingml/2006/main">
            <a:srgbClr val="CBD6D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42F3BE1-892D-4B35-928E-EC4CE775AA14}"/>
              </a:ext>
            </a:extLst>
          </p:cNvPr>
          <p:cNvSpPr>
            <a:spLocks xmlns:a="http://schemas.openxmlformats.org/drawingml/2006/main" noGrp="1"/>
          </p:cNvSpPr>
          <p:nvPr/>
        </p:nvSpPr>
        <p:spPr>
          <a:xfrm xmlns:a="http://schemas.openxmlformats.org/drawingml/2006/main">
            <a:off x="11144250" y="6477000"/>
            <a:ext cx="47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r">
              <a:defRPr sz="825" b="0">
                <a:solidFill>
                  <a:srgbClr val="51636B"/>
                </a:solidFill>
                <a:latin typeface="Helvetica Neue"/>
                <a:ea typeface="Helvetica Neue"/>
                <a:cs typeface="Helvetica Neue"/>
              </a:defRPr>
            </a:pPr>
            <a:r>
              <a:rPr sz="825" b="0">
                <a:solidFill>
                  <a:srgbClr val="51636B"/>
                </a:solidFill>
                <a:latin typeface="Helvetica Neue"/>
                <a:ea typeface="Helvetica Neue"/>
                <a:cs typeface="Helvetica Neue"/>
              </a:rPr>
              <a:t>08</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867f82c9842c465b"/>
          <a:stretch xmlns:a="http://schemas.openxmlformats.org/drawingml/2006/main"/>
        </p:blipFill>
        <p:spPr>
          <a:xfrm xmlns:a="http://schemas.openxmlformats.org/drawingml/2006/main">
            <a:off x="523875" y="1990633"/>
            <a:ext cx="7524750" cy="3400608"/>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2E062D3F-88F1-4CE3-A340-768CD11361A9}"/>
              </a:ext>
            </a:extLst>
          </p:cNvPr>
          <p:cNvSpPr>
            <a:spLocks xmlns:a="http://schemas.openxmlformats.org/drawingml/2006/main" noGrp="1"/>
          </p:cNvSpPr>
          <p:nvPr/>
        </p:nvSpPr>
        <p:spPr>
          <a:xfrm xmlns:a="http://schemas.openxmlformats.org/drawingml/2006/main">
            <a:off x="8286750" y="1476375"/>
            <a:ext cx="3095625" cy="4000500"/>
          </a:xfrm>
          <a:prstGeom xmlns:a="http://schemas.openxmlformats.org/drawingml/2006/main" prst="roundRect">
            <a:avLst>
              <a:gd name="adj" fmla="val 1846"/>
            </a:avLst>
          </a:prstGeom>
          <a:solidFill xmlns:a="http://schemas.openxmlformats.org/drawingml/2006/main">
            <a:srgbClr val="FFFFFF"/>
          </a:solidFill>
          <a:ln xmlns:a="http://schemas.openxmlformats.org/drawingml/2006/main" w="9525">
            <a:solidFill>
              <a:srgbClr val="CBD6D8"/>
            </a:solidFill>
          </a:ln>
        </p:spPr>
      </p:sp>
      <p:sp>
        <p:nvSpPr>
          <p:cNvPr id="8" name="">
            <a:extLst xmlns:a="http://schemas.openxmlformats.org/drawingml/2006/main">
              <a:ext uri="{FF2B5EF4-FFF2-40B4-BE49-F238E27FC236}">
                <a16:creationId xmlns:a16="http://schemas.microsoft.com/office/drawing/2014/main" id="{09674900-0CFA-4115-9FBD-6F8AC908D80C}"/>
              </a:ext>
            </a:extLst>
          </p:cNvPr>
          <p:cNvSpPr>
            <a:spLocks xmlns:a="http://schemas.openxmlformats.org/drawingml/2006/main" noGrp="1"/>
          </p:cNvSpPr>
          <p:nvPr/>
        </p:nvSpPr>
        <p:spPr>
          <a:xfrm xmlns:a="http://schemas.openxmlformats.org/drawingml/2006/main">
            <a:off x="8572500" y="1714500"/>
            <a:ext cx="2524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14262D"/>
                </a:solidFill>
                <a:latin typeface="Helvetica Neue"/>
                <a:ea typeface="Helvetica Neue"/>
                <a:cs typeface="Helvetica Neue"/>
              </a:defRPr>
            </a:pPr>
            <a:r>
              <a:rPr sz="1575" b="1">
                <a:solidFill>
                  <a:srgbClr val="14262D"/>
                </a:solidFill>
                <a:latin typeface="Helvetica Neue"/>
                <a:ea typeface="Helvetica Neue"/>
                <a:cs typeface="Helvetica Neue"/>
              </a:rPr>
              <a:t>Generation test</a:t>
            </a:r>
          </a:p>
        </p:txBody>
      </p:sp>
      <p:sp>
        <p:nvSpPr>
          <p:cNvPr id="9" name="">
            <a:extLst xmlns:a="http://schemas.openxmlformats.org/drawingml/2006/main">
              <a:ext uri="{FF2B5EF4-FFF2-40B4-BE49-F238E27FC236}">
                <a16:creationId xmlns:a16="http://schemas.microsoft.com/office/drawing/2014/main" id="{3A67828B-935C-4CCC-85AE-BE2D074A61E2}"/>
              </a:ext>
            </a:extLst>
          </p:cNvPr>
          <p:cNvSpPr>
            <a:spLocks xmlns:a="http://schemas.openxmlformats.org/drawingml/2006/main" noGrp="1"/>
          </p:cNvSpPr>
          <p:nvPr/>
        </p:nvSpPr>
        <p:spPr>
          <a:xfrm xmlns:a="http://schemas.openxmlformats.org/drawingml/2006/main">
            <a:off x="8572500" y="2143125"/>
            <a:ext cx="252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486"/>
          </a:bodyPr>
          <a:lstStyle xmlns:a="http://schemas.openxmlformats.org/drawingml/2006/main"/>
          <a:p xmlns:a="http://schemas.openxmlformats.org/drawingml/2006/main">
            <a:pPr algn="l">
              <a:defRPr sz="1350" b="0">
                <a:solidFill>
                  <a:srgbClr val="51636B"/>
                </a:solidFill>
                <a:latin typeface="Helvetica Neue"/>
                <a:ea typeface="Helvetica Neue"/>
                <a:cs typeface="Helvetica Neue"/>
              </a:defRPr>
            </a:pPr>
            <a:r>
              <a:rPr sz="1350" b="0">
                <a:solidFill>
                  <a:srgbClr val="51636B"/>
                </a:solidFill>
                <a:latin typeface="Helvetica Neue"/>
                <a:ea typeface="Helvetica Neue"/>
                <a:cs typeface="Helvetica Neue"/>
              </a:rPr>
              <a:t>One sample per natural sequence at that sequence’s Topt_ave</a:t>
            </a:r>
          </a:p>
        </p:txBody>
      </p:sp>
      <p:sp>
        <p:nvSpPr>
          <p:cNvPr id="10" name="">
            <a:extLst xmlns:a="http://schemas.openxmlformats.org/drawingml/2006/main">
              <a:ext uri="{FF2B5EF4-FFF2-40B4-BE49-F238E27FC236}">
                <a16:creationId xmlns:a16="http://schemas.microsoft.com/office/drawing/2014/main" id="{139A19C6-DEE0-4BB0-AF3E-DB59D71CD6DB}"/>
              </a:ext>
            </a:extLst>
          </p:cNvPr>
          <p:cNvSpPr>
            <a:spLocks xmlns:a="http://schemas.openxmlformats.org/drawingml/2006/main" noGrp="1"/>
          </p:cNvSpPr>
          <p:nvPr/>
        </p:nvSpPr>
        <p:spPr>
          <a:xfrm xmlns:a="http://schemas.openxmlformats.org/drawingml/2006/main">
            <a:off x="8572500" y="3000375"/>
            <a:ext cx="123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118"/>
          </a:bodyPr>
          <a:lstStyle xmlns:a="http://schemas.openxmlformats.org/drawingml/2006/main"/>
          <a:p xmlns:a="http://schemas.openxmlformats.org/drawingml/2006/main">
            <a:pPr algn="l">
              <a:defRPr sz="2550" b="1">
                <a:solidFill>
                  <a:srgbClr val="0E6B6F"/>
                </a:solidFill>
                <a:latin typeface="Helvetica Neue"/>
                <a:ea typeface="Helvetica Neue"/>
                <a:cs typeface="Helvetica Neue"/>
              </a:defRPr>
            </a:pPr>
            <a:r>
              <a:rPr sz="2550" b="1">
                <a:solidFill>
                  <a:srgbClr val="0E6B6F"/>
                </a:solidFill>
                <a:latin typeface="Helvetica Neue"/>
                <a:ea typeface="Helvetica Neue"/>
                <a:cs typeface="Helvetica Neue"/>
              </a:rPr>
              <a:t>0.993</a:t>
            </a:r>
          </a:p>
        </p:txBody>
      </p:sp>
      <p:sp>
        <p:nvSpPr>
          <p:cNvPr id="11" name="">
            <a:extLst xmlns:a="http://schemas.openxmlformats.org/drawingml/2006/main">
              <a:ext uri="{FF2B5EF4-FFF2-40B4-BE49-F238E27FC236}">
                <a16:creationId xmlns:a16="http://schemas.microsoft.com/office/drawing/2014/main" id="{4A265FAD-2726-47FD-B04D-4C9CF3B025D1}"/>
              </a:ext>
            </a:extLst>
          </p:cNvPr>
          <p:cNvSpPr>
            <a:spLocks xmlns:a="http://schemas.openxmlformats.org/drawingml/2006/main" noGrp="1"/>
          </p:cNvSpPr>
          <p:nvPr/>
        </p:nvSpPr>
        <p:spPr>
          <a:xfrm xmlns:a="http://schemas.openxmlformats.org/drawingml/2006/main">
            <a:off x="8572500" y="3429000"/>
            <a:ext cx="1381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51636B"/>
                </a:solidFill>
                <a:latin typeface="Helvetica Neue"/>
                <a:ea typeface="Helvetica Neue"/>
                <a:cs typeface="Helvetica Neue"/>
              </a:defRPr>
            </a:pPr>
            <a:r>
              <a:rPr sz="1125" b="0">
                <a:solidFill>
                  <a:srgbClr val="51636B"/>
                </a:solidFill>
                <a:latin typeface="Helvetica Neue"/>
                <a:ea typeface="Helvetica Neue"/>
                <a:cs typeface="Helvetica Neue"/>
              </a:rPr>
              <a:t>single-frequency r</a:t>
            </a:r>
          </a:p>
        </p:txBody>
      </p:sp>
      <p:sp>
        <p:nvSpPr>
          <p:cNvPr id="12" name="">
            <a:extLst xmlns:a="http://schemas.openxmlformats.org/drawingml/2006/main">
              <a:ext uri="{FF2B5EF4-FFF2-40B4-BE49-F238E27FC236}">
                <a16:creationId xmlns:a16="http://schemas.microsoft.com/office/drawing/2014/main" id="{70EB2FB6-4D06-4C8C-AC9C-D67AF039C7E3}"/>
              </a:ext>
            </a:extLst>
          </p:cNvPr>
          <p:cNvSpPr>
            <a:spLocks xmlns:a="http://schemas.openxmlformats.org/drawingml/2006/main" noGrp="1"/>
          </p:cNvSpPr>
          <p:nvPr/>
        </p:nvSpPr>
        <p:spPr>
          <a:xfrm xmlns:a="http://schemas.openxmlformats.org/drawingml/2006/main">
            <a:off x="9953625" y="3000375"/>
            <a:ext cx="114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118"/>
          </a:bodyPr>
          <a:lstStyle xmlns:a="http://schemas.openxmlformats.org/drawingml/2006/main"/>
          <a:p xmlns:a="http://schemas.openxmlformats.org/drawingml/2006/main">
            <a:pPr algn="l">
              <a:defRPr sz="2550" b="1">
                <a:solidFill>
                  <a:srgbClr val="D7634C"/>
                </a:solidFill>
                <a:latin typeface="Helvetica Neue"/>
                <a:ea typeface="Helvetica Neue"/>
                <a:cs typeface="Helvetica Neue"/>
              </a:defRPr>
            </a:pPr>
            <a:r>
              <a:rPr sz="2550" b="1">
                <a:solidFill>
                  <a:srgbClr val="D7634C"/>
                </a:solidFill>
                <a:latin typeface="Helvetica Neue"/>
                <a:ea typeface="Helvetica Neue"/>
                <a:cs typeface="Helvetica Neue"/>
              </a:rPr>
              <a:t>0.986</a:t>
            </a:r>
          </a:p>
        </p:txBody>
      </p:sp>
      <p:sp>
        <p:nvSpPr>
          <p:cNvPr id="13" name="">
            <a:extLst xmlns:a="http://schemas.openxmlformats.org/drawingml/2006/main">
              <a:ext uri="{FF2B5EF4-FFF2-40B4-BE49-F238E27FC236}">
                <a16:creationId xmlns:a16="http://schemas.microsoft.com/office/drawing/2014/main" id="{54333685-CEFF-4845-86F8-14C70FFB2B50}"/>
              </a:ext>
            </a:extLst>
          </p:cNvPr>
          <p:cNvSpPr>
            <a:spLocks xmlns:a="http://schemas.openxmlformats.org/drawingml/2006/main" noGrp="1"/>
          </p:cNvSpPr>
          <p:nvPr/>
        </p:nvSpPr>
        <p:spPr>
          <a:xfrm xmlns:a="http://schemas.openxmlformats.org/drawingml/2006/main">
            <a:off x="9953625" y="3429000"/>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877"/>
          </a:bodyPr>
          <a:lstStyle xmlns:a="http://schemas.openxmlformats.org/drawingml/2006/main"/>
          <a:p xmlns:a="http://schemas.openxmlformats.org/drawingml/2006/main">
            <a:pPr algn="l">
              <a:defRPr sz="1125" b="0">
                <a:solidFill>
                  <a:srgbClr val="51636B"/>
                </a:solidFill>
                <a:latin typeface="Helvetica Neue"/>
                <a:ea typeface="Helvetica Neue"/>
                <a:cs typeface="Helvetica Neue"/>
              </a:defRPr>
            </a:pPr>
            <a:r>
              <a:rPr sz="1125" b="0">
                <a:solidFill>
                  <a:srgbClr val="51636B"/>
                </a:solidFill>
                <a:latin typeface="Helvetica Neue"/>
                <a:ea typeface="Helvetica Neue"/>
                <a:cs typeface="Helvetica Neue"/>
              </a:rPr>
              <a:t>pair-frequency r</a:t>
            </a:r>
          </a:p>
        </p:txBody>
      </p:sp>
      <p:sp>
        <p:nvSpPr>
          <p:cNvPr id="14" name="">
            <a:extLst xmlns:a="http://schemas.openxmlformats.org/drawingml/2006/main">
              <a:ext uri="{FF2B5EF4-FFF2-40B4-BE49-F238E27FC236}">
                <a16:creationId xmlns:a16="http://schemas.microsoft.com/office/drawing/2014/main" id="{AEA093E9-03B0-4C9C-BF92-01B016FD9103}"/>
              </a:ext>
            </a:extLst>
          </p:cNvPr>
          <p:cNvSpPr>
            <a:spLocks xmlns:a="http://schemas.openxmlformats.org/drawingml/2006/main" noGrp="1"/>
          </p:cNvSpPr>
          <p:nvPr/>
        </p:nvSpPr>
        <p:spPr>
          <a:xfrm xmlns:a="http://schemas.openxmlformats.org/drawingml/2006/main">
            <a:off x="8572500" y="4048125"/>
            <a:ext cx="2524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4262D"/>
                </a:solidFill>
                <a:latin typeface="Helvetica Neue"/>
                <a:ea typeface="Helvetica Neue"/>
                <a:cs typeface="Helvetica Neue"/>
              </a:defRPr>
            </a:pPr>
            <a:r>
              <a:rPr sz="1275" b="0">
                <a:solidFill>
                  <a:srgbClr val="14262D"/>
                </a:solidFill>
                <a:latin typeface="Helvetica Neue"/>
                <a:ea typeface="Helvetica Neue"/>
                <a:cs typeface="Helvetica Neue"/>
              </a:rPr>
              <a:t>Gap-frequency RMSE = 0.0517, larger than the amino-acid frequency errors.</a:t>
            </a:r>
          </a:p>
        </p:txBody>
      </p:sp>
      <p:sp>
        <p:nvSpPr>
          <p:cNvPr id="15" name="">
            <a:extLst xmlns:a="http://schemas.openxmlformats.org/drawingml/2006/main">
              <a:ext uri="{FF2B5EF4-FFF2-40B4-BE49-F238E27FC236}">
                <a16:creationId xmlns:a16="http://schemas.microsoft.com/office/drawing/2014/main" id="{01F55595-4D68-4189-BDF3-427DB10BB546}"/>
              </a:ext>
            </a:extLst>
          </p:cNvPr>
          <p:cNvSpPr>
            <a:spLocks xmlns:a="http://schemas.openxmlformats.org/drawingml/2006/main" noGrp="1"/>
          </p:cNvSpPr>
          <p:nvPr/>
        </p:nvSpPr>
        <p:spPr>
          <a:xfrm xmlns:a="http://schemas.openxmlformats.org/drawingml/2006/main">
            <a:off x="8572500" y="4905375"/>
            <a:ext cx="252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856"/>
          </a:bodyPr>
          <a:lstStyle xmlns:a="http://schemas.openxmlformats.org/drawingml/2006/main"/>
          <a:p xmlns:a="http://schemas.openxmlformats.org/drawingml/2006/main">
            <a:pPr algn="l">
              <a:defRPr sz="1275" b="1">
                <a:solidFill>
                  <a:srgbClr val="0E6B6F"/>
                </a:solidFill>
                <a:latin typeface="Helvetica Neue"/>
                <a:ea typeface="Helvetica Neue"/>
                <a:cs typeface="Helvetica Neue"/>
              </a:defRPr>
            </a:pPr>
            <a:r>
              <a:rPr sz="1275" b="1">
                <a:solidFill>
                  <a:srgbClr val="0E6B6F"/>
                </a:solidFill>
                <a:latin typeface="Helvetica Neue"/>
                <a:ea typeface="Helvetica Neue"/>
                <a:cs typeface="Helvetica Neue"/>
              </a:rPr>
              <a:t>The model captures local statistics well, but this does not guarantee recovery of global sequence-space structure.</a:t>
            </a:r>
          </a:p>
        </p:txBody>
      </p:sp>
    </p:spTree>
    <p:extLst>
      <p:ext uri="{BB962C8B-B14F-4D97-AF65-F5344CB8AC3E}">
        <p14:creationId xmlns:p14="http://schemas.microsoft.com/office/powerpoint/2010/main" val="960219249"/>
      </p:ext>
    </p:extLst>
  </p:cSld>
</p:sld>
</file>

<file path=ppt/slides/slide9.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6D14012-C4BF-4DD0-8519-1CFE7480F485}"/>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0E6B6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28AB14D-55CB-44F8-8F5D-D75F52915D9F}"/>
              </a:ext>
            </a:extLst>
          </p:cNvPr>
          <p:cNvSpPr>
            <a:spLocks xmlns:a="http://schemas.openxmlformats.org/drawingml/2006/main" noGrp="1"/>
          </p:cNvSpPr>
          <p:nvPr/>
        </p:nvSpPr>
        <p:spPr>
          <a:xfrm xmlns:a="http://schemas.openxmlformats.org/drawingml/2006/main">
            <a:off x="552450" y="28575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a:solidFill>
                  <a:srgbClr val="0E6B6F"/>
                </a:solidFill>
                <a:latin typeface="Helvetica Neue"/>
                <a:ea typeface="Helvetica Neue"/>
                <a:cs typeface="Helvetica Neue"/>
              </a:defRPr>
            </a:pPr>
            <a:r>
              <a:rPr sz="900" b="1">
                <a:solidFill>
                  <a:srgbClr val="0E6B6F"/>
                </a:solidFill>
                <a:latin typeface="Helvetica Neue"/>
                <a:ea typeface="Helvetica Neue"/>
                <a:cs typeface="Helvetica Neue"/>
              </a:rPr>
              <a:t>PRELIMINARY RESULTS</a:t>
            </a:r>
          </a:p>
        </p:txBody>
      </p:sp>
      <p:sp>
        <p:nvSpPr>
          <p:cNvPr id="3" name="">
            <a:extLst xmlns:a="http://schemas.openxmlformats.org/drawingml/2006/main">
              <a:ext uri="{FF2B5EF4-FFF2-40B4-BE49-F238E27FC236}">
                <a16:creationId xmlns:a16="http://schemas.microsoft.com/office/drawing/2014/main" id="{04A7853C-2CDA-455B-83C9-D8E4362BBE59}"/>
              </a:ext>
            </a:extLst>
          </p:cNvPr>
          <p:cNvSpPr>
            <a:spLocks xmlns:a="http://schemas.openxmlformats.org/drawingml/2006/main" noGrp="1"/>
          </p:cNvSpPr>
          <p:nvPr/>
        </p:nvSpPr>
        <p:spPr>
          <a:xfrm xmlns:a="http://schemas.openxmlformats.org/drawingml/2006/main">
            <a:off x="552450" y="495300"/>
            <a:ext cx="1081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14262D"/>
                </a:solidFill>
                <a:latin typeface="Helvetica Neue"/>
                <a:ea typeface="Helvetica Neue"/>
                <a:cs typeface="Helvetica Neue"/>
              </a:defRPr>
            </a:pPr>
            <a:r>
              <a:rPr sz="2400" b="1">
                <a:solidFill>
                  <a:srgbClr val="14262D"/>
                </a:solidFill>
                <a:latin typeface="Helvetica Neue"/>
                <a:ea typeface="Helvetica Neue"/>
                <a:cs typeface="Helvetica Neue"/>
              </a:rPr>
              <a:t>Temperature alone does not recover the natural PCA structure</a:t>
            </a:r>
          </a:p>
        </p:txBody>
      </p:sp>
      <p:sp>
        <p:nvSpPr>
          <p:cNvPr id="4" name="">
            <a:extLst xmlns:a="http://schemas.openxmlformats.org/drawingml/2006/main">
              <a:ext uri="{FF2B5EF4-FFF2-40B4-BE49-F238E27FC236}">
                <a16:creationId xmlns:a16="http://schemas.microsoft.com/office/drawing/2014/main" id="{7E34D6B9-B9B8-4398-8BCB-68C790B1D9BE}"/>
              </a:ext>
            </a:extLst>
          </p:cNvPr>
          <p:cNvSpPr>
            <a:spLocks xmlns:a="http://schemas.openxmlformats.org/drawingml/2006/main" noGrp="1"/>
          </p:cNvSpPr>
          <p:nvPr/>
        </p:nvSpPr>
        <p:spPr>
          <a:xfrm xmlns:a="http://schemas.openxmlformats.org/drawingml/2006/main">
            <a:off x="552450" y="1066800"/>
            <a:ext cx="11049000" cy="19050"/>
          </a:xfrm>
          <a:prstGeom xmlns:a="http://schemas.openxmlformats.org/drawingml/2006/main" prst="rect">
            <a:avLst/>
          </a:prstGeom>
          <a:solidFill xmlns:a="http://schemas.openxmlformats.org/drawingml/2006/main">
            <a:srgbClr val="CBD6D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0A56E4F-DEF7-4D91-855B-1747D4ACA9CF}"/>
              </a:ext>
            </a:extLst>
          </p:cNvPr>
          <p:cNvSpPr>
            <a:spLocks xmlns:a="http://schemas.openxmlformats.org/drawingml/2006/main" noGrp="1"/>
          </p:cNvSpPr>
          <p:nvPr/>
        </p:nvSpPr>
        <p:spPr>
          <a:xfrm xmlns:a="http://schemas.openxmlformats.org/drawingml/2006/main">
            <a:off x="11144250" y="6477000"/>
            <a:ext cx="47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r">
              <a:defRPr sz="825" b="0">
                <a:solidFill>
                  <a:srgbClr val="51636B"/>
                </a:solidFill>
                <a:latin typeface="Helvetica Neue"/>
                <a:ea typeface="Helvetica Neue"/>
                <a:cs typeface="Helvetica Neue"/>
              </a:defRPr>
            </a:pPr>
            <a:r>
              <a:rPr sz="825" b="0">
                <a:solidFill>
                  <a:srgbClr val="51636B"/>
                </a:solidFill>
                <a:latin typeface="Helvetica Neue"/>
                <a:ea typeface="Helvetica Neue"/>
                <a:cs typeface="Helvetica Neue"/>
              </a:rPr>
              <a:t>09</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0ebe642b91b54c74"/>
          <a:stretch xmlns:a="http://schemas.openxmlformats.org/drawingml/2006/main"/>
        </p:blipFill>
        <p:spPr>
          <a:xfrm xmlns:a="http://schemas.openxmlformats.org/drawingml/2006/main">
            <a:off x="428625" y="2239169"/>
            <a:ext cx="8810625" cy="2760663"/>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08C2EF2F-72C8-443B-B81B-89E3F1F0CE7C}"/>
              </a:ext>
            </a:extLst>
          </p:cNvPr>
          <p:cNvSpPr>
            <a:spLocks xmlns:a="http://schemas.openxmlformats.org/drawingml/2006/main" noGrp="1"/>
          </p:cNvSpPr>
          <p:nvPr/>
        </p:nvSpPr>
        <p:spPr>
          <a:xfrm xmlns:a="http://schemas.openxmlformats.org/drawingml/2006/main">
            <a:off x="9382125" y="1524000"/>
            <a:ext cx="2381250" cy="3857625"/>
          </a:xfrm>
          <a:prstGeom xmlns:a="http://schemas.openxmlformats.org/drawingml/2006/main" prst="roundRect">
            <a:avLst>
              <a:gd name="adj" fmla="val 2400"/>
            </a:avLst>
          </a:prstGeom>
          <a:solidFill xmlns:a="http://schemas.openxmlformats.org/drawingml/2006/main">
            <a:srgbClr val="FFFFFF"/>
          </a:solidFill>
          <a:ln xmlns:a="http://schemas.openxmlformats.org/drawingml/2006/main" w="9525">
            <a:solidFill>
              <a:srgbClr val="CBD6D8"/>
            </a:solidFill>
          </a:ln>
        </p:spPr>
      </p:sp>
      <p:sp>
        <p:nvSpPr>
          <p:cNvPr id="8" name="">
            <a:extLst xmlns:a="http://schemas.openxmlformats.org/drawingml/2006/main">
              <a:ext uri="{FF2B5EF4-FFF2-40B4-BE49-F238E27FC236}">
                <a16:creationId xmlns:a16="http://schemas.microsoft.com/office/drawing/2014/main" id="{A04C810D-8BD2-401F-AD22-B7CE24A48407}"/>
              </a:ext>
            </a:extLst>
          </p:cNvPr>
          <p:cNvSpPr>
            <a:spLocks xmlns:a="http://schemas.openxmlformats.org/drawingml/2006/main" noGrp="1"/>
          </p:cNvSpPr>
          <p:nvPr/>
        </p:nvSpPr>
        <p:spPr>
          <a:xfrm xmlns:a="http://schemas.openxmlformats.org/drawingml/2006/main">
            <a:off x="9620250" y="1762125"/>
            <a:ext cx="190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14262D"/>
                </a:solidFill>
                <a:latin typeface="Helvetica Neue"/>
                <a:ea typeface="Helvetica Neue"/>
                <a:cs typeface="Helvetica Neue"/>
              </a:defRPr>
            </a:pPr>
            <a:r>
              <a:rPr sz="1500" b="1">
                <a:solidFill>
                  <a:srgbClr val="14262D"/>
                </a:solidFill>
                <a:latin typeface="Helvetica Neue"/>
                <a:ea typeface="Helvetica Neue"/>
                <a:cs typeface="Helvetica Neue"/>
              </a:rPr>
              <a:t>Shared PCA basis</a:t>
            </a:r>
          </a:p>
        </p:txBody>
      </p:sp>
      <p:sp>
        <p:nvSpPr>
          <p:cNvPr id="9" name="">
            <a:extLst xmlns:a="http://schemas.openxmlformats.org/drawingml/2006/main">
              <a:ext uri="{FF2B5EF4-FFF2-40B4-BE49-F238E27FC236}">
                <a16:creationId xmlns:a16="http://schemas.microsoft.com/office/drawing/2014/main" id="{E6019BF6-5BF7-4A0D-A25D-3C23B1C4A9C1}"/>
              </a:ext>
            </a:extLst>
          </p:cNvPr>
          <p:cNvSpPr>
            <a:spLocks xmlns:a="http://schemas.openxmlformats.org/drawingml/2006/main" noGrp="1"/>
          </p:cNvSpPr>
          <p:nvPr/>
        </p:nvSpPr>
        <p:spPr>
          <a:xfrm xmlns:a="http://schemas.openxmlformats.org/drawingml/2006/main">
            <a:off x="9620250" y="2190750"/>
            <a:ext cx="1905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972"/>
          </a:bodyPr>
          <a:lstStyle xmlns:a="http://schemas.openxmlformats.org/drawingml/2006/main"/>
          <a:p xmlns:a="http://schemas.openxmlformats.org/drawingml/2006/main">
            <a:pPr algn="l">
              <a:defRPr sz="1200" b="0">
                <a:solidFill>
                  <a:srgbClr val="51636B"/>
                </a:solidFill>
                <a:latin typeface="Helvetica Neue"/>
                <a:ea typeface="Helvetica Neue"/>
                <a:cs typeface="Helvetica Neue"/>
              </a:defRPr>
            </a:pPr>
            <a:r>
              <a:rPr sz="1200" b="0">
                <a:solidFill>
                  <a:srgbClr val="51636B"/>
                </a:solidFill>
                <a:latin typeface="Helvetica Neue"/>
                <a:ea typeface="Helvetica Neue"/>
                <a:cs typeface="Helvetica Neue"/>
              </a:rPr>
              <a:t>Natural and generated one-hot sequences were fitted together.</a:t>
            </a:r>
          </a:p>
        </p:txBody>
      </p:sp>
      <p:sp>
        <p:nvSpPr>
          <p:cNvPr id="10" name="">
            <a:extLst xmlns:a="http://schemas.openxmlformats.org/drawingml/2006/main">
              <a:ext uri="{FF2B5EF4-FFF2-40B4-BE49-F238E27FC236}">
                <a16:creationId xmlns:a16="http://schemas.microsoft.com/office/drawing/2014/main" id="{91CDC285-4B22-46F6-B63D-635390FA4678}"/>
              </a:ext>
            </a:extLst>
          </p:cNvPr>
          <p:cNvSpPr>
            <a:spLocks xmlns:a="http://schemas.openxmlformats.org/drawingml/2006/main" noGrp="1"/>
          </p:cNvSpPr>
          <p:nvPr/>
        </p:nvSpPr>
        <p:spPr>
          <a:xfrm xmlns:a="http://schemas.openxmlformats.org/drawingml/2006/main">
            <a:off x="9620250" y="3048000"/>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930"/>
          </a:bodyPr>
          <a:lstStyle xmlns:a="http://schemas.openxmlformats.org/drawingml/2006/main"/>
          <a:p xmlns:a="http://schemas.openxmlformats.org/drawingml/2006/main">
            <a:pPr algn="l">
              <a:defRPr sz="1350" b="1">
                <a:solidFill>
                  <a:srgbClr val="14262D"/>
                </a:solidFill>
                <a:latin typeface="Helvetica Neue"/>
                <a:ea typeface="Helvetica Neue"/>
                <a:cs typeface="Helvetica Neue"/>
              </a:defRPr>
            </a:pPr>
            <a:r>
              <a:rPr sz="1350" b="1">
                <a:solidFill>
                  <a:srgbClr val="14262D"/>
                </a:solidFill>
                <a:latin typeface="Helvetica Neue"/>
                <a:ea typeface="Helvetica Neue"/>
                <a:cs typeface="Helvetica Neue"/>
              </a:rPr>
              <a:t>Temperature correlation</a:t>
            </a:r>
          </a:p>
        </p:txBody>
      </p:sp>
      <p:sp>
        <p:nvSpPr>
          <p:cNvPr id="11" name="">
            <a:extLst xmlns:a="http://schemas.openxmlformats.org/drawingml/2006/main">
              <a:ext uri="{FF2B5EF4-FFF2-40B4-BE49-F238E27FC236}">
                <a16:creationId xmlns:a16="http://schemas.microsoft.com/office/drawing/2014/main" id="{50A9F18B-B097-49FE-BF77-885C41B1CC8F}"/>
              </a:ext>
            </a:extLst>
          </p:cNvPr>
          <p:cNvSpPr>
            <a:spLocks xmlns:a="http://schemas.openxmlformats.org/drawingml/2006/main" noGrp="1"/>
          </p:cNvSpPr>
          <p:nvPr/>
        </p:nvSpPr>
        <p:spPr>
          <a:xfrm xmlns:a="http://schemas.openxmlformats.org/drawingml/2006/main">
            <a:off x="9620250" y="3381375"/>
            <a:ext cx="1905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D7634C"/>
                </a:solidFill>
                <a:latin typeface="Helvetica Neue"/>
                <a:ea typeface="Helvetica Neue"/>
                <a:cs typeface="Helvetica Neue"/>
              </a:defRPr>
            </a:pPr>
            <a:r>
              <a:rPr sz="1425" b="1">
                <a:solidFill>
                  <a:srgbClr val="D7634C"/>
                </a:solidFill>
                <a:latin typeface="Helvetica Neue"/>
                <a:ea typeface="Helvetica Neue"/>
                <a:cs typeface="Helvetica Neue"/>
              </a:rPr>
              <a:t>Natural PC1: −0.057</a:t>
            </a:r>
          </a:p>
          <a:p xmlns:a="http://schemas.openxmlformats.org/drawingml/2006/main">
            <a:pPr algn="l">
              <a:defRPr sz="1425" b="1">
                <a:solidFill>
                  <a:srgbClr val="D7634C"/>
                </a:solidFill>
                <a:latin typeface="Helvetica Neue"/>
                <a:ea typeface="Helvetica Neue"/>
                <a:cs typeface="Helvetica Neue"/>
              </a:defRPr>
            </a:pPr>
            <a:r>
              <a:rPr sz="1425" b="1">
                <a:solidFill>
                  <a:srgbClr val="D7634C"/>
                </a:solidFill>
                <a:latin typeface="Helvetica Neue"/>
                <a:ea typeface="Helvetica Neue"/>
                <a:cs typeface="Helvetica Neue"/>
              </a:rPr>
              <a:t>Natural PC2: 0.048</a:t>
            </a:r>
          </a:p>
        </p:txBody>
      </p:sp>
      <p:sp>
        <p:nvSpPr>
          <p:cNvPr id="12" name="">
            <a:extLst xmlns:a="http://schemas.openxmlformats.org/drawingml/2006/main">
              <a:ext uri="{FF2B5EF4-FFF2-40B4-BE49-F238E27FC236}">
                <a16:creationId xmlns:a16="http://schemas.microsoft.com/office/drawing/2014/main" id="{0B254526-ADEA-477E-A2DB-5E03D341DD61}"/>
              </a:ext>
            </a:extLst>
          </p:cNvPr>
          <p:cNvSpPr>
            <a:spLocks xmlns:a="http://schemas.openxmlformats.org/drawingml/2006/main" noGrp="1"/>
          </p:cNvSpPr>
          <p:nvPr/>
        </p:nvSpPr>
        <p:spPr>
          <a:xfrm xmlns:a="http://schemas.openxmlformats.org/drawingml/2006/main">
            <a:off x="9620250" y="4333875"/>
            <a:ext cx="1905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521"/>
          </a:bodyPr>
          <a:lstStyle xmlns:a="http://schemas.openxmlformats.org/drawingml/2006/main"/>
          <a:p xmlns:a="http://schemas.openxmlformats.org/drawingml/2006/main">
            <a:pPr algn="l">
              <a:defRPr sz="1275" b="1">
                <a:solidFill>
                  <a:srgbClr val="0E6B6F"/>
                </a:solidFill>
                <a:latin typeface="Helvetica Neue"/>
                <a:ea typeface="Helvetica Neue"/>
                <a:cs typeface="Helvetica Neue"/>
              </a:defRPr>
            </a:pPr>
            <a:r>
              <a:rPr sz="1275" b="1">
                <a:solidFill>
                  <a:srgbClr val="0E6B6F"/>
                </a:solidFill>
                <a:latin typeface="Helvetica Neue"/>
                <a:ea typeface="Helvetica Neue"/>
                <a:cs typeface="Helvetica Neue"/>
              </a:rPr>
              <a:t>Generated sequences form a broader, smoother cloud and lose distinct natural subfamily clusters.</a:t>
            </a:r>
          </a:p>
        </p:txBody>
      </p:sp>
    </p:spTree>
    <p:extLst>
      <p:ext uri="{BB962C8B-B14F-4D97-AF65-F5344CB8AC3E}">
        <p14:creationId xmlns:p14="http://schemas.microsoft.com/office/powerpoint/2010/main" val="551890277"/>
      </p:ext>
    </p:extLst>
  </p:cSld>
</p:sld>
</file>

<file path=ppt/slides/slide10.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4502700-07A7-4B5B-8723-75BE1641EE24}"/>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0E6B6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1C4CC37-A722-468B-8661-3C8DE585C86A}"/>
              </a:ext>
            </a:extLst>
          </p:cNvPr>
          <p:cNvSpPr>
            <a:spLocks xmlns:a="http://schemas.openxmlformats.org/drawingml/2006/main" noGrp="1"/>
          </p:cNvSpPr>
          <p:nvPr/>
        </p:nvSpPr>
        <p:spPr>
          <a:xfrm xmlns:a="http://schemas.openxmlformats.org/drawingml/2006/main">
            <a:off x="552450" y="28575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a:solidFill>
                  <a:srgbClr val="0E6B6F"/>
                </a:solidFill>
                <a:latin typeface="Helvetica Neue"/>
                <a:ea typeface="Helvetica Neue"/>
                <a:cs typeface="Helvetica Neue"/>
              </a:defRPr>
            </a:pPr>
            <a:r>
              <a:rPr sz="900" b="1">
                <a:solidFill>
                  <a:srgbClr val="0E6B6F"/>
                </a:solidFill>
                <a:latin typeface="Helvetica Neue"/>
                <a:ea typeface="Helvetica Neue"/>
                <a:cs typeface="Helvetica Neue"/>
              </a:rPr>
              <a:t>POSITIVE CONTROL</a:t>
            </a:r>
          </a:p>
        </p:txBody>
      </p:sp>
      <p:sp>
        <p:nvSpPr>
          <p:cNvPr id="3" name="">
            <a:extLst xmlns:a="http://schemas.openxmlformats.org/drawingml/2006/main">
              <a:ext uri="{FF2B5EF4-FFF2-40B4-BE49-F238E27FC236}">
                <a16:creationId xmlns:a16="http://schemas.microsoft.com/office/drawing/2014/main" id="{4596FA04-4D45-4828-8EC5-97EDB92861E3}"/>
              </a:ext>
            </a:extLst>
          </p:cNvPr>
          <p:cNvSpPr>
            <a:spLocks xmlns:a="http://schemas.openxmlformats.org/drawingml/2006/main" noGrp="1"/>
          </p:cNvSpPr>
          <p:nvPr/>
        </p:nvSpPr>
        <p:spPr>
          <a:xfrm xmlns:a="http://schemas.openxmlformats.org/drawingml/2006/main">
            <a:off x="552450" y="495300"/>
            <a:ext cx="1081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14262D"/>
                </a:solidFill>
                <a:latin typeface="Helvetica Neue"/>
                <a:ea typeface="Helvetica Neue"/>
                <a:cs typeface="Helvetica Neue"/>
              </a:defRPr>
            </a:pPr>
            <a:r>
              <a:rPr sz="2400" b="1">
                <a:solidFill>
                  <a:srgbClr val="14262D"/>
                </a:solidFill>
                <a:latin typeface="Helvetica Neue"/>
                <a:ea typeface="Helvetica Neue"/>
                <a:cs typeface="Helvetica Neue"/>
              </a:rPr>
              <a:t>PCA conditioning recovers the major sequence-space clusters</a:t>
            </a:r>
          </a:p>
        </p:txBody>
      </p:sp>
      <p:sp>
        <p:nvSpPr>
          <p:cNvPr id="4" name="">
            <a:extLst xmlns:a="http://schemas.openxmlformats.org/drawingml/2006/main">
              <a:ext uri="{FF2B5EF4-FFF2-40B4-BE49-F238E27FC236}">
                <a16:creationId xmlns:a16="http://schemas.microsoft.com/office/drawing/2014/main" id="{E42437B8-5B4E-4912-AF76-544725D15A69}"/>
              </a:ext>
            </a:extLst>
          </p:cNvPr>
          <p:cNvSpPr>
            <a:spLocks xmlns:a="http://schemas.openxmlformats.org/drawingml/2006/main" noGrp="1"/>
          </p:cNvSpPr>
          <p:nvPr/>
        </p:nvSpPr>
        <p:spPr>
          <a:xfrm xmlns:a="http://schemas.openxmlformats.org/drawingml/2006/main">
            <a:off x="552450" y="1066800"/>
            <a:ext cx="11049000" cy="19050"/>
          </a:xfrm>
          <a:prstGeom xmlns:a="http://schemas.openxmlformats.org/drawingml/2006/main" prst="rect">
            <a:avLst/>
          </a:prstGeom>
          <a:solidFill xmlns:a="http://schemas.openxmlformats.org/drawingml/2006/main">
            <a:srgbClr val="CBD6D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8E5B8E1-5787-4A75-B18B-E105A4E80C91}"/>
              </a:ext>
            </a:extLst>
          </p:cNvPr>
          <p:cNvSpPr>
            <a:spLocks xmlns:a="http://schemas.openxmlformats.org/drawingml/2006/main" noGrp="1"/>
          </p:cNvSpPr>
          <p:nvPr/>
        </p:nvSpPr>
        <p:spPr>
          <a:xfrm xmlns:a="http://schemas.openxmlformats.org/drawingml/2006/main">
            <a:off x="11144250" y="6477000"/>
            <a:ext cx="47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r">
              <a:defRPr sz="825" b="0">
                <a:solidFill>
                  <a:srgbClr val="51636B"/>
                </a:solidFill>
                <a:latin typeface="Helvetica Neue"/>
                <a:ea typeface="Helvetica Neue"/>
                <a:cs typeface="Helvetica Neue"/>
              </a:defRPr>
            </a:pPr>
            <a:r>
              <a:rPr sz="825" b="0">
                <a:solidFill>
                  <a:srgbClr val="51636B"/>
                </a:solidFill>
                <a:latin typeface="Helvetica Neue"/>
                <a:ea typeface="Helvetica Neue"/>
                <a:cs typeface="Helvetica Neue"/>
              </a:rPr>
              <a:t>10</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1697755b3d3f4c26"/>
          <a:stretch xmlns:a="http://schemas.openxmlformats.org/drawingml/2006/main"/>
        </p:blipFill>
        <p:spPr>
          <a:xfrm xmlns:a="http://schemas.openxmlformats.org/drawingml/2006/main">
            <a:off x="428625" y="2212954"/>
            <a:ext cx="8858250" cy="2813093"/>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7B64E0CF-03E3-43E4-ABC2-33B2B5175DA8}"/>
              </a:ext>
            </a:extLst>
          </p:cNvPr>
          <p:cNvSpPr>
            <a:spLocks xmlns:a="http://schemas.openxmlformats.org/drawingml/2006/main" noGrp="1"/>
          </p:cNvSpPr>
          <p:nvPr/>
        </p:nvSpPr>
        <p:spPr>
          <a:xfrm xmlns:a="http://schemas.openxmlformats.org/drawingml/2006/main">
            <a:off x="9429750" y="1524000"/>
            <a:ext cx="2333625" cy="3857625"/>
          </a:xfrm>
          <a:prstGeom xmlns:a="http://schemas.openxmlformats.org/drawingml/2006/main" prst="roundRect">
            <a:avLst>
              <a:gd name="adj" fmla="val 2449"/>
            </a:avLst>
          </a:prstGeom>
          <a:solidFill xmlns:a="http://schemas.openxmlformats.org/drawingml/2006/main">
            <a:srgbClr val="FFFFFF"/>
          </a:solidFill>
          <a:ln xmlns:a="http://schemas.openxmlformats.org/drawingml/2006/main" w="9525">
            <a:solidFill>
              <a:srgbClr val="CBD6D8"/>
            </a:solidFill>
          </a:ln>
        </p:spPr>
      </p:sp>
      <p:sp>
        <p:nvSpPr>
          <p:cNvPr id="8" name="">
            <a:extLst xmlns:a="http://schemas.openxmlformats.org/drawingml/2006/main">
              <a:ext uri="{FF2B5EF4-FFF2-40B4-BE49-F238E27FC236}">
                <a16:creationId xmlns:a16="http://schemas.microsoft.com/office/drawing/2014/main" id="{BF018120-49D7-46B4-8137-95A6536DF6F9}"/>
              </a:ext>
            </a:extLst>
          </p:cNvPr>
          <p:cNvSpPr>
            <a:spLocks xmlns:a="http://schemas.openxmlformats.org/drawingml/2006/main" noGrp="1"/>
          </p:cNvSpPr>
          <p:nvPr/>
        </p:nvSpPr>
        <p:spPr>
          <a:xfrm xmlns:a="http://schemas.openxmlformats.org/drawingml/2006/main">
            <a:off x="9667875" y="1762125"/>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185"/>
          </a:bodyPr>
          <a:lstStyle xmlns:a="http://schemas.openxmlformats.org/drawingml/2006/main"/>
          <a:p xmlns:a="http://schemas.openxmlformats.org/drawingml/2006/main">
            <a:pPr algn="l">
              <a:defRPr sz="1350" b="1">
                <a:solidFill>
                  <a:srgbClr val="14262D"/>
                </a:solidFill>
                <a:latin typeface="Helvetica Neue"/>
                <a:ea typeface="Helvetica Neue"/>
                <a:cs typeface="Helvetica Neue"/>
              </a:defRPr>
            </a:pPr>
            <a:r>
              <a:rPr sz="1350" b="1">
                <a:solidFill>
                  <a:srgbClr val="14262D"/>
                </a:solidFill>
                <a:latin typeface="Helvetica Neue"/>
                <a:ea typeface="Helvetica Neue"/>
                <a:cs typeface="Helvetica Neue"/>
              </a:rPr>
              <a:t>Conditioning vector</a:t>
            </a:r>
          </a:p>
        </p:txBody>
      </p:sp>
      <p:sp>
        <p:nvSpPr>
          <p:cNvPr id="9" name="">
            <a:extLst xmlns:a="http://schemas.openxmlformats.org/drawingml/2006/main">
              <a:ext uri="{FF2B5EF4-FFF2-40B4-BE49-F238E27FC236}">
                <a16:creationId xmlns:a16="http://schemas.microsoft.com/office/drawing/2014/main" id="{AFD589C2-DF41-4513-A8CE-17045EE99EA2}"/>
              </a:ext>
            </a:extLst>
          </p:cNvPr>
          <p:cNvSpPr>
            <a:spLocks xmlns:a="http://schemas.openxmlformats.org/drawingml/2006/main" noGrp="1"/>
          </p:cNvSpPr>
          <p:nvPr/>
        </p:nvSpPr>
        <p:spPr>
          <a:xfrm xmlns:a="http://schemas.openxmlformats.org/drawingml/2006/main">
            <a:off x="9667875" y="2095500"/>
            <a:ext cx="1857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0E6B6F"/>
                </a:solidFill>
                <a:latin typeface="Helvetica Neue"/>
                <a:ea typeface="Helvetica Neue"/>
                <a:cs typeface="Helvetica Neue"/>
              </a:defRPr>
            </a:pPr>
            <a:r>
              <a:rPr sz="1725" b="1">
                <a:solidFill>
                  <a:srgbClr val="0E6B6F"/>
                </a:solidFill>
                <a:latin typeface="Helvetica Neue"/>
                <a:ea typeface="Helvetica Neue"/>
                <a:cs typeface="Helvetica Neue"/>
              </a:rPr>
              <a:t>y = (PC1, PC2)</a:t>
            </a:r>
          </a:p>
        </p:txBody>
      </p:sp>
      <p:sp>
        <p:nvSpPr>
          <p:cNvPr id="10" name="">
            <a:extLst xmlns:a="http://schemas.openxmlformats.org/drawingml/2006/main">
              <a:ext uri="{FF2B5EF4-FFF2-40B4-BE49-F238E27FC236}">
                <a16:creationId xmlns:a16="http://schemas.microsoft.com/office/drawing/2014/main" id="{953B5506-F53C-44EB-BF0D-5BD866A0704B}"/>
              </a:ext>
            </a:extLst>
          </p:cNvPr>
          <p:cNvSpPr>
            <a:spLocks xmlns:a="http://schemas.openxmlformats.org/drawingml/2006/main" noGrp="1"/>
          </p:cNvSpPr>
          <p:nvPr/>
        </p:nvSpPr>
        <p:spPr>
          <a:xfrm xmlns:a="http://schemas.openxmlformats.org/drawingml/2006/main">
            <a:off x="9667875" y="285750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185"/>
          </a:bodyPr>
          <a:lstStyle xmlns:a="http://schemas.openxmlformats.org/drawingml/2006/main"/>
          <a:p xmlns:a="http://schemas.openxmlformats.org/drawingml/2006/main">
            <a:pPr algn="l">
              <a:defRPr sz="1350" b="1">
                <a:solidFill>
                  <a:srgbClr val="14262D"/>
                </a:solidFill>
                <a:latin typeface="Helvetica Neue"/>
                <a:ea typeface="Helvetica Neue"/>
                <a:cs typeface="Helvetica Neue"/>
              </a:defRPr>
            </a:pPr>
            <a:r>
              <a:rPr sz="1350" b="1">
                <a:solidFill>
                  <a:srgbClr val="14262D"/>
                </a:solidFill>
                <a:latin typeface="Helvetica Neue"/>
                <a:ea typeface="Helvetica Neue"/>
                <a:cs typeface="Helvetica Neue"/>
              </a:rPr>
              <a:t>Paired recovery</a:t>
            </a:r>
          </a:p>
        </p:txBody>
      </p:sp>
      <p:sp>
        <p:nvSpPr>
          <p:cNvPr id="11" name="">
            <a:extLst xmlns:a="http://schemas.openxmlformats.org/drawingml/2006/main">
              <a:ext uri="{FF2B5EF4-FFF2-40B4-BE49-F238E27FC236}">
                <a16:creationId xmlns:a16="http://schemas.microsoft.com/office/drawing/2014/main" id="{9534FB50-018D-4FD2-B0F3-6B9845757987}"/>
              </a:ext>
            </a:extLst>
          </p:cNvPr>
          <p:cNvSpPr>
            <a:spLocks xmlns:a="http://schemas.openxmlformats.org/drawingml/2006/main" noGrp="1"/>
          </p:cNvSpPr>
          <p:nvPr/>
        </p:nvSpPr>
        <p:spPr>
          <a:xfrm xmlns:a="http://schemas.openxmlformats.org/drawingml/2006/main">
            <a:off x="9667875" y="3190875"/>
            <a:ext cx="1857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D7634C"/>
                </a:solidFill>
                <a:latin typeface="Helvetica Neue"/>
                <a:ea typeface="Helvetica Neue"/>
                <a:cs typeface="Helvetica Neue"/>
              </a:defRPr>
            </a:pPr>
            <a:r>
              <a:rPr sz="1650" b="1">
                <a:solidFill>
                  <a:srgbClr val="D7634C"/>
                </a:solidFill>
                <a:latin typeface="Helvetica Neue"/>
                <a:ea typeface="Helvetica Neue"/>
                <a:cs typeface="Helvetica Neue"/>
              </a:rPr>
              <a:t>PC1  r = 0.951</a:t>
            </a:r>
          </a:p>
          <a:p xmlns:a="http://schemas.openxmlformats.org/drawingml/2006/main">
            <a:pPr algn="l">
              <a:defRPr sz="1650" b="1">
                <a:solidFill>
                  <a:srgbClr val="D7634C"/>
                </a:solidFill>
                <a:latin typeface="Helvetica Neue"/>
                <a:ea typeface="Helvetica Neue"/>
                <a:cs typeface="Helvetica Neue"/>
              </a:defRPr>
            </a:pPr>
            <a:r>
              <a:rPr sz="1650" b="1">
                <a:solidFill>
                  <a:srgbClr val="D7634C"/>
                </a:solidFill>
                <a:latin typeface="Helvetica Neue"/>
                <a:ea typeface="Helvetica Neue"/>
                <a:cs typeface="Helvetica Neue"/>
              </a:rPr>
              <a:t>PC2  r = 0.915</a:t>
            </a:r>
          </a:p>
        </p:txBody>
      </p:sp>
      <p:sp>
        <p:nvSpPr>
          <p:cNvPr id="12" name="">
            <a:extLst xmlns:a="http://schemas.openxmlformats.org/drawingml/2006/main">
              <a:ext uri="{FF2B5EF4-FFF2-40B4-BE49-F238E27FC236}">
                <a16:creationId xmlns:a16="http://schemas.microsoft.com/office/drawing/2014/main" id="{2F6B252F-617A-42F1-8E29-7A0E16087E25}"/>
              </a:ext>
            </a:extLst>
          </p:cNvPr>
          <p:cNvSpPr>
            <a:spLocks xmlns:a="http://schemas.openxmlformats.org/drawingml/2006/main" noGrp="1"/>
          </p:cNvSpPr>
          <p:nvPr/>
        </p:nvSpPr>
        <p:spPr>
          <a:xfrm xmlns:a="http://schemas.openxmlformats.org/drawingml/2006/main">
            <a:off x="9667875" y="4191000"/>
            <a:ext cx="1857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244"/>
          </a:bodyPr>
          <a:lstStyle xmlns:a="http://schemas.openxmlformats.org/drawingml/2006/main"/>
          <a:p xmlns:a="http://schemas.openxmlformats.org/drawingml/2006/main">
            <a:pPr algn="l">
              <a:defRPr sz="1275" b="1">
                <a:solidFill>
                  <a:srgbClr val="0E6B6F"/>
                </a:solidFill>
                <a:latin typeface="Helvetica Neue"/>
                <a:ea typeface="Helvetica Neue"/>
                <a:cs typeface="Helvetica Neue"/>
              </a:defRPr>
            </a:pPr>
            <a:r>
              <a:rPr sz="1275" b="1">
                <a:solidFill>
                  <a:srgbClr val="0E6B6F"/>
                </a:solidFill>
                <a:latin typeface="Helvetica Neue"/>
                <a:ea typeface="Helvetica Neue"/>
                <a:cs typeface="Helvetica Neue"/>
              </a:rPr>
              <a:t>The same architecture can recover the natural clusters when the conditioning variables specify them.</a:t>
            </a:r>
          </a:p>
        </p:txBody>
      </p:sp>
    </p:spTree>
    <p:extLst>
      <p:ext uri="{BB962C8B-B14F-4D97-AF65-F5344CB8AC3E}">
        <p14:creationId xmlns:p14="http://schemas.microsoft.com/office/powerpoint/2010/main" val="1608986251"/>
      </p:ext>
    </p:extLst>
  </p:cSld>
</p:sld>
</file>

<file path=ppt/slides/slide11.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91CFDB0-DD5B-4CBD-8F55-46A5B5029EFB}"/>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0E6B6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99E1C6-ED7B-48CC-91CF-D1E26CA6653F}"/>
              </a:ext>
            </a:extLst>
          </p:cNvPr>
          <p:cNvSpPr>
            <a:spLocks xmlns:a="http://schemas.openxmlformats.org/drawingml/2006/main" noGrp="1"/>
          </p:cNvSpPr>
          <p:nvPr/>
        </p:nvSpPr>
        <p:spPr>
          <a:xfrm xmlns:a="http://schemas.openxmlformats.org/drawingml/2006/main">
            <a:off x="552450" y="28575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a:solidFill>
                  <a:srgbClr val="0E6B6F"/>
                </a:solidFill>
                <a:latin typeface="Helvetica Neue"/>
                <a:ea typeface="Helvetica Neue"/>
                <a:cs typeface="Helvetica Neue"/>
              </a:defRPr>
            </a:pPr>
            <a:r>
              <a:rPr sz="900" b="1">
                <a:solidFill>
                  <a:srgbClr val="0E6B6F"/>
                </a:solidFill>
                <a:latin typeface="Helvetica Neue"/>
                <a:ea typeface="Helvetica Neue"/>
                <a:cs typeface="Helvetica Neue"/>
              </a:rPr>
              <a:t>TEMPERATURE LADDER</a:t>
            </a:r>
          </a:p>
        </p:txBody>
      </p:sp>
      <p:sp>
        <p:nvSpPr>
          <p:cNvPr id="3" name="">
            <a:extLst xmlns:a="http://schemas.openxmlformats.org/drawingml/2006/main">
              <a:ext uri="{FF2B5EF4-FFF2-40B4-BE49-F238E27FC236}">
                <a16:creationId xmlns:a16="http://schemas.microsoft.com/office/drawing/2014/main" id="{0DCFCAE9-C105-46AE-A5B1-A04CDDBD056B}"/>
              </a:ext>
            </a:extLst>
          </p:cNvPr>
          <p:cNvSpPr>
            <a:spLocks xmlns:a="http://schemas.openxmlformats.org/drawingml/2006/main" noGrp="1"/>
          </p:cNvSpPr>
          <p:nvPr/>
        </p:nvSpPr>
        <p:spPr>
          <a:xfrm xmlns:a="http://schemas.openxmlformats.org/drawingml/2006/main">
            <a:off x="552450" y="495300"/>
            <a:ext cx="1081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14262D"/>
                </a:solidFill>
                <a:latin typeface="Helvetica Neue"/>
                <a:ea typeface="Helvetica Neue"/>
                <a:cs typeface="Helvetica Neue"/>
              </a:defRPr>
            </a:pPr>
            <a:r>
              <a:rPr sz="2400" b="1">
                <a:solidFill>
                  <a:srgbClr val="14262D"/>
                </a:solidFill>
                <a:latin typeface="Helvetica Neue"/>
                <a:ea typeface="Helvetica Neue"/>
                <a:cs typeface="Helvetica Neue"/>
              </a:rPr>
              <a:t>Likelihood profiles recover the conditioning temperature in expectation</a:t>
            </a:r>
          </a:p>
        </p:txBody>
      </p:sp>
      <p:sp>
        <p:nvSpPr>
          <p:cNvPr id="4" name="">
            <a:extLst xmlns:a="http://schemas.openxmlformats.org/drawingml/2006/main">
              <a:ext uri="{FF2B5EF4-FFF2-40B4-BE49-F238E27FC236}">
                <a16:creationId xmlns:a16="http://schemas.microsoft.com/office/drawing/2014/main" id="{C6A4FF46-8C42-4905-BAF0-BAFB9EEE746B}"/>
              </a:ext>
            </a:extLst>
          </p:cNvPr>
          <p:cNvSpPr>
            <a:spLocks xmlns:a="http://schemas.openxmlformats.org/drawingml/2006/main" noGrp="1"/>
          </p:cNvSpPr>
          <p:nvPr/>
        </p:nvSpPr>
        <p:spPr>
          <a:xfrm xmlns:a="http://schemas.openxmlformats.org/drawingml/2006/main">
            <a:off x="552450" y="1066800"/>
            <a:ext cx="11049000" cy="19050"/>
          </a:xfrm>
          <a:prstGeom xmlns:a="http://schemas.openxmlformats.org/drawingml/2006/main" prst="rect">
            <a:avLst/>
          </a:prstGeom>
          <a:solidFill xmlns:a="http://schemas.openxmlformats.org/drawingml/2006/main">
            <a:srgbClr val="CBD6D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0984F0E-7132-4FE7-9F1C-ADA80AA48049}"/>
              </a:ext>
            </a:extLst>
          </p:cNvPr>
          <p:cNvSpPr>
            <a:spLocks xmlns:a="http://schemas.openxmlformats.org/drawingml/2006/main" noGrp="1"/>
          </p:cNvSpPr>
          <p:nvPr/>
        </p:nvSpPr>
        <p:spPr>
          <a:xfrm xmlns:a="http://schemas.openxmlformats.org/drawingml/2006/main">
            <a:off x="11144250" y="6477000"/>
            <a:ext cx="47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r">
              <a:defRPr sz="825" b="0">
                <a:solidFill>
                  <a:srgbClr val="51636B"/>
                </a:solidFill>
                <a:latin typeface="Helvetica Neue"/>
                <a:ea typeface="Helvetica Neue"/>
                <a:cs typeface="Helvetica Neue"/>
              </a:defRPr>
            </a:pPr>
            <a:r>
              <a:rPr sz="825" b="0">
                <a:solidFill>
                  <a:srgbClr val="51636B"/>
                </a:solidFill>
                <a:latin typeface="Helvetica Neue"/>
                <a:ea typeface="Helvetica Neue"/>
                <a:cs typeface="Helvetica Neue"/>
              </a:rPr>
              <a:t>11</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c5573726606a4579"/>
          <a:stretch xmlns:a="http://schemas.openxmlformats.org/drawingml/2006/main"/>
        </p:blipFill>
        <p:spPr>
          <a:xfrm xmlns:a="http://schemas.openxmlformats.org/drawingml/2006/main">
            <a:off x="694972" y="1381125"/>
            <a:ext cx="6134806" cy="4476750"/>
          </a:xfrm>
          <a:prstGeom xmlns:a="http://schemas.openxmlformats.org/drawingml/2006/main" prst="rect">
            <a:avLst/>
          </a:prstGeom>
        </p:spPr>
      </p:pic>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d56dcb274f4f466b"/>
          <a:stretch xmlns:a="http://schemas.openxmlformats.org/drawingml/2006/main"/>
        </p:blipFill>
        <p:spPr>
          <a:xfrm xmlns:a="http://schemas.openxmlformats.org/drawingml/2006/main">
            <a:off x="7239000" y="1846385"/>
            <a:ext cx="4191000" cy="3546231"/>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21E1DD8E-179B-4598-A5A5-1964A8E8BA39}"/>
              </a:ext>
            </a:extLst>
          </p:cNvPr>
          <p:cNvSpPr>
            <a:spLocks xmlns:a="http://schemas.openxmlformats.org/drawingml/2006/main" noGrp="1"/>
          </p:cNvSpPr>
          <p:nvPr/>
        </p:nvSpPr>
        <p:spPr>
          <a:xfrm xmlns:a="http://schemas.openxmlformats.org/drawingml/2006/main">
            <a:off x="1238250" y="5905500"/>
            <a:ext cx="971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ctr">
              <a:defRPr sz="1350" b="1">
                <a:solidFill>
                  <a:srgbClr val="14262D"/>
                </a:solidFill>
                <a:latin typeface="Helvetica Neue"/>
                <a:ea typeface="Helvetica Neue"/>
                <a:cs typeface="Helvetica Neue"/>
              </a:defRPr>
            </a:pPr>
            <a:r>
              <a:rPr sz="1350" b="1">
                <a:solidFill>
                  <a:srgbClr val="14262D"/>
                </a:solidFill>
                <a:latin typeface="Helvetica Neue"/>
                <a:ea typeface="Helvetica Neue"/>
                <a:cs typeface="Helvetica Neue"/>
              </a:rPr>
              <a:t>12,000 sequences: 2,000 each at 60, 70, 75, 80, 85, and 90 °C</a:t>
            </a:r>
          </a:p>
        </p:txBody>
      </p:sp>
      <p:sp>
        <p:nvSpPr>
          <p:cNvPr id="9" name="">
            <a:extLst xmlns:a="http://schemas.openxmlformats.org/drawingml/2006/main">
              <a:ext uri="{FF2B5EF4-FFF2-40B4-BE49-F238E27FC236}">
                <a16:creationId xmlns:a16="http://schemas.microsoft.com/office/drawing/2014/main" id="{E63BAC55-203F-4091-B9EE-B9325778BE92}"/>
              </a:ext>
            </a:extLst>
          </p:cNvPr>
          <p:cNvSpPr>
            <a:spLocks xmlns:a="http://schemas.openxmlformats.org/drawingml/2006/main" noGrp="1"/>
          </p:cNvSpPr>
          <p:nvPr/>
        </p:nvSpPr>
        <p:spPr>
          <a:xfrm xmlns:a="http://schemas.openxmlformats.org/drawingml/2006/main">
            <a:off x="1143000" y="6229350"/>
            <a:ext cx="990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834"/>
          </a:bodyPr>
          <a:lstStyle xmlns:a="http://schemas.openxmlformats.org/drawingml/2006/main"/>
          <a:p xmlns:a="http://schemas.openxmlformats.org/drawingml/2006/main">
            <a:pPr algn="ctr">
              <a:defRPr sz="1200" b="0">
                <a:solidFill>
                  <a:srgbClr val="51636B"/>
                </a:solidFill>
                <a:latin typeface="Helvetica Neue"/>
                <a:ea typeface="Helvetica Neue"/>
                <a:cs typeface="Helvetica Neue"/>
              </a:defRPr>
            </a:pPr>
            <a:r>
              <a:rPr sz="1200" b="0">
                <a:solidFill>
                  <a:srgbClr val="51636B"/>
                </a:solidFill>
                <a:latin typeface="Helvetica Neue"/>
                <a:ea typeface="Helvetica Neue"/>
                <a:cs typeface="Helvetica Neue"/>
              </a:rPr>
              <a:t>Every ensemble’s mean log-likelihood peaks at its generation temperature. Individual exact recovery is 29.6%; same or adjacent ladder point is 61.1%.</a:t>
            </a:r>
          </a:p>
        </p:txBody>
      </p:sp>
    </p:spTree>
    <p:extLst>
      <p:ext uri="{BB962C8B-B14F-4D97-AF65-F5344CB8AC3E}">
        <p14:creationId xmlns:p14="http://schemas.microsoft.com/office/powerpoint/2010/main" val="1482494286"/>
      </p:ext>
    </p:extLst>
  </p:cSld>
</p:sld>
</file>

<file path=ppt/slides/slide12.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535CE69-2A2D-4374-89ED-53B47C04CBCA}"/>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0E6B6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268102B-1516-4B0B-9065-7A03EFA4348F}"/>
              </a:ext>
            </a:extLst>
          </p:cNvPr>
          <p:cNvSpPr>
            <a:spLocks xmlns:a="http://schemas.openxmlformats.org/drawingml/2006/main" noGrp="1"/>
          </p:cNvSpPr>
          <p:nvPr/>
        </p:nvSpPr>
        <p:spPr>
          <a:xfrm xmlns:a="http://schemas.openxmlformats.org/drawingml/2006/main">
            <a:off x="552450" y="28575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a:solidFill>
                  <a:srgbClr val="0E6B6F"/>
                </a:solidFill>
                <a:latin typeface="Helvetica Neue"/>
                <a:ea typeface="Helvetica Neue"/>
                <a:cs typeface="Helvetica Neue"/>
              </a:defRPr>
            </a:pPr>
            <a:r>
              <a:rPr sz="900" b="1">
                <a:solidFill>
                  <a:srgbClr val="0E6B6F"/>
                </a:solidFill>
                <a:latin typeface="Helvetica Neue"/>
                <a:ea typeface="Helvetica Neue"/>
                <a:cs typeface="Helvetica Neue"/>
              </a:rPr>
              <a:t>TEMPERATURE LADDER</a:t>
            </a:r>
          </a:p>
        </p:txBody>
      </p:sp>
      <p:sp>
        <p:nvSpPr>
          <p:cNvPr id="3" name="">
            <a:extLst xmlns:a="http://schemas.openxmlformats.org/drawingml/2006/main">
              <a:ext uri="{FF2B5EF4-FFF2-40B4-BE49-F238E27FC236}">
                <a16:creationId xmlns:a16="http://schemas.microsoft.com/office/drawing/2014/main" id="{0E386054-71A7-4BF4-A104-077510136C20}"/>
              </a:ext>
            </a:extLst>
          </p:cNvPr>
          <p:cNvSpPr>
            <a:spLocks xmlns:a="http://schemas.openxmlformats.org/drawingml/2006/main" noGrp="1"/>
          </p:cNvSpPr>
          <p:nvPr/>
        </p:nvSpPr>
        <p:spPr>
          <a:xfrm xmlns:a="http://schemas.openxmlformats.org/drawingml/2006/main">
            <a:off x="552450" y="495300"/>
            <a:ext cx="1081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14262D"/>
                </a:solidFill>
                <a:latin typeface="Helvetica Neue"/>
                <a:ea typeface="Helvetica Neue"/>
                <a:cs typeface="Helvetica Neue"/>
              </a:defRPr>
            </a:pPr>
            <a:r>
              <a:rPr sz="2400" b="1">
                <a:solidFill>
                  <a:srgbClr val="14262D"/>
                </a:solidFill>
                <a:latin typeface="Helvetica Neue"/>
                <a:ea typeface="Helvetica Neue"/>
                <a:cs typeface="Helvetica Neue"/>
              </a:rPr>
              <a:t>High-temperature sampling retains substantial sequence diversity</a:t>
            </a:r>
          </a:p>
        </p:txBody>
      </p:sp>
      <p:sp>
        <p:nvSpPr>
          <p:cNvPr id="4" name="">
            <a:extLst xmlns:a="http://schemas.openxmlformats.org/drawingml/2006/main">
              <a:ext uri="{FF2B5EF4-FFF2-40B4-BE49-F238E27FC236}">
                <a16:creationId xmlns:a16="http://schemas.microsoft.com/office/drawing/2014/main" id="{429BE0F2-6000-4E6C-9E81-185B5BB18534}"/>
              </a:ext>
            </a:extLst>
          </p:cNvPr>
          <p:cNvSpPr>
            <a:spLocks xmlns:a="http://schemas.openxmlformats.org/drawingml/2006/main" noGrp="1"/>
          </p:cNvSpPr>
          <p:nvPr/>
        </p:nvSpPr>
        <p:spPr>
          <a:xfrm xmlns:a="http://schemas.openxmlformats.org/drawingml/2006/main">
            <a:off x="552450" y="1066800"/>
            <a:ext cx="11049000" cy="19050"/>
          </a:xfrm>
          <a:prstGeom xmlns:a="http://schemas.openxmlformats.org/drawingml/2006/main" prst="rect">
            <a:avLst/>
          </a:prstGeom>
          <a:solidFill xmlns:a="http://schemas.openxmlformats.org/drawingml/2006/main">
            <a:srgbClr val="CBD6D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C51BC34-85E5-497C-826D-330E582F175F}"/>
              </a:ext>
            </a:extLst>
          </p:cNvPr>
          <p:cNvSpPr>
            <a:spLocks xmlns:a="http://schemas.openxmlformats.org/drawingml/2006/main" noGrp="1"/>
          </p:cNvSpPr>
          <p:nvPr/>
        </p:nvSpPr>
        <p:spPr>
          <a:xfrm xmlns:a="http://schemas.openxmlformats.org/drawingml/2006/main">
            <a:off x="11144250" y="6477000"/>
            <a:ext cx="47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r">
              <a:defRPr sz="825" b="0">
                <a:solidFill>
                  <a:srgbClr val="51636B"/>
                </a:solidFill>
                <a:latin typeface="Helvetica Neue"/>
                <a:ea typeface="Helvetica Neue"/>
                <a:cs typeface="Helvetica Neue"/>
              </a:defRPr>
            </a:pPr>
            <a:r>
              <a:rPr sz="825" b="0">
                <a:solidFill>
                  <a:srgbClr val="51636B"/>
                </a:solidFill>
                <a:latin typeface="Helvetica Neue"/>
                <a:ea typeface="Helvetica Neue"/>
                <a:cs typeface="Helvetica Neue"/>
              </a:rPr>
              <a:t>12</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afb7d3fee4794dfc"/>
          <a:stretch xmlns:a="http://schemas.openxmlformats.org/drawingml/2006/main"/>
        </p:blipFill>
        <p:spPr>
          <a:xfrm xmlns:a="http://schemas.openxmlformats.org/drawingml/2006/main">
            <a:off x="619125" y="1995034"/>
            <a:ext cx="7524750" cy="3296557"/>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B5D416BF-800E-4844-BE53-58FA266AB619}"/>
              </a:ext>
            </a:extLst>
          </p:cNvPr>
          <p:cNvSpPr>
            <a:spLocks xmlns:a="http://schemas.openxmlformats.org/drawingml/2006/main" noGrp="1"/>
          </p:cNvSpPr>
          <p:nvPr/>
        </p:nvSpPr>
        <p:spPr>
          <a:xfrm xmlns:a="http://schemas.openxmlformats.org/drawingml/2006/main">
            <a:off x="8429625" y="1571625"/>
            <a:ext cx="2952750" cy="3714750"/>
          </a:xfrm>
          <a:prstGeom xmlns:a="http://schemas.openxmlformats.org/drawingml/2006/main" prst="roundRect">
            <a:avLst>
              <a:gd name="adj" fmla="val 1935"/>
            </a:avLst>
          </a:prstGeom>
          <a:solidFill xmlns:a="http://schemas.openxmlformats.org/drawingml/2006/main">
            <a:srgbClr val="FFFFFF"/>
          </a:solidFill>
          <a:ln xmlns:a="http://schemas.openxmlformats.org/drawingml/2006/main" w="9525">
            <a:solidFill>
              <a:srgbClr val="CBD6D8"/>
            </a:solidFill>
          </a:ln>
        </p:spPr>
      </p:sp>
      <p:sp>
        <p:nvSpPr>
          <p:cNvPr id="8" name="">
            <a:extLst xmlns:a="http://schemas.openxmlformats.org/drawingml/2006/main">
              <a:ext uri="{FF2B5EF4-FFF2-40B4-BE49-F238E27FC236}">
                <a16:creationId xmlns:a16="http://schemas.microsoft.com/office/drawing/2014/main" id="{5B943321-8D9E-485B-A927-10DE6F9006C0}"/>
              </a:ext>
            </a:extLst>
          </p:cNvPr>
          <p:cNvSpPr>
            <a:spLocks xmlns:a="http://schemas.openxmlformats.org/drawingml/2006/main" noGrp="1"/>
          </p:cNvSpPr>
          <p:nvPr/>
        </p:nvSpPr>
        <p:spPr>
          <a:xfrm xmlns:a="http://schemas.openxmlformats.org/drawingml/2006/main">
            <a:off x="8715375" y="180975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000"/>
          </a:bodyPr>
          <a:lstStyle xmlns:a="http://schemas.openxmlformats.org/drawingml/2006/main"/>
          <a:p xmlns:a="http://schemas.openxmlformats.org/drawingml/2006/main">
            <a:pPr algn="l">
              <a:defRPr sz="1500" b="1">
                <a:solidFill>
                  <a:srgbClr val="14262D"/>
                </a:solidFill>
                <a:latin typeface="Helvetica Neue"/>
                <a:ea typeface="Helvetica Neue"/>
                <a:cs typeface="Helvetica Neue"/>
              </a:defRPr>
            </a:pPr>
            <a:r>
              <a:rPr sz="1500" b="1">
                <a:solidFill>
                  <a:srgbClr val="14262D"/>
                </a:solidFill>
                <a:latin typeface="Helvetica Neue"/>
                <a:ea typeface="Helvetica Neue"/>
                <a:cs typeface="Helvetica Neue"/>
              </a:rPr>
              <a:t>Exact uniqueness</a:t>
            </a:r>
          </a:p>
        </p:txBody>
      </p:sp>
      <p:sp>
        <p:nvSpPr>
          <p:cNvPr id="9" name="">
            <a:extLst xmlns:a="http://schemas.openxmlformats.org/drawingml/2006/main">
              <a:ext uri="{FF2B5EF4-FFF2-40B4-BE49-F238E27FC236}">
                <a16:creationId xmlns:a16="http://schemas.microsoft.com/office/drawing/2014/main" id="{CE743C28-3AEF-4AE9-8A55-E048B6A356B9}"/>
              </a:ext>
            </a:extLst>
          </p:cNvPr>
          <p:cNvSpPr>
            <a:spLocks xmlns:a="http://schemas.openxmlformats.org/drawingml/2006/main" noGrp="1"/>
          </p:cNvSpPr>
          <p:nvPr/>
        </p:nvSpPr>
        <p:spPr>
          <a:xfrm xmlns:a="http://schemas.openxmlformats.org/drawingml/2006/main">
            <a:off x="8715375" y="2190750"/>
            <a:ext cx="238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1">
                <a:solidFill>
                  <a:srgbClr val="0E6B6F"/>
                </a:solidFill>
                <a:latin typeface="Helvetica Neue"/>
                <a:ea typeface="Helvetica Neue"/>
                <a:cs typeface="Helvetica Neue"/>
              </a:defRPr>
            </a:pPr>
            <a:r>
              <a:rPr sz="2325" b="1">
                <a:solidFill>
                  <a:srgbClr val="0E6B6F"/>
                </a:solidFill>
                <a:latin typeface="Helvetica Neue"/>
                <a:ea typeface="Helvetica Neue"/>
                <a:cs typeface="Helvetica Neue"/>
              </a:rPr>
              <a:t>2,000 / 2,000</a:t>
            </a:r>
          </a:p>
        </p:txBody>
      </p:sp>
      <p:sp>
        <p:nvSpPr>
          <p:cNvPr id="10" name="">
            <a:extLst xmlns:a="http://schemas.openxmlformats.org/drawingml/2006/main">
              <a:ext uri="{FF2B5EF4-FFF2-40B4-BE49-F238E27FC236}">
                <a16:creationId xmlns:a16="http://schemas.microsoft.com/office/drawing/2014/main" id="{7F6A5044-812B-48B4-9588-75F26A5FFE5A}"/>
              </a:ext>
            </a:extLst>
          </p:cNvPr>
          <p:cNvSpPr>
            <a:spLocks xmlns:a="http://schemas.openxmlformats.org/drawingml/2006/main" noGrp="1"/>
          </p:cNvSpPr>
          <p:nvPr/>
        </p:nvSpPr>
        <p:spPr>
          <a:xfrm xmlns:a="http://schemas.openxmlformats.org/drawingml/2006/main">
            <a:off x="8715375" y="2619375"/>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lgn="l">
              <a:defRPr sz="1200" b="0">
                <a:solidFill>
                  <a:srgbClr val="51636B"/>
                </a:solidFill>
                <a:latin typeface="Helvetica Neue"/>
                <a:ea typeface="Helvetica Neue"/>
                <a:cs typeface="Helvetica Neue"/>
              </a:defRPr>
            </a:pPr>
            <a:r>
              <a:rPr sz="1200" b="0">
                <a:solidFill>
                  <a:srgbClr val="51636B"/>
                </a:solidFill>
                <a:latin typeface="Helvetica Neue"/>
                <a:ea typeface="Helvetica Neue"/>
                <a:cs typeface="Helvetica Neue"/>
              </a:rPr>
              <a:t>at every temperature</a:t>
            </a:r>
          </a:p>
        </p:txBody>
      </p:sp>
      <p:sp>
        <p:nvSpPr>
          <p:cNvPr id="11" name="">
            <a:extLst xmlns:a="http://schemas.openxmlformats.org/drawingml/2006/main">
              <a:ext uri="{FF2B5EF4-FFF2-40B4-BE49-F238E27FC236}">
                <a16:creationId xmlns:a16="http://schemas.microsoft.com/office/drawing/2014/main" id="{0DEAE3F3-3EA5-44D5-8428-E1779C54F6EC}"/>
              </a:ext>
            </a:extLst>
          </p:cNvPr>
          <p:cNvSpPr>
            <a:spLocks xmlns:a="http://schemas.openxmlformats.org/drawingml/2006/main" noGrp="1"/>
          </p:cNvSpPr>
          <p:nvPr/>
        </p:nvSpPr>
        <p:spPr>
          <a:xfrm xmlns:a="http://schemas.openxmlformats.org/drawingml/2006/main">
            <a:off x="8715375" y="3190875"/>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000"/>
          </a:bodyPr>
          <a:lstStyle xmlns:a="http://schemas.openxmlformats.org/drawingml/2006/main"/>
          <a:p xmlns:a="http://schemas.openxmlformats.org/drawingml/2006/main">
            <a:pPr algn="l">
              <a:defRPr sz="1500" b="1">
                <a:solidFill>
                  <a:srgbClr val="14262D"/>
                </a:solidFill>
                <a:latin typeface="Helvetica Neue"/>
                <a:ea typeface="Helvetica Neue"/>
                <a:cs typeface="Helvetica Neue"/>
              </a:defRPr>
            </a:pPr>
            <a:r>
              <a:rPr sz="1500" b="1">
                <a:solidFill>
                  <a:srgbClr val="14262D"/>
                </a:solidFill>
                <a:latin typeface="Helvetica Neue"/>
                <a:ea typeface="Helvetica Neue"/>
                <a:cs typeface="Helvetica Neue"/>
              </a:rPr>
              <a:t>Mean Hamming distance</a:t>
            </a:r>
          </a:p>
        </p:txBody>
      </p:sp>
      <p:sp>
        <p:nvSpPr>
          <p:cNvPr id="12" name="">
            <a:extLst xmlns:a="http://schemas.openxmlformats.org/drawingml/2006/main">
              <a:ext uri="{FF2B5EF4-FFF2-40B4-BE49-F238E27FC236}">
                <a16:creationId xmlns:a16="http://schemas.microsoft.com/office/drawing/2014/main" id="{FA915E80-C439-432A-94C6-4B0AF946E544}"/>
              </a:ext>
            </a:extLst>
          </p:cNvPr>
          <p:cNvSpPr>
            <a:spLocks xmlns:a="http://schemas.openxmlformats.org/drawingml/2006/main" noGrp="1"/>
          </p:cNvSpPr>
          <p:nvPr/>
        </p:nvSpPr>
        <p:spPr>
          <a:xfrm xmlns:a="http://schemas.openxmlformats.org/drawingml/2006/main">
            <a:off x="8715375" y="3571875"/>
            <a:ext cx="238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75" b="1">
                <a:solidFill>
                  <a:srgbClr val="D7634C"/>
                </a:solidFill>
                <a:latin typeface="Helvetica Neue"/>
                <a:ea typeface="Helvetica Neue"/>
                <a:cs typeface="Helvetica Neue"/>
              </a:defRPr>
            </a:pPr>
            <a:r>
              <a:rPr sz="2175" b="1">
                <a:solidFill>
                  <a:srgbClr val="D7634C"/>
                </a:solidFill>
                <a:latin typeface="Helvetica Neue"/>
                <a:ea typeface="Helvetica Neue"/>
                <a:cs typeface="Helvetica Neue"/>
              </a:rPr>
              <a:t>43.46 → 41.99</a:t>
            </a:r>
          </a:p>
        </p:txBody>
      </p:sp>
      <p:sp>
        <p:nvSpPr>
          <p:cNvPr id="13" name="">
            <a:extLst xmlns:a="http://schemas.openxmlformats.org/drawingml/2006/main">
              <a:ext uri="{FF2B5EF4-FFF2-40B4-BE49-F238E27FC236}">
                <a16:creationId xmlns:a16="http://schemas.microsoft.com/office/drawing/2014/main" id="{F8BFACB3-6B7A-46C7-8545-6F19B6A35C4C}"/>
              </a:ext>
            </a:extLst>
          </p:cNvPr>
          <p:cNvSpPr>
            <a:spLocks xmlns:a="http://schemas.openxmlformats.org/drawingml/2006/main" noGrp="1"/>
          </p:cNvSpPr>
          <p:nvPr/>
        </p:nvSpPr>
        <p:spPr>
          <a:xfrm xmlns:a="http://schemas.openxmlformats.org/drawingml/2006/main">
            <a:off x="8715375" y="4000500"/>
            <a:ext cx="238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1636B"/>
                </a:solidFill>
                <a:latin typeface="Helvetica Neue"/>
                <a:ea typeface="Helvetica Neue"/>
                <a:cs typeface="Helvetica Neue"/>
              </a:defRPr>
            </a:pPr>
            <a:r>
              <a:rPr sz="1200" b="0">
                <a:solidFill>
                  <a:srgbClr val="51636B"/>
                </a:solidFill>
                <a:latin typeface="Helvetica Neue"/>
                <a:ea typeface="Helvetica Neue"/>
                <a:cs typeface="Helvetica Neue"/>
              </a:rPr>
              <a:t>differing positions out of 62</a:t>
            </a:r>
          </a:p>
          <a:p xmlns:a="http://schemas.openxmlformats.org/drawingml/2006/main">
            <a:pPr algn="l">
              <a:defRPr sz="1200" b="0">
                <a:solidFill>
                  <a:srgbClr val="51636B"/>
                </a:solidFill>
                <a:latin typeface="Helvetica Neue"/>
                <a:ea typeface="Helvetica Neue"/>
                <a:cs typeface="Helvetica Neue"/>
              </a:defRPr>
            </a:pPr>
            <a:r>
              <a:rPr sz="1200" b="0">
                <a:solidFill>
                  <a:srgbClr val="51636B"/>
                </a:solidFill>
                <a:latin typeface="Helvetica Neue"/>
                <a:ea typeface="Helvetica Neue"/>
                <a:cs typeface="Helvetica Neue"/>
              </a:rPr>
              <a:t>from 60 °C to 90 °C</a:t>
            </a:r>
          </a:p>
        </p:txBody>
      </p:sp>
      <p:sp>
        <p:nvSpPr>
          <p:cNvPr id="14" name="">
            <a:extLst xmlns:a="http://schemas.openxmlformats.org/drawingml/2006/main">
              <a:ext uri="{FF2B5EF4-FFF2-40B4-BE49-F238E27FC236}">
                <a16:creationId xmlns:a16="http://schemas.microsoft.com/office/drawing/2014/main" id="{DD162AC5-5815-40E2-9EE5-D80AEB4F6310}"/>
              </a:ext>
            </a:extLst>
          </p:cNvPr>
          <p:cNvSpPr>
            <a:spLocks xmlns:a="http://schemas.openxmlformats.org/drawingml/2006/main" noGrp="1"/>
          </p:cNvSpPr>
          <p:nvPr/>
        </p:nvSpPr>
        <p:spPr>
          <a:xfrm xmlns:a="http://schemas.openxmlformats.org/drawingml/2006/main">
            <a:off x="8715375" y="4667250"/>
            <a:ext cx="238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4020"/>
          </a:bodyPr>
          <a:lstStyle xmlns:a="http://schemas.openxmlformats.org/drawingml/2006/main"/>
          <a:p xmlns:a="http://schemas.openxmlformats.org/drawingml/2006/main">
            <a:pPr algn="l">
              <a:defRPr sz="1275" b="1">
                <a:solidFill>
                  <a:srgbClr val="0E6B6F"/>
                </a:solidFill>
                <a:latin typeface="Helvetica Neue"/>
                <a:ea typeface="Helvetica Neue"/>
                <a:cs typeface="Helvetica Neue"/>
              </a:defRPr>
            </a:pPr>
            <a:r>
              <a:rPr sz="1275" b="1">
                <a:solidFill>
                  <a:srgbClr val="0E6B6F"/>
                </a:solidFill>
                <a:latin typeface="Helvetica Neue"/>
                <a:ea typeface="Helvetica Neue"/>
                <a:cs typeface="Helvetica Neue"/>
              </a:rPr>
              <a:t>Diversity contracts gradually with temperature, including above the training maximum, but there is no duplicate-driven collapse.</a:t>
            </a:r>
          </a:p>
        </p:txBody>
      </p:sp>
      <p:sp>
        <p:nvSpPr>
          <p:cNvPr id="15" name="">
            <a:extLst xmlns:a="http://schemas.openxmlformats.org/drawingml/2006/main">
              <a:ext uri="{FF2B5EF4-FFF2-40B4-BE49-F238E27FC236}">
                <a16:creationId xmlns:a16="http://schemas.microsoft.com/office/drawing/2014/main" id="{DC6DEAE3-5061-4D4D-A37B-81843003D2A7}"/>
              </a:ext>
            </a:extLst>
          </p:cNvPr>
          <p:cNvSpPr>
            <a:spLocks xmlns:a="http://schemas.openxmlformats.org/drawingml/2006/main" noGrp="1"/>
          </p:cNvSpPr>
          <p:nvPr/>
        </p:nvSpPr>
        <p:spPr>
          <a:xfrm xmlns:a="http://schemas.openxmlformats.org/drawingml/2006/main">
            <a:off x="1476375" y="6048375"/>
            <a:ext cx="914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0">
                <a:solidFill>
                  <a:srgbClr val="51636B"/>
                </a:solidFill>
                <a:latin typeface="Helvetica Neue"/>
                <a:ea typeface="Helvetica Neue"/>
                <a:cs typeface="Helvetica Neue"/>
              </a:defRPr>
            </a:pPr>
            <a:r>
              <a:rPr sz="1125" b="0">
                <a:solidFill>
                  <a:srgbClr val="51636B"/>
                </a:solidFill>
                <a:latin typeface="Helvetica Neue"/>
                <a:ea typeface="Helvetica Neue"/>
                <a:cs typeface="Helvetica Neue"/>
              </a:rPr>
              <a:t>Hamming distance includes gaps and all unordered sequence pairs. Duplicate samples would contribute zero distance.</a:t>
            </a:r>
          </a:p>
        </p:txBody>
      </p:sp>
    </p:spTree>
    <p:extLst>
      <p:ext uri="{BB962C8B-B14F-4D97-AF65-F5344CB8AC3E}">
        <p14:creationId xmlns:p14="http://schemas.microsoft.com/office/powerpoint/2010/main" val="139949599"/>
      </p:ext>
    </p:extLst>
  </p:cSld>
</p:sld>
</file>

<file path=ppt/slides/slide13.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A4F56D72-3F52-4F1A-A424-C84AE643964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0E6B6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F6A3C11-12FE-4210-ACFE-D16774C316E1}"/>
              </a:ext>
            </a:extLst>
          </p:cNvPr>
          <p:cNvSpPr>
            <a:spLocks xmlns:a="http://schemas.openxmlformats.org/drawingml/2006/main" noGrp="1"/>
          </p:cNvSpPr>
          <p:nvPr/>
        </p:nvSpPr>
        <p:spPr>
          <a:xfrm xmlns:a="http://schemas.openxmlformats.org/drawingml/2006/main">
            <a:off x="552450" y="28575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a:solidFill>
                  <a:srgbClr val="0E6B6F"/>
                </a:solidFill>
                <a:latin typeface="Helvetica Neue"/>
                <a:ea typeface="Helvetica Neue"/>
                <a:cs typeface="Helvetica Neue"/>
              </a:defRPr>
            </a:pPr>
            <a:r>
              <a:rPr sz="900" b="1">
                <a:solidFill>
                  <a:srgbClr val="0E6B6F"/>
                </a:solidFill>
                <a:latin typeface="Helvetica Neue"/>
                <a:ea typeface="Helvetica Neue"/>
                <a:cs typeface="Helvetica Neue"/>
              </a:rPr>
              <a:t>HELD-OUT VALIDATION</a:t>
            </a:r>
          </a:p>
        </p:txBody>
      </p:sp>
      <p:sp>
        <p:nvSpPr>
          <p:cNvPr id="3" name="">
            <a:extLst xmlns:a="http://schemas.openxmlformats.org/drawingml/2006/main">
              <a:ext uri="{FF2B5EF4-FFF2-40B4-BE49-F238E27FC236}">
                <a16:creationId xmlns:a16="http://schemas.microsoft.com/office/drawing/2014/main" id="{2582939D-AF4A-43F3-AE93-23E0BE7DCA58}"/>
              </a:ext>
            </a:extLst>
          </p:cNvPr>
          <p:cNvSpPr>
            <a:spLocks xmlns:a="http://schemas.openxmlformats.org/drawingml/2006/main" noGrp="1"/>
          </p:cNvSpPr>
          <p:nvPr/>
        </p:nvSpPr>
        <p:spPr>
          <a:xfrm xmlns:a="http://schemas.openxmlformats.org/drawingml/2006/main">
            <a:off x="552450" y="495300"/>
            <a:ext cx="1081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14262D"/>
                </a:solidFill>
                <a:latin typeface="Helvetica Neue"/>
                <a:ea typeface="Helvetica Neue"/>
                <a:cs typeface="Helvetica Neue"/>
              </a:defRPr>
            </a:pPr>
            <a:r>
              <a:rPr sz="2400" b="1">
                <a:solidFill>
                  <a:srgbClr val="14262D"/>
                </a:solidFill>
                <a:latin typeface="Helvetica Neue"/>
                <a:ea typeface="Helvetica Neue"/>
                <a:cs typeface="Helvetica Neue"/>
              </a:rPr>
              <a:t>Natural sequences provide a harder temperature-recovery test</a:t>
            </a:r>
          </a:p>
        </p:txBody>
      </p:sp>
      <p:sp>
        <p:nvSpPr>
          <p:cNvPr id="4" name="">
            <a:extLst xmlns:a="http://schemas.openxmlformats.org/drawingml/2006/main">
              <a:ext uri="{FF2B5EF4-FFF2-40B4-BE49-F238E27FC236}">
                <a16:creationId xmlns:a16="http://schemas.microsoft.com/office/drawing/2014/main" id="{BA247CBA-AAC1-4530-815F-FA143FD32B3A}"/>
              </a:ext>
            </a:extLst>
          </p:cNvPr>
          <p:cNvSpPr>
            <a:spLocks xmlns:a="http://schemas.openxmlformats.org/drawingml/2006/main" noGrp="1"/>
          </p:cNvSpPr>
          <p:nvPr/>
        </p:nvSpPr>
        <p:spPr>
          <a:xfrm xmlns:a="http://schemas.openxmlformats.org/drawingml/2006/main">
            <a:off x="552450" y="1066800"/>
            <a:ext cx="11049000" cy="19050"/>
          </a:xfrm>
          <a:prstGeom xmlns:a="http://schemas.openxmlformats.org/drawingml/2006/main" prst="rect">
            <a:avLst/>
          </a:prstGeom>
          <a:solidFill xmlns:a="http://schemas.openxmlformats.org/drawingml/2006/main">
            <a:srgbClr val="CBD6D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26DA4BE-CFF2-4EDC-B90B-728C9CB0CF40}"/>
              </a:ext>
            </a:extLst>
          </p:cNvPr>
          <p:cNvSpPr>
            <a:spLocks xmlns:a="http://schemas.openxmlformats.org/drawingml/2006/main" noGrp="1"/>
          </p:cNvSpPr>
          <p:nvPr/>
        </p:nvSpPr>
        <p:spPr>
          <a:xfrm xmlns:a="http://schemas.openxmlformats.org/drawingml/2006/main">
            <a:off x="11144250" y="6477000"/>
            <a:ext cx="47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r">
              <a:defRPr sz="825" b="0">
                <a:solidFill>
                  <a:srgbClr val="51636B"/>
                </a:solidFill>
                <a:latin typeface="Helvetica Neue"/>
                <a:ea typeface="Helvetica Neue"/>
                <a:cs typeface="Helvetica Neue"/>
              </a:defRPr>
            </a:pPr>
            <a:r>
              <a:rPr sz="825" b="0">
                <a:solidFill>
                  <a:srgbClr val="51636B"/>
                </a:solidFill>
                <a:latin typeface="Helvetica Neue"/>
                <a:ea typeface="Helvetica Neue"/>
                <a:cs typeface="Helvetica Neue"/>
              </a:rPr>
              <a:t>13</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eaf8e09f670e4193"/>
          <a:stretch xmlns:a="http://schemas.openxmlformats.org/drawingml/2006/main"/>
        </p:blipFill>
        <p:spPr>
          <a:xfrm xmlns:a="http://schemas.openxmlformats.org/drawingml/2006/main">
            <a:off x="1142291" y="1381125"/>
            <a:ext cx="4954418" cy="44767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7199E419-47EE-4586-96DB-D544C2F3FAC3}"/>
              </a:ext>
            </a:extLst>
          </p:cNvPr>
          <p:cNvSpPr>
            <a:spLocks xmlns:a="http://schemas.openxmlformats.org/drawingml/2006/main" noGrp="1"/>
          </p:cNvSpPr>
          <p:nvPr/>
        </p:nvSpPr>
        <p:spPr>
          <a:xfrm xmlns:a="http://schemas.openxmlformats.org/drawingml/2006/main">
            <a:off x="7000875" y="1381125"/>
            <a:ext cx="4524375" cy="4476750"/>
          </a:xfrm>
          <a:prstGeom xmlns:a="http://schemas.openxmlformats.org/drawingml/2006/main" prst="roundRect">
            <a:avLst>
              <a:gd name="adj" fmla="val 1277"/>
            </a:avLst>
          </a:prstGeom>
          <a:solidFill xmlns:a="http://schemas.openxmlformats.org/drawingml/2006/main">
            <a:srgbClr val="FFFFFF"/>
          </a:solidFill>
          <a:ln xmlns:a="http://schemas.openxmlformats.org/drawingml/2006/main" w="9525">
            <a:solidFill>
              <a:srgbClr val="CBD6D8"/>
            </a:solidFill>
          </a:ln>
        </p:spPr>
      </p:sp>
      <p:sp>
        <p:nvSpPr>
          <p:cNvPr id="8" name="">
            <a:extLst xmlns:a="http://schemas.openxmlformats.org/drawingml/2006/main">
              <a:ext uri="{FF2B5EF4-FFF2-40B4-BE49-F238E27FC236}">
                <a16:creationId xmlns:a16="http://schemas.microsoft.com/office/drawing/2014/main" id="{F5928847-CECE-474E-8EA1-3D8A971C41C9}"/>
              </a:ext>
            </a:extLst>
          </p:cNvPr>
          <p:cNvSpPr>
            <a:spLocks xmlns:a="http://schemas.openxmlformats.org/drawingml/2006/main" noGrp="1"/>
          </p:cNvSpPr>
          <p:nvPr/>
        </p:nvSpPr>
        <p:spPr>
          <a:xfrm xmlns:a="http://schemas.openxmlformats.org/drawingml/2006/main">
            <a:off x="7334250" y="1619250"/>
            <a:ext cx="3857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89"/>
          </a:bodyPr>
          <a:lstStyle xmlns:a="http://schemas.openxmlformats.org/drawingml/2006/main"/>
          <a:p xmlns:a="http://schemas.openxmlformats.org/drawingml/2006/main">
            <a:pPr algn="l">
              <a:defRPr sz="1575" b="1">
                <a:solidFill>
                  <a:srgbClr val="14262D"/>
                </a:solidFill>
                <a:latin typeface="Helvetica Neue"/>
                <a:ea typeface="Helvetica Neue"/>
                <a:cs typeface="Helvetica Neue"/>
              </a:defRPr>
            </a:pPr>
            <a:r>
              <a:rPr sz="1575" b="1">
                <a:solidFill>
                  <a:srgbClr val="14262D"/>
                </a:solidFill>
                <a:latin typeface="Helvetica Neue"/>
                <a:ea typeface="Helvetica Neue"/>
                <a:cs typeface="Helvetica Neue"/>
              </a:rPr>
              <a:t>Organism-separated split</a:t>
            </a:r>
          </a:p>
        </p:txBody>
      </p:sp>
      <p:sp>
        <p:nvSpPr>
          <p:cNvPr id="9" name="">
            <a:extLst xmlns:a="http://schemas.openxmlformats.org/drawingml/2006/main">
              <a:ext uri="{FF2B5EF4-FFF2-40B4-BE49-F238E27FC236}">
                <a16:creationId xmlns:a16="http://schemas.microsoft.com/office/drawing/2014/main" id="{E0DA1F4D-F896-44FE-AACB-ACCA7684E0D9}"/>
              </a:ext>
            </a:extLst>
          </p:cNvPr>
          <p:cNvSpPr>
            <a:spLocks xmlns:a="http://schemas.openxmlformats.org/drawingml/2006/main" noGrp="1"/>
          </p:cNvSpPr>
          <p:nvPr/>
        </p:nvSpPr>
        <p:spPr>
          <a:xfrm xmlns:a="http://schemas.openxmlformats.org/drawingml/2006/main">
            <a:off x="7334250" y="209550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000"/>
          </a:bodyPr>
          <a:lstStyle xmlns:a="http://schemas.openxmlformats.org/drawingml/2006/main"/>
          <a:p xmlns:a="http://schemas.openxmlformats.org/drawingml/2006/main">
            <a:pPr algn="l">
              <a:defRPr sz="1125" b="1">
                <a:solidFill>
                  <a:srgbClr val="51636B"/>
                </a:solidFill>
                <a:latin typeface="Helvetica Neue"/>
                <a:ea typeface="Helvetica Neue"/>
                <a:cs typeface="Helvetica Neue"/>
              </a:defRPr>
            </a:pPr>
            <a:r>
              <a:rPr sz="1125" b="1">
                <a:solidFill>
                  <a:srgbClr val="51636B"/>
                </a:solidFill>
                <a:latin typeface="Helvetica Neue"/>
                <a:ea typeface="Helvetica Neue"/>
                <a:cs typeface="Helvetica Neue"/>
              </a:rPr>
              <a:t>Train</a:t>
            </a:r>
          </a:p>
        </p:txBody>
      </p:sp>
      <p:sp>
        <p:nvSpPr>
          <p:cNvPr id="10" name="">
            <a:extLst xmlns:a="http://schemas.openxmlformats.org/drawingml/2006/main">
              <a:ext uri="{FF2B5EF4-FFF2-40B4-BE49-F238E27FC236}">
                <a16:creationId xmlns:a16="http://schemas.microsoft.com/office/drawing/2014/main" id="{79527527-F5D9-4375-BA65-1E8FFB11B12E}"/>
              </a:ext>
            </a:extLst>
          </p:cNvPr>
          <p:cNvSpPr>
            <a:spLocks xmlns:a="http://schemas.openxmlformats.org/drawingml/2006/main" noGrp="1"/>
          </p:cNvSpPr>
          <p:nvPr/>
        </p:nvSpPr>
        <p:spPr>
          <a:xfrm xmlns:a="http://schemas.openxmlformats.org/drawingml/2006/main">
            <a:off x="8239125" y="2047875"/>
            <a:ext cx="2905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419"/>
          </a:bodyPr>
          <a:lstStyle xmlns:a="http://schemas.openxmlformats.org/drawingml/2006/main"/>
          <a:p xmlns:a="http://schemas.openxmlformats.org/drawingml/2006/main">
            <a:pPr algn="l">
              <a:defRPr sz="1350" b="1">
                <a:solidFill>
                  <a:srgbClr val="0E6B6F"/>
                </a:solidFill>
                <a:latin typeface="Helvetica Neue"/>
                <a:ea typeface="Helvetica Neue"/>
                <a:cs typeface="Helvetica Neue"/>
              </a:defRPr>
            </a:pPr>
            <a:r>
              <a:rPr sz="1350" b="1">
                <a:solidFill>
                  <a:srgbClr val="0E6B6F"/>
                </a:solidFill>
                <a:latin typeface="Helvetica Neue"/>
                <a:ea typeface="Helvetica Neue"/>
                <a:cs typeface="Helvetica Neue"/>
              </a:rPr>
              <a:t>11,942 sequences  |  3,863 organisms</a:t>
            </a:r>
          </a:p>
        </p:txBody>
      </p:sp>
      <p:sp>
        <p:nvSpPr>
          <p:cNvPr id="11" name="">
            <a:extLst xmlns:a="http://schemas.openxmlformats.org/drawingml/2006/main">
              <a:ext uri="{FF2B5EF4-FFF2-40B4-BE49-F238E27FC236}">
                <a16:creationId xmlns:a16="http://schemas.microsoft.com/office/drawing/2014/main" id="{D2DF7EFD-B134-44BF-B952-7468E021BD8F}"/>
              </a:ext>
            </a:extLst>
          </p:cNvPr>
          <p:cNvSpPr>
            <a:spLocks xmlns:a="http://schemas.openxmlformats.org/drawingml/2006/main" noGrp="1"/>
          </p:cNvSpPr>
          <p:nvPr/>
        </p:nvSpPr>
        <p:spPr>
          <a:xfrm xmlns:a="http://schemas.openxmlformats.org/drawingml/2006/main">
            <a:off x="7334250" y="2505075"/>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000"/>
          </a:bodyPr>
          <a:lstStyle xmlns:a="http://schemas.openxmlformats.org/drawingml/2006/main"/>
          <a:p xmlns:a="http://schemas.openxmlformats.org/drawingml/2006/main">
            <a:pPr algn="l">
              <a:defRPr sz="1125" b="1">
                <a:solidFill>
                  <a:srgbClr val="51636B"/>
                </a:solidFill>
                <a:latin typeface="Helvetica Neue"/>
                <a:ea typeface="Helvetica Neue"/>
                <a:cs typeface="Helvetica Neue"/>
              </a:defRPr>
            </a:pPr>
            <a:r>
              <a:rPr sz="1125" b="1">
                <a:solidFill>
                  <a:srgbClr val="51636B"/>
                </a:solidFill>
                <a:latin typeface="Helvetica Neue"/>
                <a:ea typeface="Helvetica Neue"/>
                <a:cs typeface="Helvetica Neue"/>
              </a:rPr>
              <a:t>Test</a:t>
            </a:r>
          </a:p>
        </p:txBody>
      </p:sp>
      <p:sp>
        <p:nvSpPr>
          <p:cNvPr id="12" name="">
            <a:extLst xmlns:a="http://schemas.openxmlformats.org/drawingml/2006/main">
              <a:ext uri="{FF2B5EF4-FFF2-40B4-BE49-F238E27FC236}">
                <a16:creationId xmlns:a16="http://schemas.microsoft.com/office/drawing/2014/main" id="{64DB323B-299D-47FC-B9FB-DC46D1A2FC5C}"/>
              </a:ext>
            </a:extLst>
          </p:cNvPr>
          <p:cNvSpPr>
            <a:spLocks xmlns:a="http://schemas.openxmlformats.org/drawingml/2006/main" noGrp="1"/>
          </p:cNvSpPr>
          <p:nvPr/>
        </p:nvSpPr>
        <p:spPr>
          <a:xfrm xmlns:a="http://schemas.openxmlformats.org/drawingml/2006/main">
            <a:off x="8239125" y="2457450"/>
            <a:ext cx="2905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36"/>
          </a:bodyPr>
          <a:lstStyle xmlns:a="http://schemas.openxmlformats.org/drawingml/2006/main"/>
          <a:p xmlns:a="http://schemas.openxmlformats.org/drawingml/2006/main">
            <a:pPr algn="l">
              <a:defRPr sz="1350" b="1">
                <a:solidFill>
                  <a:srgbClr val="D7634C"/>
                </a:solidFill>
                <a:latin typeface="Helvetica Neue"/>
                <a:ea typeface="Helvetica Neue"/>
                <a:cs typeface="Helvetica Neue"/>
              </a:defRPr>
            </a:pPr>
            <a:r>
              <a:rPr sz="1350" b="1">
                <a:solidFill>
                  <a:srgbClr val="D7634C"/>
                </a:solidFill>
                <a:latin typeface="Helvetica Neue"/>
                <a:ea typeface="Helvetica Neue"/>
                <a:cs typeface="Helvetica Neue"/>
              </a:rPr>
              <a:t>3,002 sequences  |  992 organisms</a:t>
            </a:r>
          </a:p>
        </p:txBody>
      </p:sp>
      <p:sp>
        <p:nvSpPr>
          <p:cNvPr id="13" name="">
            <a:extLst xmlns:a="http://schemas.openxmlformats.org/drawingml/2006/main">
              <a:ext uri="{FF2B5EF4-FFF2-40B4-BE49-F238E27FC236}">
                <a16:creationId xmlns:a16="http://schemas.microsoft.com/office/drawing/2014/main" id="{BC6D6CFC-9A8F-4C4B-93D6-CBDD90FBF3F7}"/>
              </a:ext>
            </a:extLst>
          </p:cNvPr>
          <p:cNvSpPr>
            <a:spLocks xmlns:a="http://schemas.openxmlformats.org/drawingml/2006/main" noGrp="1"/>
          </p:cNvSpPr>
          <p:nvPr/>
        </p:nvSpPr>
        <p:spPr>
          <a:xfrm xmlns:a="http://schemas.openxmlformats.org/drawingml/2006/main">
            <a:off x="7334250" y="2952750"/>
            <a:ext cx="3810000" cy="19050"/>
          </a:xfrm>
          <a:prstGeom xmlns:a="http://schemas.openxmlformats.org/drawingml/2006/main" prst="rect">
            <a:avLst/>
          </a:prstGeom>
          <a:solidFill xmlns:a="http://schemas.openxmlformats.org/drawingml/2006/main">
            <a:srgbClr val="CBD6D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6BACE51-5F28-4CC2-8C63-C537F5899D02}"/>
              </a:ext>
            </a:extLst>
          </p:cNvPr>
          <p:cNvSpPr>
            <a:spLocks xmlns:a="http://schemas.openxmlformats.org/drawingml/2006/main" noGrp="1"/>
          </p:cNvSpPr>
          <p:nvPr/>
        </p:nvSpPr>
        <p:spPr>
          <a:xfrm xmlns:a="http://schemas.openxmlformats.org/drawingml/2006/main">
            <a:off x="7334250" y="3190875"/>
            <a:ext cx="114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970"/>
          </a:bodyPr>
          <a:lstStyle xmlns:a="http://schemas.openxmlformats.org/drawingml/2006/main"/>
          <a:p xmlns:a="http://schemas.openxmlformats.org/drawingml/2006/main">
            <a:pPr algn="l">
              <a:defRPr sz="2475" b="1">
                <a:solidFill>
                  <a:srgbClr val="0E6B6F"/>
                </a:solidFill>
                <a:latin typeface="Helvetica Neue"/>
                <a:ea typeface="Helvetica Neue"/>
                <a:cs typeface="Helvetica Neue"/>
              </a:defRPr>
            </a:pPr>
            <a:r>
              <a:rPr sz="2475" b="1">
                <a:solidFill>
                  <a:srgbClr val="0E6B6F"/>
                </a:solidFill>
                <a:latin typeface="Helvetica Neue"/>
                <a:ea typeface="Helvetica Neue"/>
                <a:cs typeface="Helvetica Neue"/>
              </a:rPr>
              <a:t>0.385</a:t>
            </a:r>
          </a:p>
        </p:txBody>
      </p:sp>
      <p:sp>
        <p:nvSpPr>
          <p:cNvPr id="15" name="">
            <a:extLst xmlns:a="http://schemas.openxmlformats.org/drawingml/2006/main">
              <a:ext uri="{FF2B5EF4-FFF2-40B4-BE49-F238E27FC236}">
                <a16:creationId xmlns:a16="http://schemas.microsoft.com/office/drawing/2014/main" id="{5C514AA4-CADA-44A2-BF3C-0D00876A1691}"/>
              </a:ext>
            </a:extLst>
          </p:cNvPr>
          <p:cNvSpPr>
            <a:spLocks xmlns:a="http://schemas.openxmlformats.org/drawingml/2006/main" noGrp="1"/>
          </p:cNvSpPr>
          <p:nvPr/>
        </p:nvSpPr>
        <p:spPr>
          <a:xfrm xmlns:a="http://schemas.openxmlformats.org/drawingml/2006/main">
            <a:off x="7334250" y="361950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000"/>
          </a:bodyPr>
          <a:lstStyle xmlns:a="http://schemas.openxmlformats.org/drawingml/2006/main"/>
          <a:p xmlns:a="http://schemas.openxmlformats.org/drawingml/2006/main">
            <a:pPr algn="l">
              <a:defRPr sz="1125" b="0">
                <a:solidFill>
                  <a:srgbClr val="51636B"/>
                </a:solidFill>
                <a:latin typeface="Helvetica Neue"/>
                <a:ea typeface="Helvetica Neue"/>
                <a:cs typeface="Helvetica Neue"/>
              </a:defRPr>
            </a:pPr>
            <a:r>
              <a:rPr sz="1125" b="0">
                <a:solidFill>
                  <a:srgbClr val="51636B"/>
                </a:solidFill>
                <a:latin typeface="Helvetica Neue"/>
                <a:ea typeface="Helvetica Neue"/>
                <a:cs typeface="Helvetica Neue"/>
              </a:rPr>
              <a:t>Pearson</a:t>
            </a:r>
          </a:p>
        </p:txBody>
      </p:sp>
      <p:sp>
        <p:nvSpPr>
          <p:cNvPr id="16" name="">
            <a:extLst xmlns:a="http://schemas.openxmlformats.org/drawingml/2006/main">
              <a:ext uri="{FF2B5EF4-FFF2-40B4-BE49-F238E27FC236}">
                <a16:creationId xmlns:a16="http://schemas.microsoft.com/office/drawing/2014/main" id="{AD448D3F-7EEA-4063-8C02-C34C0DAE4D35}"/>
              </a:ext>
            </a:extLst>
          </p:cNvPr>
          <p:cNvSpPr>
            <a:spLocks xmlns:a="http://schemas.openxmlformats.org/drawingml/2006/main" noGrp="1"/>
          </p:cNvSpPr>
          <p:nvPr/>
        </p:nvSpPr>
        <p:spPr>
          <a:xfrm xmlns:a="http://schemas.openxmlformats.org/drawingml/2006/main">
            <a:off x="8715375" y="3190875"/>
            <a:ext cx="114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970"/>
          </a:bodyPr>
          <a:lstStyle xmlns:a="http://schemas.openxmlformats.org/drawingml/2006/main"/>
          <a:p xmlns:a="http://schemas.openxmlformats.org/drawingml/2006/main">
            <a:pPr algn="l">
              <a:defRPr sz="2475" b="1">
                <a:solidFill>
                  <a:srgbClr val="D7634C"/>
                </a:solidFill>
                <a:latin typeface="Helvetica Neue"/>
                <a:ea typeface="Helvetica Neue"/>
                <a:cs typeface="Helvetica Neue"/>
              </a:defRPr>
            </a:pPr>
            <a:r>
              <a:rPr sz="2475" b="1">
                <a:solidFill>
                  <a:srgbClr val="D7634C"/>
                </a:solidFill>
                <a:latin typeface="Helvetica Neue"/>
                <a:ea typeface="Helvetica Neue"/>
                <a:cs typeface="Helvetica Neue"/>
              </a:rPr>
              <a:t>0.312</a:t>
            </a:r>
          </a:p>
        </p:txBody>
      </p:sp>
      <p:sp>
        <p:nvSpPr>
          <p:cNvPr id="17" name="">
            <a:extLst xmlns:a="http://schemas.openxmlformats.org/drawingml/2006/main">
              <a:ext uri="{FF2B5EF4-FFF2-40B4-BE49-F238E27FC236}">
                <a16:creationId xmlns:a16="http://schemas.microsoft.com/office/drawing/2014/main" id="{833C2583-1842-4275-A6E2-8EC384776B14}"/>
              </a:ext>
            </a:extLst>
          </p:cNvPr>
          <p:cNvSpPr>
            <a:spLocks xmlns:a="http://schemas.openxmlformats.org/drawingml/2006/main" noGrp="1"/>
          </p:cNvSpPr>
          <p:nvPr/>
        </p:nvSpPr>
        <p:spPr>
          <a:xfrm xmlns:a="http://schemas.openxmlformats.org/drawingml/2006/main">
            <a:off x="8715375" y="361950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000"/>
          </a:bodyPr>
          <a:lstStyle xmlns:a="http://schemas.openxmlformats.org/drawingml/2006/main"/>
          <a:p xmlns:a="http://schemas.openxmlformats.org/drawingml/2006/main">
            <a:pPr algn="l">
              <a:defRPr sz="1125" b="0">
                <a:solidFill>
                  <a:srgbClr val="51636B"/>
                </a:solidFill>
                <a:latin typeface="Helvetica Neue"/>
                <a:ea typeface="Helvetica Neue"/>
                <a:cs typeface="Helvetica Neue"/>
              </a:defRPr>
            </a:pPr>
            <a:r>
              <a:rPr sz="1125" b="0">
                <a:solidFill>
                  <a:srgbClr val="51636B"/>
                </a:solidFill>
                <a:latin typeface="Helvetica Neue"/>
                <a:ea typeface="Helvetica Neue"/>
                <a:cs typeface="Helvetica Neue"/>
              </a:rPr>
              <a:t>Spearman</a:t>
            </a:r>
          </a:p>
        </p:txBody>
      </p:sp>
      <p:sp>
        <p:nvSpPr>
          <p:cNvPr id="18" name="">
            <a:extLst xmlns:a="http://schemas.openxmlformats.org/drawingml/2006/main">
              <a:ext uri="{FF2B5EF4-FFF2-40B4-BE49-F238E27FC236}">
                <a16:creationId xmlns:a16="http://schemas.microsoft.com/office/drawing/2014/main" id="{7F33E02C-C0DF-4188-B44B-5AF960B0A575}"/>
              </a:ext>
            </a:extLst>
          </p:cNvPr>
          <p:cNvSpPr>
            <a:spLocks xmlns:a="http://schemas.openxmlformats.org/drawingml/2006/main" noGrp="1"/>
          </p:cNvSpPr>
          <p:nvPr/>
        </p:nvSpPr>
        <p:spPr>
          <a:xfrm xmlns:a="http://schemas.openxmlformats.org/drawingml/2006/main">
            <a:off x="10001250" y="3190875"/>
            <a:ext cx="114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360"/>
          </a:bodyPr>
          <a:lstStyle xmlns:a="http://schemas.openxmlformats.org/drawingml/2006/main"/>
          <a:p xmlns:a="http://schemas.openxmlformats.org/drawingml/2006/main">
            <a:pPr algn="l">
              <a:defRPr sz="2175" b="1">
                <a:solidFill>
                  <a:srgbClr val="D5A129"/>
                </a:solidFill>
                <a:latin typeface="Helvetica Neue"/>
                <a:ea typeface="Helvetica Neue"/>
                <a:cs typeface="Helvetica Neue"/>
              </a:defRPr>
            </a:pPr>
            <a:r>
              <a:rPr sz="2175" b="1">
                <a:solidFill>
                  <a:srgbClr val="D5A129"/>
                </a:solidFill>
                <a:latin typeface="Helvetica Neue"/>
                <a:ea typeface="Helvetica Neue"/>
                <a:cs typeface="Helvetica Neue"/>
              </a:rPr>
              <a:t>11.93 °C</a:t>
            </a:r>
          </a:p>
        </p:txBody>
      </p:sp>
      <p:sp>
        <p:nvSpPr>
          <p:cNvPr id="19" name="">
            <a:extLst xmlns:a="http://schemas.openxmlformats.org/drawingml/2006/main">
              <a:ext uri="{FF2B5EF4-FFF2-40B4-BE49-F238E27FC236}">
                <a16:creationId xmlns:a16="http://schemas.microsoft.com/office/drawing/2014/main" id="{AE92871E-817A-4086-AD8F-156C7A09B483}"/>
              </a:ext>
            </a:extLst>
          </p:cNvPr>
          <p:cNvSpPr>
            <a:spLocks xmlns:a="http://schemas.openxmlformats.org/drawingml/2006/main" noGrp="1"/>
          </p:cNvSpPr>
          <p:nvPr/>
        </p:nvSpPr>
        <p:spPr>
          <a:xfrm xmlns:a="http://schemas.openxmlformats.org/drawingml/2006/main">
            <a:off x="10001250" y="361950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000"/>
          </a:bodyPr>
          <a:lstStyle xmlns:a="http://schemas.openxmlformats.org/drawingml/2006/main"/>
          <a:p xmlns:a="http://schemas.openxmlformats.org/drawingml/2006/main">
            <a:pPr algn="l">
              <a:defRPr sz="1125" b="0">
                <a:solidFill>
                  <a:srgbClr val="51636B"/>
                </a:solidFill>
                <a:latin typeface="Helvetica Neue"/>
                <a:ea typeface="Helvetica Neue"/>
                <a:cs typeface="Helvetica Neue"/>
              </a:defRPr>
            </a:pPr>
            <a:r>
              <a:rPr sz="1125" b="0">
                <a:solidFill>
                  <a:srgbClr val="51636B"/>
                </a:solidFill>
                <a:latin typeface="Helvetica Neue"/>
                <a:ea typeface="Helvetica Neue"/>
                <a:cs typeface="Helvetica Neue"/>
              </a:rPr>
              <a:t>MAE</a:t>
            </a:r>
          </a:p>
        </p:txBody>
      </p:sp>
      <p:sp>
        <p:nvSpPr>
          <p:cNvPr id="20" name="">
            <a:extLst xmlns:a="http://schemas.openxmlformats.org/drawingml/2006/main">
              <a:ext uri="{FF2B5EF4-FFF2-40B4-BE49-F238E27FC236}">
                <a16:creationId xmlns:a16="http://schemas.microsoft.com/office/drawing/2014/main" id="{D7DA51B2-0ED9-4046-ACAA-B9FE6F1FE36F}"/>
              </a:ext>
            </a:extLst>
          </p:cNvPr>
          <p:cNvSpPr>
            <a:spLocks xmlns:a="http://schemas.openxmlformats.org/drawingml/2006/main" noGrp="1"/>
          </p:cNvSpPr>
          <p:nvPr/>
        </p:nvSpPr>
        <p:spPr>
          <a:xfrm xmlns:a="http://schemas.openxmlformats.org/drawingml/2006/main">
            <a:off x="7334250" y="4143375"/>
            <a:ext cx="3810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4262D"/>
                </a:solidFill>
                <a:latin typeface="Helvetica Neue"/>
                <a:ea typeface="Helvetica Neue"/>
                <a:cs typeface="Helvetica Neue"/>
              </a:defRPr>
            </a:pPr>
            <a:r>
              <a:rPr sz="1275" b="0">
                <a:solidFill>
                  <a:srgbClr val="14262D"/>
                </a:solidFill>
                <a:latin typeface="Helvetica Neue"/>
                <a:ea typeface="Helvetica Neue"/>
                <a:cs typeface="Helvetica Neue"/>
              </a:rPr>
              <a:t>Each sequence was evaluated from 4 to 80 °C in 0.5 °C steps. The maximum log-likelihood defines the inferred temperature.</a:t>
            </a:r>
          </a:p>
        </p:txBody>
      </p:sp>
      <p:sp>
        <p:nvSpPr>
          <p:cNvPr id="21" name="">
            <a:extLst xmlns:a="http://schemas.openxmlformats.org/drawingml/2006/main">
              <a:ext uri="{FF2B5EF4-FFF2-40B4-BE49-F238E27FC236}">
                <a16:creationId xmlns:a16="http://schemas.microsoft.com/office/drawing/2014/main" id="{F5CBE9E5-ED4D-4315-9F1B-A60889575548}"/>
              </a:ext>
            </a:extLst>
          </p:cNvPr>
          <p:cNvSpPr>
            <a:spLocks xmlns:a="http://schemas.openxmlformats.org/drawingml/2006/main" noGrp="1"/>
          </p:cNvSpPr>
          <p:nvPr/>
        </p:nvSpPr>
        <p:spPr>
          <a:xfrm xmlns:a="http://schemas.openxmlformats.org/drawingml/2006/main">
            <a:off x="7334250" y="5095875"/>
            <a:ext cx="3810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148"/>
          </a:bodyPr>
          <a:lstStyle xmlns:a="http://schemas.openxmlformats.org/drawingml/2006/main"/>
          <a:p xmlns:a="http://schemas.openxmlformats.org/drawingml/2006/main">
            <a:pPr algn="l">
              <a:defRPr sz="1350" b="1">
                <a:solidFill>
                  <a:srgbClr val="D7634C"/>
                </a:solidFill>
                <a:latin typeface="Helvetica Neue"/>
                <a:ea typeface="Helvetica Neue"/>
                <a:cs typeface="Helvetica Neue"/>
              </a:defRPr>
            </a:pPr>
            <a:r>
              <a:rPr sz="1350" b="1">
                <a:solidFill>
                  <a:srgbClr val="D7634C"/>
                </a:solidFill>
                <a:latin typeface="Helvetica Neue"/>
                <a:ea typeface="Helvetica Neue"/>
                <a:cs typeface="Helvetica Neue"/>
              </a:rPr>
              <a:t>Natural recovery is much weaker than generated-sequence self-recovery.</a:t>
            </a:r>
          </a:p>
        </p:txBody>
      </p:sp>
    </p:spTree>
    <p:extLst>
      <p:ext uri="{BB962C8B-B14F-4D97-AF65-F5344CB8AC3E}">
        <p14:creationId xmlns:p14="http://schemas.microsoft.com/office/powerpoint/2010/main" val="1134940966"/>
      </p:ext>
    </p:extLst>
  </p:cSld>
</p:sld>
</file>

<file path=ppt/slides/slide14.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6A26FA96-E9EE-4760-8D94-053D552F96DA}"/>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0E6B6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6C30C00-1ECD-402D-B3C2-2AF3B5FD0FC5}"/>
              </a:ext>
            </a:extLst>
          </p:cNvPr>
          <p:cNvSpPr>
            <a:spLocks xmlns:a="http://schemas.openxmlformats.org/drawingml/2006/main" noGrp="1"/>
          </p:cNvSpPr>
          <p:nvPr/>
        </p:nvSpPr>
        <p:spPr>
          <a:xfrm xmlns:a="http://schemas.openxmlformats.org/drawingml/2006/main">
            <a:off x="552450" y="28575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a:solidFill>
                  <a:srgbClr val="0E6B6F"/>
                </a:solidFill>
                <a:latin typeface="Helvetica Neue"/>
                <a:ea typeface="Helvetica Neue"/>
                <a:cs typeface="Helvetica Neue"/>
              </a:defRPr>
            </a:pPr>
            <a:r>
              <a:rPr sz="900" b="1">
                <a:solidFill>
                  <a:srgbClr val="0E6B6F"/>
                </a:solidFill>
                <a:latin typeface="Helvetica Neue"/>
                <a:ea typeface="Helvetica Neue"/>
                <a:cs typeface="Helvetica Neue"/>
              </a:rPr>
              <a:t>SENSITIVITY ANALYSIS</a:t>
            </a:r>
          </a:p>
        </p:txBody>
      </p:sp>
      <p:sp>
        <p:nvSpPr>
          <p:cNvPr id="3" name="">
            <a:extLst xmlns:a="http://schemas.openxmlformats.org/drawingml/2006/main">
              <a:ext uri="{FF2B5EF4-FFF2-40B4-BE49-F238E27FC236}">
                <a16:creationId xmlns:a16="http://schemas.microsoft.com/office/drawing/2014/main" id="{65951B92-AD5E-4BAF-A5F5-D88214C9BFD4}"/>
              </a:ext>
            </a:extLst>
          </p:cNvPr>
          <p:cNvSpPr>
            <a:spLocks xmlns:a="http://schemas.openxmlformats.org/drawingml/2006/main" noGrp="1"/>
          </p:cNvSpPr>
          <p:nvPr/>
        </p:nvSpPr>
        <p:spPr>
          <a:xfrm xmlns:a="http://schemas.openxmlformats.org/drawingml/2006/main">
            <a:off x="552450" y="495300"/>
            <a:ext cx="1081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14262D"/>
                </a:solidFill>
                <a:latin typeface="Helvetica Neue"/>
                <a:ea typeface="Helvetica Neue"/>
                <a:cs typeface="Helvetica Neue"/>
              </a:defRPr>
            </a:pPr>
            <a:r>
              <a:rPr sz="2400" b="1">
                <a:solidFill>
                  <a:srgbClr val="14262D"/>
                </a:solidFill>
                <a:latin typeface="Helvetica Neue"/>
                <a:ea typeface="Helvetica Neue"/>
                <a:cs typeface="Helvetica Neue"/>
              </a:rPr>
              <a:t>Coarser bins and more training data do not reduce the error</a:t>
            </a:r>
          </a:p>
        </p:txBody>
      </p:sp>
      <p:sp>
        <p:nvSpPr>
          <p:cNvPr id="4" name="">
            <a:extLst xmlns:a="http://schemas.openxmlformats.org/drawingml/2006/main">
              <a:ext uri="{FF2B5EF4-FFF2-40B4-BE49-F238E27FC236}">
                <a16:creationId xmlns:a16="http://schemas.microsoft.com/office/drawing/2014/main" id="{67A156C8-BAB9-4A30-8F22-692B12A55CA1}"/>
              </a:ext>
            </a:extLst>
          </p:cNvPr>
          <p:cNvSpPr>
            <a:spLocks xmlns:a="http://schemas.openxmlformats.org/drawingml/2006/main" noGrp="1"/>
          </p:cNvSpPr>
          <p:nvPr/>
        </p:nvSpPr>
        <p:spPr>
          <a:xfrm xmlns:a="http://schemas.openxmlformats.org/drawingml/2006/main">
            <a:off x="552450" y="1066800"/>
            <a:ext cx="11049000" cy="19050"/>
          </a:xfrm>
          <a:prstGeom xmlns:a="http://schemas.openxmlformats.org/drawingml/2006/main" prst="rect">
            <a:avLst/>
          </a:prstGeom>
          <a:solidFill xmlns:a="http://schemas.openxmlformats.org/drawingml/2006/main">
            <a:srgbClr val="CBD6D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E3CB0C1-8D32-4BE6-B00F-D062F65465AF}"/>
              </a:ext>
            </a:extLst>
          </p:cNvPr>
          <p:cNvSpPr>
            <a:spLocks xmlns:a="http://schemas.openxmlformats.org/drawingml/2006/main" noGrp="1"/>
          </p:cNvSpPr>
          <p:nvPr/>
        </p:nvSpPr>
        <p:spPr>
          <a:xfrm xmlns:a="http://schemas.openxmlformats.org/drawingml/2006/main">
            <a:off x="11144250" y="6477000"/>
            <a:ext cx="47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r">
              <a:defRPr sz="825" b="0">
                <a:solidFill>
                  <a:srgbClr val="51636B"/>
                </a:solidFill>
                <a:latin typeface="Helvetica Neue"/>
                <a:ea typeface="Helvetica Neue"/>
                <a:cs typeface="Helvetica Neue"/>
              </a:defRPr>
            </a:pPr>
            <a:r>
              <a:rPr sz="825" b="0">
                <a:solidFill>
                  <a:srgbClr val="51636B"/>
                </a:solidFill>
                <a:latin typeface="Helvetica Neue"/>
                <a:ea typeface="Helvetica Neue"/>
                <a:cs typeface="Helvetica Neue"/>
              </a:rPr>
              <a:t>14</a:t>
            </a:r>
          </a:p>
        </p:txBody>
      </p:sp>
      <p:sp>
        <p:nvSpPr>
          <p:cNvPr id="6" name="">
            <a:extLst xmlns:a="http://schemas.openxmlformats.org/drawingml/2006/main">
              <a:ext uri="{FF2B5EF4-FFF2-40B4-BE49-F238E27FC236}">
                <a16:creationId xmlns:a16="http://schemas.microsoft.com/office/drawing/2014/main" id="{ECECC94E-3027-446C-8ECF-58066FEE7D08}"/>
              </a:ext>
            </a:extLst>
          </p:cNvPr>
          <p:cNvSpPr>
            <a:spLocks xmlns:a="http://schemas.openxmlformats.org/drawingml/2006/main" noGrp="1"/>
          </p:cNvSpPr>
          <p:nvPr/>
        </p:nvSpPr>
        <p:spPr>
          <a:xfrm xmlns:a="http://schemas.openxmlformats.org/drawingml/2006/main">
            <a:off x="714375" y="1571625"/>
            <a:ext cx="1285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lgn="l">
              <a:defRPr sz="1200" b="1">
                <a:solidFill>
                  <a:srgbClr val="51636B"/>
                </a:solidFill>
                <a:latin typeface="Helvetica Neue"/>
                <a:ea typeface="Helvetica Neue"/>
                <a:cs typeface="Helvetica Neue"/>
              </a:defRPr>
            </a:pPr>
            <a:r>
              <a:rPr sz="1200" b="1">
                <a:solidFill>
                  <a:srgbClr val="51636B"/>
                </a:solidFill>
                <a:latin typeface="Helvetica Neue"/>
                <a:ea typeface="Helvetica Neue"/>
                <a:cs typeface="Helvetica Neue"/>
              </a:rPr>
              <a:t>Grid</a:t>
            </a:r>
          </a:p>
        </p:txBody>
      </p:sp>
      <p:sp>
        <p:nvSpPr>
          <p:cNvPr id="7" name="">
            <a:extLst xmlns:a="http://schemas.openxmlformats.org/drawingml/2006/main">
              <a:ext uri="{FF2B5EF4-FFF2-40B4-BE49-F238E27FC236}">
                <a16:creationId xmlns:a16="http://schemas.microsoft.com/office/drawing/2014/main" id="{7D8A5938-30CE-4A8E-B639-5969C34C37ED}"/>
              </a:ext>
            </a:extLst>
          </p:cNvPr>
          <p:cNvSpPr>
            <a:spLocks xmlns:a="http://schemas.openxmlformats.org/drawingml/2006/main" noGrp="1"/>
          </p:cNvSpPr>
          <p:nvPr/>
        </p:nvSpPr>
        <p:spPr>
          <a:xfrm xmlns:a="http://schemas.openxmlformats.org/drawingml/2006/main">
            <a:off x="2047875" y="15716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lgn="l">
              <a:defRPr sz="1200" b="1">
                <a:solidFill>
                  <a:srgbClr val="51636B"/>
                </a:solidFill>
                <a:latin typeface="Helvetica Neue"/>
                <a:ea typeface="Helvetica Neue"/>
                <a:cs typeface="Helvetica Neue"/>
              </a:defRPr>
            </a:pPr>
            <a:r>
              <a:rPr sz="1200" b="1">
                <a:solidFill>
                  <a:srgbClr val="51636B"/>
                </a:solidFill>
                <a:latin typeface="Helvetica Neue"/>
                <a:ea typeface="Helvetica Neue"/>
                <a:cs typeface="Helvetica Neue"/>
              </a:rPr>
              <a:t>Split</a:t>
            </a:r>
          </a:p>
        </p:txBody>
      </p:sp>
      <p:sp>
        <p:nvSpPr>
          <p:cNvPr id="8" name="">
            <a:extLst xmlns:a="http://schemas.openxmlformats.org/drawingml/2006/main">
              <a:ext uri="{FF2B5EF4-FFF2-40B4-BE49-F238E27FC236}">
                <a16:creationId xmlns:a16="http://schemas.microsoft.com/office/drawing/2014/main" id="{B4DE3075-FB12-4CD3-AA84-6BF22B50DEA4}"/>
              </a:ext>
            </a:extLst>
          </p:cNvPr>
          <p:cNvSpPr>
            <a:spLocks xmlns:a="http://schemas.openxmlformats.org/drawingml/2006/main" noGrp="1"/>
          </p:cNvSpPr>
          <p:nvPr/>
        </p:nvSpPr>
        <p:spPr>
          <a:xfrm xmlns:a="http://schemas.openxmlformats.org/drawingml/2006/main">
            <a:off x="3238500" y="1571625"/>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lgn="ctr">
              <a:defRPr sz="1200" b="1">
                <a:solidFill>
                  <a:srgbClr val="51636B"/>
                </a:solidFill>
                <a:latin typeface="Helvetica Neue"/>
                <a:ea typeface="Helvetica Neue"/>
                <a:cs typeface="Helvetica Neue"/>
              </a:defRPr>
            </a:pPr>
            <a:r>
              <a:rPr sz="1200" b="1">
                <a:solidFill>
                  <a:srgbClr val="51636B"/>
                </a:solidFill>
                <a:latin typeface="Helvetica Neue"/>
                <a:ea typeface="Helvetica Neue"/>
                <a:cs typeface="Helvetica Neue"/>
              </a:rPr>
              <a:t>Correct grid point</a:t>
            </a:r>
          </a:p>
        </p:txBody>
      </p:sp>
      <p:sp>
        <p:nvSpPr>
          <p:cNvPr id="9" name="">
            <a:extLst xmlns:a="http://schemas.openxmlformats.org/drawingml/2006/main">
              <a:ext uri="{FF2B5EF4-FFF2-40B4-BE49-F238E27FC236}">
                <a16:creationId xmlns:a16="http://schemas.microsoft.com/office/drawing/2014/main" id="{B1BE249E-A67C-42E7-A212-FE096DCEDD41}"/>
              </a:ext>
            </a:extLst>
          </p:cNvPr>
          <p:cNvSpPr>
            <a:spLocks xmlns:a="http://schemas.openxmlformats.org/drawingml/2006/main" noGrp="1"/>
          </p:cNvSpPr>
          <p:nvPr/>
        </p:nvSpPr>
        <p:spPr>
          <a:xfrm xmlns:a="http://schemas.openxmlformats.org/drawingml/2006/main">
            <a:off x="5191125" y="1571625"/>
            <a:ext cx="1238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lgn="ctr">
              <a:defRPr sz="1200" b="1">
                <a:solidFill>
                  <a:srgbClr val="51636B"/>
                </a:solidFill>
                <a:latin typeface="Helvetica Neue"/>
                <a:ea typeface="Helvetica Neue"/>
                <a:cs typeface="Helvetica Neue"/>
              </a:defRPr>
            </a:pPr>
            <a:r>
              <a:rPr sz="1200" b="1">
                <a:solidFill>
                  <a:srgbClr val="51636B"/>
                </a:solidFill>
                <a:latin typeface="Helvetica Neue"/>
                <a:ea typeface="Helvetica Neue"/>
                <a:cs typeface="Helvetica Neue"/>
              </a:rPr>
              <a:t>Pearson</a:t>
            </a:r>
          </a:p>
        </p:txBody>
      </p:sp>
      <p:sp>
        <p:nvSpPr>
          <p:cNvPr id="10" name="">
            <a:extLst xmlns:a="http://schemas.openxmlformats.org/drawingml/2006/main">
              <a:ext uri="{FF2B5EF4-FFF2-40B4-BE49-F238E27FC236}">
                <a16:creationId xmlns:a16="http://schemas.microsoft.com/office/drawing/2014/main" id="{6746F161-5B44-478F-A72B-3DBB875DE301}"/>
              </a:ext>
            </a:extLst>
          </p:cNvPr>
          <p:cNvSpPr>
            <a:spLocks xmlns:a="http://schemas.openxmlformats.org/drawingml/2006/main" noGrp="1"/>
          </p:cNvSpPr>
          <p:nvPr/>
        </p:nvSpPr>
        <p:spPr>
          <a:xfrm xmlns:a="http://schemas.openxmlformats.org/drawingml/2006/main">
            <a:off x="6572250" y="1571625"/>
            <a:ext cx="1238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lgn="ctr">
              <a:defRPr sz="1200" b="1">
                <a:solidFill>
                  <a:srgbClr val="51636B"/>
                </a:solidFill>
                <a:latin typeface="Helvetica Neue"/>
                <a:ea typeface="Helvetica Neue"/>
                <a:cs typeface="Helvetica Neue"/>
              </a:defRPr>
            </a:pPr>
            <a:r>
              <a:rPr sz="1200" b="1">
                <a:solidFill>
                  <a:srgbClr val="51636B"/>
                </a:solidFill>
                <a:latin typeface="Helvetica Neue"/>
                <a:ea typeface="Helvetica Neue"/>
                <a:cs typeface="Helvetica Neue"/>
              </a:rPr>
              <a:t>Spearman</a:t>
            </a:r>
          </a:p>
        </p:txBody>
      </p:sp>
      <p:sp>
        <p:nvSpPr>
          <p:cNvPr id="11" name="">
            <a:extLst xmlns:a="http://schemas.openxmlformats.org/drawingml/2006/main">
              <a:ext uri="{FF2B5EF4-FFF2-40B4-BE49-F238E27FC236}">
                <a16:creationId xmlns:a16="http://schemas.microsoft.com/office/drawing/2014/main" id="{B5EE3835-E1C0-4026-B4E7-229F1D88B31E}"/>
              </a:ext>
            </a:extLst>
          </p:cNvPr>
          <p:cNvSpPr>
            <a:spLocks xmlns:a="http://schemas.openxmlformats.org/drawingml/2006/main" noGrp="1"/>
          </p:cNvSpPr>
          <p:nvPr/>
        </p:nvSpPr>
        <p:spPr>
          <a:xfrm xmlns:a="http://schemas.openxmlformats.org/drawingml/2006/main">
            <a:off x="8048625" y="1571625"/>
            <a:ext cx="1238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lgn="ctr">
              <a:defRPr sz="1200" b="1">
                <a:solidFill>
                  <a:srgbClr val="51636B"/>
                </a:solidFill>
                <a:latin typeface="Helvetica Neue"/>
                <a:ea typeface="Helvetica Neue"/>
                <a:cs typeface="Helvetica Neue"/>
              </a:defRPr>
            </a:pPr>
            <a:r>
              <a:rPr sz="1200" b="1">
                <a:solidFill>
                  <a:srgbClr val="51636B"/>
                </a:solidFill>
                <a:latin typeface="Helvetica Neue"/>
                <a:ea typeface="Helvetica Neue"/>
                <a:cs typeface="Helvetica Neue"/>
              </a:rPr>
              <a:t>MAE</a:t>
            </a:r>
          </a:p>
        </p:txBody>
      </p:sp>
      <p:sp>
        <p:nvSpPr>
          <p:cNvPr id="12" name="">
            <a:extLst xmlns:a="http://schemas.openxmlformats.org/drawingml/2006/main">
              <a:ext uri="{FF2B5EF4-FFF2-40B4-BE49-F238E27FC236}">
                <a16:creationId xmlns:a16="http://schemas.microsoft.com/office/drawing/2014/main" id="{3284E786-4B5B-43ED-939C-92429C8AB518}"/>
              </a:ext>
            </a:extLst>
          </p:cNvPr>
          <p:cNvSpPr>
            <a:spLocks xmlns:a="http://schemas.openxmlformats.org/drawingml/2006/main" noGrp="1"/>
          </p:cNvSpPr>
          <p:nvPr/>
        </p:nvSpPr>
        <p:spPr>
          <a:xfrm xmlns:a="http://schemas.openxmlformats.org/drawingml/2006/main">
            <a:off x="9525000" y="1571625"/>
            <a:ext cx="1238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lgn="ctr">
              <a:defRPr sz="1200" b="1">
                <a:solidFill>
                  <a:srgbClr val="51636B"/>
                </a:solidFill>
                <a:latin typeface="Helvetica Neue"/>
                <a:ea typeface="Helvetica Neue"/>
                <a:cs typeface="Helvetica Neue"/>
              </a:defRPr>
            </a:pPr>
            <a:r>
              <a:rPr sz="1200" b="1">
                <a:solidFill>
                  <a:srgbClr val="51636B"/>
                </a:solidFill>
                <a:latin typeface="Helvetica Neue"/>
                <a:ea typeface="Helvetica Neue"/>
                <a:cs typeface="Helvetica Neue"/>
              </a:rPr>
              <a:t>RMSE</a:t>
            </a:r>
          </a:p>
        </p:txBody>
      </p:sp>
      <p:sp>
        <p:nvSpPr>
          <p:cNvPr id="13" name="">
            <a:extLst xmlns:a="http://schemas.openxmlformats.org/drawingml/2006/main">
              <a:ext uri="{FF2B5EF4-FFF2-40B4-BE49-F238E27FC236}">
                <a16:creationId xmlns:a16="http://schemas.microsoft.com/office/drawing/2014/main" id="{A51C8035-774D-461E-84A5-37F8A66EDD14}"/>
              </a:ext>
            </a:extLst>
          </p:cNvPr>
          <p:cNvSpPr>
            <a:spLocks xmlns:a="http://schemas.openxmlformats.org/drawingml/2006/main" noGrp="1"/>
          </p:cNvSpPr>
          <p:nvPr/>
        </p:nvSpPr>
        <p:spPr>
          <a:xfrm xmlns:a="http://schemas.openxmlformats.org/drawingml/2006/main">
            <a:off x="619125" y="1924050"/>
            <a:ext cx="10477500" cy="590550"/>
          </a:xfrm>
          <a:prstGeom xmlns:a="http://schemas.openxmlformats.org/drawingml/2006/main" prst="rect">
            <a:avLst/>
          </a:prstGeom>
          <a:solidFill xmlns:a="http://schemas.openxmlformats.org/drawingml/2006/main">
            <a:srgbClr val="EEF5F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1C220C10-4DD4-41A9-9145-4A7E78DD3265}"/>
              </a:ext>
            </a:extLst>
          </p:cNvPr>
          <p:cNvSpPr>
            <a:spLocks xmlns:a="http://schemas.openxmlformats.org/drawingml/2006/main" noGrp="1"/>
          </p:cNvSpPr>
          <p:nvPr/>
        </p:nvSpPr>
        <p:spPr>
          <a:xfrm xmlns:a="http://schemas.openxmlformats.org/drawingml/2006/main">
            <a:off x="714375" y="2000250"/>
            <a:ext cx="1190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14262D"/>
                </a:solidFill>
                <a:latin typeface="Helvetica Neue"/>
                <a:ea typeface="Helvetica Neue"/>
                <a:cs typeface="Helvetica Neue"/>
              </a:defRPr>
            </a:pPr>
            <a:r>
              <a:rPr sz="1425" b="0">
                <a:solidFill>
                  <a:srgbClr val="14262D"/>
                </a:solidFill>
                <a:latin typeface="Helvetica Neue"/>
                <a:ea typeface="Helvetica Neue"/>
                <a:cs typeface="Helvetica Neue"/>
              </a:rPr>
              <a:t>0.5 °C</a:t>
            </a:r>
          </a:p>
        </p:txBody>
      </p:sp>
      <p:sp>
        <p:nvSpPr>
          <p:cNvPr id="15" name="">
            <a:extLst xmlns:a="http://schemas.openxmlformats.org/drawingml/2006/main">
              <a:ext uri="{FF2B5EF4-FFF2-40B4-BE49-F238E27FC236}">
                <a16:creationId xmlns:a16="http://schemas.microsoft.com/office/drawing/2014/main" id="{7BC8A7E8-CC2E-4BDD-B6D7-1E30C4888BD6}"/>
              </a:ext>
            </a:extLst>
          </p:cNvPr>
          <p:cNvSpPr>
            <a:spLocks xmlns:a="http://schemas.openxmlformats.org/drawingml/2006/main" noGrp="1"/>
          </p:cNvSpPr>
          <p:nvPr/>
        </p:nvSpPr>
        <p:spPr>
          <a:xfrm xmlns:a="http://schemas.openxmlformats.org/drawingml/2006/main">
            <a:off x="2047875" y="2000250"/>
            <a:ext cx="104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14262D"/>
                </a:solidFill>
                <a:latin typeface="Helvetica Neue"/>
                <a:ea typeface="Helvetica Neue"/>
                <a:cs typeface="Helvetica Neue"/>
              </a:defRPr>
            </a:pPr>
            <a:r>
              <a:rPr sz="1425" b="0">
                <a:solidFill>
                  <a:srgbClr val="14262D"/>
                </a:solidFill>
                <a:latin typeface="Helvetica Neue"/>
                <a:ea typeface="Helvetica Neue"/>
                <a:cs typeface="Helvetica Neue"/>
              </a:rPr>
              <a:t>80 / 20</a:t>
            </a:r>
          </a:p>
        </p:txBody>
      </p:sp>
      <p:sp>
        <p:nvSpPr>
          <p:cNvPr id="16" name="">
            <a:extLst xmlns:a="http://schemas.openxmlformats.org/drawingml/2006/main">
              <a:ext uri="{FF2B5EF4-FFF2-40B4-BE49-F238E27FC236}">
                <a16:creationId xmlns:a16="http://schemas.microsoft.com/office/drawing/2014/main" id="{D4855591-DBE6-4132-BCCE-AAC975EDBD4A}"/>
              </a:ext>
            </a:extLst>
          </p:cNvPr>
          <p:cNvSpPr>
            <a:spLocks xmlns:a="http://schemas.openxmlformats.org/drawingml/2006/main" noGrp="1"/>
          </p:cNvSpPr>
          <p:nvPr/>
        </p:nvSpPr>
        <p:spPr>
          <a:xfrm xmlns:a="http://schemas.openxmlformats.org/drawingml/2006/main">
            <a:off x="3333750" y="2000250"/>
            <a:ext cx="152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D7634C"/>
                </a:solidFill>
                <a:latin typeface="Helvetica Neue"/>
                <a:ea typeface="Helvetica Neue"/>
                <a:cs typeface="Helvetica Neue"/>
              </a:defRPr>
            </a:pPr>
            <a:r>
              <a:rPr sz="1425" b="1">
                <a:solidFill>
                  <a:srgbClr val="D7634C"/>
                </a:solidFill>
                <a:latin typeface="Helvetica Neue"/>
                <a:ea typeface="Helvetica Neue"/>
                <a:cs typeface="Helvetica Neue"/>
              </a:rPr>
              <a:t>1.4%</a:t>
            </a:r>
          </a:p>
        </p:txBody>
      </p:sp>
      <p:sp>
        <p:nvSpPr>
          <p:cNvPr id="17" name="">
            <a:extLst xmlns:a="http://schemas.openxmlformats.org/drawingml/2006/main">
              <a:ext uri="{FF2B5EF4-FFF2-40B4-BE49-F238E27FC236}">
                <a16:creationId xmlns:a16="http://schemas.microsoft.com/office/drawing/2014/main" id="{06826EF5-5805-4A88-AE18-51D6A521B12A}"/>
              </a:ext>
            </a:extLst>
          </p:cNvPr>
          <p:cNvSpPr>
            <a:spLocks xmlns:a="http://schemas.openxmlformats.org/drawingml/2006/main" noGrp="1"/>
          </p:cNvSpPr>
          <p:nvPr/>
        </p:nvSpPr>
        <p:spPr>
          <a:xfrm xmlns:a="http://schemas.openxmlformats.org/drawingml/2006/main">
            <a:off x="5286375" y="2000250"/>
            <a:ext cx="104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0">
                <a:solidFill>
                  <a:srgbClr val="14262D"/>
                </a:solidFill>
                <a:latin typeface="Helvetica Neue"/>
                <a:ea typeface="Helvetica Neue"/>
                <a:cs typeface="Helvetica Neue"/>
              </a:defRPr>
            </a:pPr>
            <a:r>
              <a:rPr sz="1425" b="0">
                <a:solidFill>
                  <a:srgbClr val="14262D"/>
                </a:solidFill>
                <a:latin typeface="Helvetica Neue"/>
                <a:ea typeface="Helvetica Neue"/>
                <a:cs typeface="Helvetica Neue"/>
              </a:rPr>
              <a:t>0.385</a:t>
            </a:r>
          </a:p>
        </p:txBody>
      </p:sp>
      <p:sp>
        <p:nvSpPr>
          <p:cNvPr id="18" name="">
            <a:extLst xmlns:a="http://schemas.openxmlformats.org/drawingml/2006/main">
              <a:ext uri="{FF2B5EF4-FFF2-40B4-BE49-F238E27FC236}">
                <a16:creationId xmlns:a16="http://schemas.microsoft.com/office/drawing/2014/main" id="{631AA808-987B-4737-9E57-554C3F6F2D8D}"/>
              </a:ext>
            </a:extLst>
          </p:cNvPr>
          <p:cNvSpPr>
            <a:spLocks xmlns:a="http://schemas.openxmlformats.org/drawingml/2006/main" noGrp="1"/>
          </p:cNvSpPr>
          <p:nvPr/>
        </p:nvSpPr>
        <p:spPr>
          <a:xfrm xmlns:a="http://schemas.openxmlformats.org/drawingml/2006/main">
            <a:off x="6667500" y="2000250"/>
            <a:ext cx="104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0">
                <a:solidFill>
                  <a:srgbClr val="14262D"/>
                </a:solidFill>
                <a:latin typeface="Helvetica Neue"/>
                <a:ea typeface="Helvetica Neue"/>
                <a:cs typeface="Helvetica Neue"/>
              </a:defRPr>
            </a:pPr>
            <a:r>
              <a:rPr sz="1425" b="0">
                <a:solidFill>
                  <a:srgbClr val="14262D"/>
                </a:solidFill>
                <a:latin typeface="Helvetica Neue"/>
                <a:ea typeface="Helvetica Neue"/>
                <a:cs typeface="Helvetica Neue"/>
              </a:rPr>
              <a:t>0.312</a:t>
            </a:r>
          </a:p>
        </p:txBody>
      </p:sp>
      <p:sp>
        <p:nvSpPr>
          <p:cNvPr id="19" name="">
            <a:extLst xmlns:a="http://schemas.openxmlformats.org/drawingml/2006/main">
              <a:ext uri="{FF2B5EF4-FFF2-40B4-BE49-F238E27FC236}">
                <a16:creationId xmlns:a16="http://schemas.microsoft.com/office/drawing/2014/main" id="{9739E4FB-DCA6-4E98-B42C-89B573F9E4E6}"/>
              </a:ext>
            </a:extLst>
          </p:cNvPr>
          <p:cNvSpPr>
            <a:spLocks xmlns:a="http://schemas.openxmlformats.org/drawingml/2006/main" noGrp="1"/>
          </p:cNvSpPr>
          <p:nvPr/>
        </p:nvSpPr>
        <p:spPr>
          <a:xfrm xmlns:a="http://schemas.openxmlformats.org/drawingml/2006/main">
            <a:off x="8143875" y="2000250"/>
            <a:ext cx="1095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0">
                <a:solidFill>
                  <a:srgbClr val="14262D"/>
                </a:solidFill>
                <a:latin typeface="Helvetica Neue"/>
                <a:ea typeface="Helvetica Neue"/>
                <a:cs typeface="Helvetica Neue"/>
              </a:defRPr>
            </a:pPr>
            <a:r>
              <a:rPr sz="1425" b="0">
                <a:solidFill>
                  <a:srgbClr val="14262D"/>
                </a:solidFill>
                <a:latin typeface="Helvetica Neue"/>
                <a:ea typeface="Helvetica Neue"/>
                <a:cs typeface="Helvetica Neue"/>
              </a:rPr>
              <a:t>11.93 °C</a:t>
            </a:r>
          </a:p>
        </p:txBody>
      </p:sp>
      <p:sp>
        <p:nvSpPr>
          <p:cNvPr id="20" name="">
            <a:extLst xmlns:a="http://schemas.openxmlformats.org/drawingml/2006/main">
              <a:ext uri="{FF2B5EF4-FFF2-40B4-BE49-F238E27FC236}">
                <a16:creationId xmlns:a16="http://schemas.microsoft.com/office/drawing/2014/main" id="{5A4DF90C-00AD-49D5-ABCA-8DCDF0F2221D}"/>
              </a:ext>
            </a:extLst>
          </p:cNvPr>
          <p:cNvSpPr>
            <a:spLocks xmlns:a="http://schemas.openxmlformats.org/drawingml/2006/main" noGrp="1"/>
          </p:cNvSpPr>
          <p:nvPr/>
        </p:nvSpPr>
        <p:spPr>
          <a:xfrm xmlns:a="http://schemas.openxmlformats.org/drawingml/2006/main">
            <a:off x="9620250" y="2000250"/>
            <a:ext cx="1095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0">
                <a:solidFill>
                  <a:srgbClr val="14262D"/>
                </a:solidFill>
                <a:latin typeface="Helvetica Neue"/>
                <a:ea typeface="Helvetica Neue"/>
                <a:cs typeface="Helvetica Neue"/>
              </a:defRPr>
            </a:pPr>
            <a:r>
              <a:rPr sz="1425" b="0">
                <a:solidFill>
                  <a:srgbClr val="14262D"/>
                </a:solidFill>
                <a:latin typeface="Helvetica Neue"/>
                <a:ea typeface="Helvetica Neue"/>
                <a:cs typeface="Helvetica Neue"/>
              </a:rPr>
              <a:t>14.90 °C</a:t>
            </a:r>
          </a:p>
        </p:txBody>
      </p:sp>
      <p:sp>
        <p:nvSpPr>
          <p:cNvPr id="21" name="">
            <a:extLst xmlns:a="http://schemas.openxmlformats.org/drawingml/2006/main">
              <a:ext uri="{FF2B5EF4-FFF2-40B4-BE49-F238E27FC236}">
                <a16:creationId xmlns:a16="http://schemas.microsoft.com/office/drawing/2014/main" id="{9239EDA3-CCE2-4E5A-AA7A-43CAD87F3D64}"/>
              </a:ext>
            </a:extLst>
          </p:cNvPr>
          <p:cNvSpPr>
            <a:spLocks xmlns:a="http://schemas.openxmlformats.org/drawingml/2006/main" noGrp="1"/>
          </p:cNvSpPr>
          <p:nvPr/>
        </p:nvSpPr>
        <p:spPr>
          <a:xfrm xmlns:a="http://schemas.openxmlformats.org/drawingml/2006/main">
            <a:off x="714375" y="2743200"/>
            <a:ext cx="1190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14262D"/>
                </a:solidFill>
                <a:latin typeface="Helvetica Neue"/>
                <a:ea typeface="Helvetica Neue"/>
                <a:cs typeface="Helvetica Neue"/>
              </a:defRPr>
            </a:pPr>
            <a:r>
              <a:rPr sz="1425" b="0">
                <a:solidFill>
                  <a:srgbClr val="14262D"/>
                </a:solidFill>
                <a:latin typeface="Helvetica Neue"/>
                <a:ea typeface="Helvetica Neue"/>
                <a:cs typeface="Helvetica Neue"/>
              </a:rPr>
              <a:t>10 °C</a:t>
            </a:r>
          </a:p>
        </p:txBody>
      </p:sp>
      <p:sp>
        <p:nvSpPr>
          <p:cNvPr id="22" name="">
            <a:extLst xmlns:a="http://schemas.openxmlformats.org/drawingml/2006/main">
              <a:ext uri="{FF2B5EF4-FFF2-40B4-BE49-F238E27FC236}">
                <a16:creationId xmlns:a16="http://schemas.microsoft.com/office/drawing/2014/main" id="{5CF96B51-47A7-4EA2-869A-1429F0587DBD}"/>
              </a:ext>
            </a:extLst>
          </p:cNvPr>
          <p:cNvSpPr>
            <a:spLocks xmlns:a="http://schemas.openxmlformats.org/drawingml/2006/main" noGrp="1"/>
          </p:cNvSpPr>
          <p:nvPr/>
        </p:nvSpPr>
        <p:spPr>
          <a:xfrm xmlns:a="http://schemas.openxmlformats.org/drawingml/2006/main">
            <a:off x="2047875" y="2743200"/>
            <a:ext cx="104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14262D"/>
                </a:solidFill>
                <a:latin typeface="Helvetica Neue"/>
                <a:ea typeface="Helvetica Neue"/>
                <a:cs typeface="Helvetica Neue"/>
              </a:defRPr>
            </a:pPr>
            <a:r>
              <a:rPr sz="1425" b="0">
                <a:solidFill>
                  <a:srgbClr val="14262D"/>
                </a:solidFill>
                <a:latin typeface="Helvetica Neue"/>
                <a:ea typeface="Helvetica Neue"/>
                <a:cs typeface="Helvetica Neue"/>
              </a:rPr>
              <a:t>80 / 20</a:t>
            </a:r>
          </a:p>
        </p:txBody>
      </p:sp>
      <p:sp>
        <p:nvSpPr>
          <p:cNvPr id="23" name="">
            <a:extLst xmlns:a="http://schemas.openxmlformats.org/drawingml/2006/main">
              <a:ext uri="{FF2B5EF4-FFF2-40B4-BE49-F238E27FC236}">
                <a16:creationId xmlns:a16="http://schemas.microsoft.com/office/drawing/2014/main" id="{46AB3954-B3AD-4D83-8219-6FB21968D31F}"/>
              </a:ext>
            </a:extLst>
          </p:cNvPr>
          <p:cNvSpPr>
            <a:spLocks xmlns:a="http://schemas.openxmlformats.org/drawingml/2006/main" noGrp="1"/>
          </p:cNvSpPr>
          <p:nvPr/>
        </p:nvSpPr>
        <p:spPr>
          <a:xfrm xmlns:a="http://schemas.openxmlformats.org/drawingml/2006/main">
            <a:off x="3333750" y="2743200"/>
            <a:ext cx="152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D7634C"/>
                </a:solidFill>
                <a:latin typeface="Helvetica Neue"/>
                <a:ea typeface="Helvetica Neue"/>
                <a:cs typeface="Helvetica Neue"/>
              </a:defRPr>
            </a:pPr>
            <a:r>
              <a:rPr sz="1425" b="1">
                <a:solidFill>
                  <a:srgbClr val="D7634C"/>
                </a:solidFill>
                <a:latin typeface="Helvetica Neue"/>
                <a:ea typeface="Helvetica Neue"/>
                <a:cs typeface="Helvetica Neue"/>
              </a:rPr>
              <a:t>24.9%</a:t>
            </a:r>
          </a:p>
        </p:txBody>
      </p:sp>
      <p:sp>
        <p:nvSpPr>
          <p:cNvPr id="24" name="">
            <a:extLst xmlns:a="http://schemas.openxmlformats.org/drawingml/2006/main">
              <a:ext uri="{FF2B5EF4-FFF2-40B4-BE49-F238E27FC236}">
                <a16:creationId xmlns:a16="http://schemas.microsoft.com/office/drawing/2014/main" id="{62FB0103-AD14-4145-8635-863BEF461EAF}"/>
              </a:ext>
            </a:extLst>
          </p:cNvPr>
          <p:cNvSpPr>
            <a:spLocks xmlns:a="http://schemas.openxmlformats.org/drawingml/2006/main" noGrp="1"/>
          </p:cNvSpPr>
          <p:nvPr/>
        </p:nvSpPr>
        <p:spPr>
          <a:xfrm xmlns:a="http://schemas.openxmlformats.org/drawingml/2006/main">
            <a:off x="5286375" y="2743200"/>
            <a:ext cx="104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0">
                <a:solidFill>
                  <a:srgbClr val="14262D"/>
                </a:solidFill>
                <a:latin typeface="Helvetica Neue"/>
                <a:ea typeface="Helvetica Neue"/>
                <a:cs typeface="Helvetica Neue"/>
              </a:defRPr>
            </a:pPr>
            <a:r>
              <a:rPr sz="1425" b="0">
                <a:solidFill>
                  <a:srgbClr val="14262D"/>
                </a:solidFill>
                <a:latin typeface="Helvetica Neue"/>
                <a:ea typeface="Helvetica Neue"/>
                <a:cs typeface="Helvetica Neue"/>
              </a:rPr>
              <a:t>0.377</a:t>
            </a:r>
          </a:p>
        </p:txBody>
      </p:sp>
      <p:sp>
        <p:nvSpPr>
          <p:cNvPr id="25" name="">
            <a:extLst xmlns:a="http://schemas.openxmlformats.org/drawingml/2006/main">
              <a:ext uri="{FF2B5EF4-FFF2-40B4-BE49-F238E27FC236}">
                <a16:creationId xmlns:a16="http://schemas.microsoft.com/office/drawing/2014/main" id="{C6636FEF-0F17-45DF-9CE9-5CC6A79BC851}"/>
              </a:ext>
            </a:extLst>
          </p:cNvPr>
          <p:cNvSpPr>
            <a:spLocks xmlns:a="http://schemas.openxmlformats.org/drawingml/2006/main" noGrp="1"/>
          </p:cNvSpPr>
          <p:nvPr/>
        </p:nvSpPr>
        <p:spPr>
          <a:xfrm xmlns:a="http://schemas.openxmlformats.org/drawingml/2006/main">
            <a:off x="6667500" y="2743200"/>
            <a:ext cx="104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0">
                <a:solidFill>
                  <a:srgbClr val="14262D"/>
                </a:solidFill>
                <a:latin typeface="Helvetica Neue"/>
                <a:ea typeface="Helvetica Neue"/>
                <a:cs typeface="Helvetica Neue"/>
              </a:defRPr>
            </a:pPr>
            <a:r>
              <a:rPr sz="1425" b="0">
                <a:solidFill>
                  <a:srgbClr val="14262D"/>
                </a:solidFill>
                <a:latin typeface="Helvetica Neue"/>
                <a:ea typeface="Helvetica Neue"/>
                <a:cs typeface="Helvetica Neue"/>
              </a:rPr>
              <a:t>0.304</a:t>
            </a:r>
          </a:p>
        </p:txBody>
      </p:sp>
      <p:sp>
        <p:nvSpPr>
          <p:cNvPr id="26" name="">
            <a:extLst xmlns:a="http://schemas.openxmlformats.org/drawingml/2006/main">
              <a:ext uri="{FF2B5EF4-FFF2-40B4-BE49-F238E27FC236}">
                <a16:creationId xmlns:a16="http://schemas.microsoft.com/office/drawing/2014/main" id="{ABB0E68F-E99E-4551-BE1C-663B32C617BB}"/>
              </a:ext>
            </a:extLst>
          </p:cNvPr>
          <p:cNvSpPr>
            <a:spLocks xmlns:a="http://schemas.openxmlformats.org/drawingml/2006/main" noGrp="1"/>
          </p:cNvSpPr>
          <p:nvPr/>
        </p:nvSpPr>
        <p:spPr>
          <a:xfrm xmlns:a="http://schemas.openxmlformats.org/drawingml/2006/main">
            <a:off x="8143875" y="2743200"/>
            <a:ext cx="1095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0">
                <a:solidFill>
                  <a:srgbClr val="14262D"/>
                </a:solidFill>
                <a:latin typeface="Helvetica Neue"/>
                <a:ea typeface="Helvetica Neue"/>
                <a:cs typeface="Helvetica Neue"/>
              </a:defRPr>
            </a:pPr>
            <a:r>
              <a:rPr sz="1425" b="0">
                <a:solidFill>
                  <a:srgbClr val="14262D"/>
                </a:solidFill>
                <a:latin typeface="Helvetica Neue"/>
                <a:ea typeface="Helvetica Neue"/>
                <a:cs typeface="Helvetica Neue"/>
              </a:rPr>
              <a:t>11.77 °C</a:t>
            </a:r>
          </a:p>
        </p:txBody>
      </p:sp>
      <p:sp>
        <p:nvSpPr>
          <p:cNvPr id="27" name="">
            <a:extLst xmlns:a="http://schemas.openxmlformats.org/drawingml/2006/main">
              <a:ext uri="{FF2B5EF4-FFF2-40B4-BE49-F238E27FC236}">
                <a16:creationId xmlns:a16="http://schemas.microsoft.com/office/drawing/2014/main" id="{1DF60D55-CCC9-480A-A68B-4A582D8197CF}"/>
              </a:ext>
            </a:extLst>
          </p:cNvPr>
          <p:cNvSpPr>
            <a:spLocks xmlns:a="http://schemas.openxmlformats.org/drawingml/2006/main" noGrp="1"/>
          </p:cNvSpPr>
          <p:nvPr/>
        </p:nvSpPr>
        <p:spPr>
          <a:xfrm xmlns:a="http://schemas.openxmlformats.org/drawingml/2006/main">
            <a:off x="9620250" y="2743200"/>
            <a:ext cx="1095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0">
                <a:solidFill>
                  <a:srgbClr val="14262D"/>
                </a:solidFill>
                <a:latin typeface="Helvetica Neue"/>
                <a:ea typeface="Helvetica Neue"/>
                <a:cs typeface="Helvetica Neue"/>
              </a:defRPr>
            </a:pPr>
            <a:r>
              <a:rPr sz="1425" b="0">
                <a:solidFill>
                  <a:srgbClr val="14262D"/>
                </a:solidFill>
                <a:latin typeface="Helvetica Neue"/>
                <a:ea typeface="Helvetica Neue"/>
                <a:cs typeface="Helvetica Neue"/>
              </a:rPr>
              <a:t>14.70 °C</a:t>
            </a:r>
          </a:p>
        </p:txBody>
      </p:sp>
      <p:sp>
        <p:nvSpPr>
          <p:cNvPr id="28" name="">
            <a:extLst xmlns:a="http://schemas.openxmlformats.org/drawingml/2006/main">
              <a:ext uri="{FF2B5EF4-FFF2-40B4-BE49-F238E27FC236}">
                <a16:creationId xmlns:a16="http://schemas.microsoft.com/office/drawing/2014/main" id="{13FCDC7A-4A41-48C6-895E-6FFD0250E030}"/>
              </a:ext>
            </a:extLst>
          </p:cNvPr>
          <p:cNvSpPr>
            <a:spLocks xmlns:a="http://schemas.openxmlformats.org/drawingml/2006/main" noGrp="1"/>
          </p:cNvSpPr>
          <p:nvPr/>
        </p:nvSpPr>
        <p:spPr>
          <a:xfrm xmlns:a="http://schemas.openxmlformats.org/drawingml/2006/main">
            <a:off x="619125" y="3409950"/>
            <a:ext cx="10477500" cy="590550"/>
          </a:xfrm>
          <a:prstGeom xmlns:a="http://schemas.openxmlformats.org/drawingml/2006/main" prst="rect">
            <a:avLst/>
          </a:prstGeom>
          <a:solidFill xmlns:a="http://schemas.openxmlformats.org/drawingml/2006/main">
            <a:srgbClr val="EEF5F3"/>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B0202AE0-F6D8-47CD-B102-0036EFBABD78}"/>
              </a:ext>
            </a:extLst>
          </p:cNvPr>
          <p:cNvSpPr>
            <a:spLocks xmlns:a="http://schemas.openxmlformats.org/drawingml/2006/main" noGrp="1"/>
          </p:cNvSpPr>
          <p:nvPr/>
        </p:nvSpPr>
        <p:spPr>
          <a:xfrm xmlns:a="http://schemas.openxmlformats.org/drawingml/2006/main">
            <a:off x="714375" y="3486150"/>
            <a:ext cx="1190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14262D"/>
                </a:solidFill>
                <a:latin typeface="Helvetica Neue"/>
                <a:ea typeface="Helvetica Neue"/>
                <a:cs typeface="Helvetica Neue"/>
              </a:defRPr>
            </a:pPr>
            <a:r>
              <a:rPr sz="1425" b="0">
                <a:solidFill>
                  <a:srgbClr val="14262D"/>
                </a:solidFill>
                <a:latin typeface="Helvetica Neue"/>
                <a:ea typeface="Helvetica Neue"/>
                <a:cs typeface="Helvetica Neue"/>
              </a:rPr>
              <a:t>10 °C</a:t>
            </a:r>
          </a:p>
        </p:txBody>
      </p:sp>
      <p:sp>
        <p:nvSpPr>
          <p:cNvPr id="30" name="">
            <a:extLst xmlns:a="http://schemas.openxmlformats.org/drawingml/2006/main">
              <a:ext uri="{FF2B5EF4-FFF2-40B4-BE49-F238E27FC236}">
                <a16:creationId xmlns:a16="http://schemas.microsoft.com/office/drawing/2014/main" id="{767E1F3D-D8FB-407F-B5DA-46607002FED8}"/>
              </a:ext>
            </a:extLst>
          </p:cNvPr>
          <p:cNvSpPr>
            <a:spLocks xmlns:a="http://schemas.openxmlformats.org/drawingml/2006/main" noGrp="1"/>
          </p:cNvSpPr>
          <p:nvPr/>
        </p:nvSpPr>
        <p:spPr>
          <a:xfrm xmlns:a="http://schemas.openxmlformats.org/drawingml/2006/main">
            <a:off x="2047875" y="3486150"/>
            <a:ext cx="104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14262D"/>
                </a:solidFill>
                <a:latin typeface="Helvetica Neue"/>
                <a:ea typeface="Helvetica Neue"/>
                <a:cs typeface="Helvetica Neue"/>
              </a:defRPr>
            </a:pPr>
            <a:r>
              <a:rPr sz="1425" b="0">
                <a:solidFill>
                  <a:srgbClr val="14262D"/>
                </a:solidFill>
                <a:latin typeface="Helvetica Neue"/>
                <a:ea typeface="Helvetica Neue"/>
                <a:cs typeface="Helvetica Neue"/>
              </a:rPr>
              <a:t>90 / 10</a:t>
            </a:r>
          </a:p>
        </p:txBody>
      </p:sp>
      <p:sp>
        <p:nvSpPr>
          <p:cNvPr id="31" name="">
            <a:extLst xmlns:a="http://schemas.openxmlformats.org/drawingml/2006/main">
              <a:ext uri="{FF2B5EF4-FFF2-40B4-BE49-F238E27FC236}">
                <a16:creationId xmlns:a16="http://schemas.microsoft.com/office/drawing/2014/main" id="{AA014F12-DD4C-4605-9140-45E43EAF129D}"/>
              </a:ext>
            </a:extLst>
          </p:cNvPr>
          <p:cNvSpPr>
            <a:spLocks xmlns:a="http://schemas.openxmlformats.org/drawingml/2006/main" noGrp="1"/>
          </p:cNvSpPr>
          <p:nvPr/>
        </p:nvSpPr>
        <p:spPr>
          <a:xfrm xmlns:a="http://schemas.openxmlformats.org/drawingml/2006/main">
            <a:off x="3333750" y="3486150"/>
            <a:ext cx="152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D7634C"/>
                </a:solidFill>
                <a:latin typeface="Helvetica Neue"/>
                <a:ea typeface="Helvetica Neue"/>
                <a:cs typeface="Helvetica Neue"/>
              </a:defRPr>
            </a:pPr>
            <a:r>
              <a:rPr sz="1425" b="1">
                <a:solidFill>
                  <a:srgbClr val="D7634C"/>
                </a:solidFill>
                <a:latin typeface="Helvetica Neue"/>
                <a:ea typeface="Helvetica Neue"/>
                <a:cs typeface="Helvetica Neue"/>
              </a:rPr>
              <a:t>25.0%</a:t>
            </a:r>
          </a:p>
        </p:txBody>
      </p:sp>
      <p:sp>
        <p:nvSpPr>
          <p:cNvPr id="32" name="">
            <a:extLst xmlns:a="http://schemas.openxmlformats.org/drawingml/2006/main">
              <a:ext uri="{FF2B5EF4-FFF2-40B4-BE49-F238E27FC236}">
                <a16:creationId xmlns:a16="http://schemas.microsoft.com/office/drawing/2014/main" id="{8E201968-4D83-4F34-BE84-E4346D438DE8}"/>
              </a:ext>
            </a:extLst>
          </p:cNvPr>
          <p:cNvSpPr>
            <a:spLocks xmlns:a="http://schemas.openxmlformats.org/drawingml/2006/main" noGrp="1"/>
          </p:cNvSpPr>
          <p:nvPr/>
        </p:nvSpPr>
        <p:spPr>
          <a:xfrm xmlns:a="http://schemas.openxmlformats.org/drawingml/2006/main">
            <a:off x="5286375" y="3486150"/>
            <a:ext cx="104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0">
                <a:solidFill>
                  <a:srgbClr val="14262D"/>
                </a:solidFill>
                <a:latin typeface="Helvetica Neue"/>
                <a:ea typeface="Helvetica Neue"/>
                <a:cs typeface="Helvetica Neue"/>
              </a:defRPr>
            </a:pPr>
            <a:r>
              <a:rPr sz="1425" b="0">
                <a:solidFill>
                  <a:srgbClr val="14262D"/>
                </a:solidFill>
                <a:latin typeface="Helvetica Neue"/>
                <a:ea typeface="Helvetica Neue"/>
                <a:cs typeface="Helvetica Neue"/>
              </a:rPr>
              <a:t>0.363</a:t>
            </a:r>
          </a:p>
        </p:txBody>
      </p:sp>
      <p:sp>
        <p:nvSpPr>
          <p:cNvPr id="33" name="">
            <a:extLst xmlns:a="http://schemas.openxmlformats.org/drawingml/2006/main">
              <a:ext uri="{FF2B5EF4-FFF2-40B4-BE49-F238E27FC236}">
                <a16:creationId xmlns:a16="http://schemas.microsoft.com/office/drawing/2014/main" id="{A13D2853-30B0-4797-B830-5AD694369B93}"/>
              </a:ext>
            </a:extLst>
          </p:cNvPr>
          <p:cNvSpPr>
            <a:spLocks xmlns:a="http://schemas.openxmlformats.org/drawingml/2006/main" noGrp="1"/>
          </p:cNvSpPr>
          <p:nvPr/>
        </p:nvSpPr>
        <p:spPr>
          <a:xfrm xmlns:a="http://schemas.openxmlformats.org/drawingml/2006/main">
            <a:off x="6667500" y="3486150"/>
            <a:ext cx="104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0">
                <a:solidFill>
                  <a:srgbClr val="14262D"/>
                </a:solidFill>
                <a:latin typeface="Helvetica Neue"/>
                <a:ea typeface="Helvetica Neue"/>
                <a:cs typeface="Helvetica Neue"/>
              </a:defRPr>
            </a:pPr>
            <a:r>
              <a:rPr sz="1425" b="0">
                <a:solidFill>
                  <a:srgbClr val="14262D"/>
                </a:solidFill>
                <a:latin typeface="Helvetica Neue"/>
                <a:ea typeface="Helvetica Neue"/>
                <a:cs typeface="Helvetica Neue"/>
              </a:rPr>
              <a:t>0.289</a:t>
            </a:r>
          </a:p>
        </p:txBody>
      </p:sp>
      <p:sp>
        <p:nvSpPr>
          <p:cNvPr id="34" name="">
            <a:extLst xmlns:a="http://schemas.openxmlformats.org/drawingml/2006/main">
              <a:ext uri="{FF2B5EF4-FFF2-40B4-BE49-F238E27FC236}">
                <a16:creationId xmlns:a16="http://schemas.microsoft.com/office/drawing/2014/main" id="{AFD0FB3C-4526-4863-9306-5F86673E6F64}"/>
              </a:ext>
            </a:extLst>
          </p:cNvPr>
          <p:cNvSpPr>
            <a:spLocks xmlns:a="http://schemas.openxmlformats.org/drawingml/2006/main" noGrp="1"/>
          </p:cNvSpPr>
          <p:nvPr/>
        </p:nvSpPr>
        <p:spPr>
          <a:xfrm xmlns:a="http://schemas.openxmlformats.org/drawingml/2006/main">
            <a:off x="8143875" y="3486150"/>
            <a:ext cx="1095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0">
                <a:solidFill>
                  <a:srgbClr val="14262D"/>
                </a:solidFill>
                <a:latin typeface="Helvetica Neue"/>
                <a:ea typeface="Helvetica Neue"/>
                <a:cs typeface="Helvetica Neue"/>
              </a:defRPr>
            </a:pPr>
            <a:r>
              <a:rPr sz="1425" b="0">
                <a:solidFill>
                  <a:srgbClr val="14262D"/>
                </a:solidFill>
                <a:latin typeface="Helvetica Neue"/>
                <a:ea typeface="Helvetica Neue"/>
                <a:cs typeface="Helvetica Neue"/>
              </a:rPr>
              <a:t>11.85 °C</a:t>
            </a:r>
          </a:p>
        </p:txBody>
      </p:sp>
      <p:sp>
        <p:nvSpPr>
          <p:cNvPr id="35" name="">
            <a:extLst xmlns:a="http://schemas.openxmlformats.org/drawingml/2006/main">
              <a:ext uri="{FF2B5EF4-FFF2-40B4-BE49-F238E27FC236}">
                <a16:creationId xmlns:a16="http://schemas.microsoft.com/office/drawing/2014/main" id="{D83587B6-7587-4623-B3EE-06AB37D7379D}"/>
              </a:ext>
            </a:extLst>
          </p:cNvPr>
          <p:cNvSpPr>
            <a:spLocks xmlns:a="http://schemas.openxmlformats.org/drawingml/2006/main" noGrp="1"/>
          </p:cNvSpPr>
          <p:nvPr/>
        </p:nvSpPr>
        <p:spPr>
          <a:xfrm xmlns:a="http://schemas.openxmlformats.org/drawingml/2006/main">
            <a:off x="9620250" y="3486150"/>
            <a:ext cx="1095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0">
                <a:solidFill>
                  <a:srgbClr val="14262D"/>
                </a:solidFill>
                <a:latin typeface="Helvetica Neue"/>
                <a:ea typeface="Helvetica Neue"/>
                <a:cs typeface="Helvetica Neue"/>
              </a:defRPr>
            </a:pPr>
            <a:r>
              <a:rPr sz="1425" b="0">
                <a:solidFill>
                  <a:srgbClr val="14262D"/>
                </a:solidFill>
                <a:latin typeface="Helvetica Neue"/>
                <a:ea typeface="Helvetica Neue"/>
                <a:cs typeface="Helvetica Neue"/>
              </a:rPr>
              <a:t>14.89 °C</a:t>
            </a:r>
          </a:p>
        </p:txBody>
      </p:sp>
      <p:sp>
        <p:nvSpPr>
          <p:cNvPr id="36" name="">
            <a:extLst xmlns:a="http://schemas.openxmlformats.org/drawingml/2006/main">
              <a:ext uri="{FF2B5EF4-FFF2-40B4-BE49-F238E27FC236}">
                <a16:creationId xmlns:a16="http://schemas.microsoft.com/office/drawing/2014/main" id="{8775EE40-E2DF-48CA-8C48-FAC8B9595851}"/>
              </a:ext>
            </a:extLst>
          </p:cNvPr>
          <p:cNvSpPr>
            <a:spLocks xmlns:a="http://schemas.openxmlformats.org/drawingml/2006/main" noGrp="1"/>
          </p:cNvSpPr>
          <p:nvPr/>
        </p:nvSpPr>
        <p:spPr>
          <a:xfrm xmlns:a="http://schemas.openxmlformats.org/drawingml/2006/main">
            <a:off x="714375" y="4229100"/>
            <a:ext cx="1190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14262D"/>
                </a:solidFill>
                <a:latin typeface="Helvetica Neue"/>
                <a:ea typeface="Helvetica Neue"/>
                <a:cs typeface="Helvetica Neue"/>
              </a:defRPr>
            </a:pPr>
            <a:r>
              <a:rPr sz="1425" b="0">
                <a:solidFill>
                  <a:srgbClr val="14262D"/>
                </a:solidFill>
                <a:latin typeface="Helvetica Neue"/>
                <a:ea typeface="Helvetica Neue"/>
                <a:cs typeface="Helvetica Neue"/>
              </a:rPr>
              <a:t>10 °C</a:t>
            </a:r>
          </a:p>
        </p:txBody>
      </p:sp>
      <p:sp>
        <p:nvSpPr>
          <p:cNvPr id="37" name="">
            <a:extLst xmlns:a="http://schemas.openxmlformats.org/drawingml/2006/main">
              <a:ext uri="{FF2B5EF4-FFF2-40B4-BE49-F238E27FC236}">
                <a16:creationId xmlns:a16="http://schemas.microsoft.com/office/drawing/2014/main" id="{4071ED1A-8008-444A-9B38-00CB305E6AFB}"/>
              </a:ext>
            </a:extLst>
          </p:cNvPr>
          <p:cNvSpPr>
            <a:spLocks xmlns:a="http://schemas.openxmlformats.org/drawingml/2006/main" noGrp="1"/>
          </p:cNvSpPr>
          <p:nvPr/>
        </p:nvSpPr>
        <p:spPr>
          <a:xfrm xmlns:a="http://schemas.openxmlformats.org/drawingml/2006/main">
            <a:off x="2047875" y="4229100"/>
            <a:ext cx="104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14262D"/>
                </a:solidFill>
                <a:latin typeface="Helvetica Neue"/>
                <a:ea typeface="Helvetica Neue"/>
                <a:cs typeface="Helvetica Neue"/>
              </a:defRPr>
            </a:pPr>
            <a:r>
              <a:rPr sz="1425" b="0">
                <a:solidFill>
                  <a:srgbClr val="14262D"/>
                </a:solidFill>
                <a:latin typeface="Helvetica Neue"/>
                <a:ea typeface="Helvetica Neue"/>
                <a:cs typeface="Helvetica Neue"/>
              </a:rPr>
              <a:t>95 / 5</a:t>
            </a:r>
          </a:p>
        </p:txBody>
      </p:sp>
      <p:sp>
        <p:nvSpPr>
          <p:cNvPr id="38" name="">
            <a:extLst xmlns:a="http://schemas.openxmlformats.org/drawingml/2006/main">
              <a:ext uri="{FF2B5EF4-FFF2-40B4-BE49-F238E27FC236}">
                <a16:creationId xmlns:a16="http://schemas.microsoft.com/office/drawing/2014/main" id="{BCB9F423-4826-45A6-93B3-E9090E0AAC37}"/>
              </a:ext>
            </a:extLst>
          </p:cNvPr>
          <p:cNvSpPr>
            <a:spLocks xmlns:a="http://schemas.openxmlformats.org/drawingml/2006/main" noGrp="1"/>
          </p:cNvSpPr>
          <p:nvPr/>
        </p:nvSpPr>
        <p:spPr>
          <a:xfrm xmlns:a="http://schemas.openxmlformats.org/drawingml/2006/main">
            <a:off x="3333750" y="4229100"/>
            <a:ext cx="152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D7634C"/>
                </a:solidFill>
                <a:latin typeface="Helvetica Neue"/>
                <a:ea typeface="Helvetica Neue"/>
                <a:cs typeface="Helvetica Neue"/>
              </a:defRPr>
            </a:pPr>
            <a:r>
              <a:rPr sz="1425" b="1">
                <a:solidFill>
                  <a:srgbClr val="D7634C"/>
                </a:solidFill>
                <a:latin typeface="Helvetica Neue"/>
                <a:ea typeface="Helvetica Neue"/>
                <a:cs typeface="Helvetica Neue"/>
              </a:rPr>
              <a:t>25.3%</a:t>
            </a:r>
          </a:p>
        </p:txBody>
      </p:sp>
      <p:sp>
        <p:nvSpPr>
          <p:cNvPr id="39" name="">
            <a:extLst xmlns:a="http://schemas.openxmlformats.org/drawingml/2006/main">
              <a:ext uri="{FF2B5EF4-FFF2-40B4-BE49-F238E27FC236}">
                <a16:creationId xmlns:a16="http://schemas.microsoft.com/office/drawing/2014/main" id="{BF42D335-73D5-4AC7-9AD1-5AE6E8043F34}"/>
              </a:ext>
            </a:extLst>
          </p:cNvPr>
          <p:cNvSpPr>
            <a:spLocks xmlns:a="http://schemas.openxmlformats.org/drawingml/2006/main" noGrp="1"/>
          </p:cNvSpPr>
          <p:nvPr/>
        </p:nvSpPr>
        <p:spPr>
          <a:xfrm xmlns:a="http://schemas.openxmlformats.org/drawingml/2006/main">
            <a:off x="5286375" y="4229100"/>
            <a:ext cx="104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0">
                <a:solidFill>
                  <a:srgbClr val="14262D"/>
                </a:solidFill>
                <a:latin typeface="Helvetica Neue"/>
                <a:ea typeface="Helvetica Neue"/>
                <a:cs typeface="Helvetica Neue"/>
              </a:defRPr>
            </a:pPr>
            <a:r>
              <a:rPr sz="1425" b="0">
                <a:solidFill>
                  <a:srgbClr val="14262D"/>
                </a:solidFill>
                <a:latin typeface="Helvetica Neue"/>
                <a:ea typeface="Helvetica Neue"/>
                <a:cs typeface="Helvetica Neue"/>
              </a:rPr>
              <a:t>0.378</a:t>
            </a:r>
          </a:p>
        </p:txBody>
      </p:sp>
      <p:sp>
        <p:nvSpPr>
          <p:cNvPr id="40" name="">
            <a:extLst xmlns:a="http://schemas.openxmlformats.org/drawingml/2006/main">
              <a:ext uri="{FF2B5EF4-FFF2-40B4-BE49-F238E27FC236}">
                <a16:creationId xmlns:a16="http://schemas.microsoft.com/office/drawing/2014/main" id="{CE1F511F-70AA-4AF6-B396-338035591BC3}"/>
              </a:ext>
            </a:extLst>
          </p:cNvPr>
          <p:cNvSpPr>
            <a:spLocks xmlns:a="http://schemas.openxmlformats.org/drawingml/2006/main" noGrp="1"/>
          </p:cNvSpPr>
          <p:nvPr/>
        </p:nvSpPr>
        <p:spPr>
          <a:xfrm xmlns:a="http://schemas.openxmlformats.org/drawingml/2006/main">
            <a:off x="6667500" y="4229100"/>
            <a:ext cx="104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0">
                <a:solidFill>
                  <a:srgbClr val="14262D"/>
                </a:solidFill>
                <a:latin typeface="Helvetica Neue"/>
                <a:ea typeface="Helvetica Neue"/>
                <a:cs typeface="Helvetica Neue"/>
              </a:defRPr>
            </a:pPr>
            <a:r>
              <a:rPr sz="1425" b="0">
                <a:solidFill>
                  <a:srgbClr val="14262D"/>
                </a:solidFill>
                <a:latin typeface="Helvetica Neue"/>
                <a:ea typeface="Helvetica Neue"/>
                <a:cs typeface="Helvetica Neue"/>
              </a:rPr>
              <a:t>0.319</a:t>
            </a:r>
          </a:p>
        </p:txBody>
      </p:sp>
      <p:sp>
        <p:nvSpPr>
          <p:cNvPr id="41" name="">
            <a:extLst xmlns:a="http://schemas.openxmlformats.org/drawingml/2006/main">
              <a:ext uri="{FF2B5EF4-FFF2-40B4-BE49-F238E27FC236}">
                <a16:creationId xmlns:a16="http://schemas.microsoft.com/office/drawing/2014/main" id="{88C22C9B-400B-4371-A401-4B503DCBD5F5}"/>
              </a:ext>
            </a:extLst>
          </p:cNvPr>
          <p:cNvSpPr>
            <a:spLocks xmlns:a="http://schemas.openxmlformats.org/drawingml/2006/main" noGrp="1"/>
          </p:cNvSpPr>
          <p:nvPr/>
        </p:nvSpPr>
        <p:spPr>
          <a:xfrm xmlns:a="http://schemas.openxmlformats.org/drawingml/2006/main">
            <a:off x="8143875" y="4229100"/>
            <a:ext cx="1095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0">
                <a:solidFill>
                  <a:srgbClr val="14262D"/>
                </a:solidFill>
                <a:latin typeface="Helvetica Neue"/>
                <a:ea typeface="Helvetica Neue"/>
                <a:cs typeface="Helvetica Neue"/>
              </a:defRPr>
            </a:pPr>
            <a:r>
              <a:rPr sz="1425" b="0">
                <a:solidFill>
                  <a:srgbClr val="14262D"/>
                </a:solidFill>
                <a:latin typeface="Helvetica Neue"/>
                <a:ea typeface="Helvetica Neue"/>
                <a:cs typeface="Helvetica Neue"/>
              </a:rPr>
              <a:t>12.11 °C</a:t>
            </a:r>
          </a:p>
        </p:txBody>
      </p:sp>
      <p:sp>
        <p:nvSpPr>
          <p:cNvPr id="42" name="">
            <a:extLst xmlns:a="http://schemas.openxmlformats.org/drawingml/2006/main">
              <a:ext uri="{FF2B5EF4-FFF2-40B4-BE49-F238E27FC236}">
                <a16:creationId xmlns:a16="http://schemas.microsoft.com/office/drawing/2014/main" id="{369FBD8F-1ABA-4563-B159-9CA830587097}"/>
              </a:ext>
            </a:extLst>
          </p:cNvPr>
          <p:cNvSpPr>
            <a:spLocks xmlns:a="http://schemas.openxmlformats.org/drawingml/2006/main" noGrp="1"/>
          </p:cNvSpPr>
          <p:nvPr/>
        </p:nvSpPr>
        <p:spPr>
          <a:xfrm xmlns:a="http://schemas.openxmlformats.org/drawingml/2006/main">
            <a:off x="9620250" y="4229100"/>
            <a:ext cx="1095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0">
                <a:solidFill>
                  <a:srgbClr val="14262D"/>
                </a:solidFill>
                <a:latin typeface="Helvetica Neue"/>
                <a:ea typeface="Helvetica Neue"/>
                <a:cs typeface="Helvetica Neue"/>
              </a:defRPr>
            </a:pPr>
            <a:r>
              <a:rPr sz="1425" b="0">
                <a:solidFill>
                  <a:srgbClr val="14262D"/>
                </a:solidFill>
                <a:latin typeface="Helvetica Neue"/>
                <a:ea typeface="Helvetica Neue"/>
                <a:cs typeface="Helvetica Neue"/>
              </a:rPr>
              <a:t>15.29 °C</a:t>
            </a:r>
          </a:p>
        </p:txBody>
      </p:sp>
      <p:sp>
        <p:nvSpPr>
          <p:cNvPr id="43" name="">
            <a:extLst xmlns:a="http://schemas.openxmlformats.org/drawingml/2006/main">
              <a:ext uri="{FF2B5EF4-FFF2-40B4-BE49-F238E27FC236}">
                <a16:creationId xmlns:a16="http://schemas.microsoft.com/office/drawing/2014/main" id="{B7BFFC3D-E2E3-4005-B11E-E0DD91364F9F}"/>
              </a:ext>
            </a:extLst>
          </p:cNvPr>
          <p:cNvSpPr>
            <a:spLocks xmlns:a="http://schemas.openxmlformats.org/drawingml/2006/main" noGrp="1"/>
          </p:cNvSpPr>
          <p:nvPr/>
        </p:nvSpPr>
        <p:spPr>
          <a:xfrm xmlns:a="http://schemas.openxmlformats.org/drawingml/2006/main">
            <a:off x="1000125" y="5238750"/>
            <a:ext cx="10191750" cy="781050"/>
          </a:xfrm>
          <a:prstGeom xmlns:a="http://schemas.openxmlformats.org/drawingml/2006/main" prst="roundRect">
            <a:avLst>
              <a:gd name="adj" fmla="val 6098"/>
            </a:avLst>
          </a:prstGeom>
          <a:solidFill xmlns:a="http://schemas.openxmlformats.org/drawingml/2006/main">
            <a:srgbClr val="FFF2E9"/>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BA1AE7AB-DBA7-44CB-9DE8-B15EDEE2C3CF}"/>
              </a:ext>
            </a:extLst>
          </p:cNvPr>
          <p:cNvSpPr>
            <a:spLocks xmlns:a="http://schemas.openxmlformats.org/drawingml/2006/main" noGrp="1"/>
          </p:cNvSpPr>
          <p:nvPr/>
        </p:nvSpPr>
        <p:spPr>
          <a:xfrm xmlns:a="http://schemas.openxmlformats.org/drawingml/2006/main">
            <a:off x="1381125" y="5381625"/>
            <a:ext cx="9429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982"/>
          </a:bodyPr>
          <a:lstStyle xmlns:a="http://schemas.openxmlformats.org/drawingml/2006/main"/>
          <a:p xmlns:a="http://schemas.openxmlformats.org/drawingml/2006/main">
            <a:pPr algn="ctr">
              <a:defRPr sz="1425" b="1">
                <a:solidFill>
                  <a:srgbClr val="D7634C"/>
                </a:solidFill>
                <a:latin typeface="Helvetica Neue"/>
                <a:ea typeface="Helvetica Neue"/>
                <a:cs typeface="Helvetica Neue"/>
              </a:defRPr>
            </a:pPr>
            <a:r>
              <a:rPr sz="1425" b="1">
                <a:solidFill>
                  <a:srgbClr val="D7634C"/>
                </a:solidFill>
                <a:latin typeface="Helvetica Neue"/>
                <a:ea typeface="Helvetica Neue"/>
                <a:cs typeface="Helvetica Neue"/>
              </a:rPr>
              <a:t>The 10 °C grid raises exact bucket accuracy because the target has only eight classes. Correlation and absolute error remain nearly unchanged.</a:t>
            </a:r>
          </a:p>
        </p:txBody>
      </p:sp>
    </p:spTree>
    <p:extLst>
      <p:ext uri="{BB962C8B-B14F-4D97-AF65-F5344CB8AC3E}">
        <p14:creationId xmlns:p14="http://schemas.microsoft.com/office/powerpoint/2010/main" val="118290585"/>
      </p:ext>
    </p:extLst>
  </p:cSld>
</p:sld>
</file>

<file path=ppt/slides/slide15.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302BBFD4-9C82-4CAF-87BE-68AAF8EE4DDB}"/>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0E6B6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3B0010-4C34-4624-B1D9-9962004477DD}"/>
              </a:ext>
            </a:extLst>
          </p:cNvPr>
          <p:cNvSpPr>
            <a:spLocks xmlns:a="http://schemas.openxmlformats.org/drawingml/2006/main" noGrp="1"/>
          </p:cNvSpPr>
          <p:nvPr/>
        </p:nvSpPr>
        <p:spPr>
          <a:xfrm xmlns:a="http://schemas.openxmlformats.org/drawingml/2006/main">
            <a:off x="552450" y="28575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a:solidFill>
                  <a:srgbClr val="0E6B6F"/>
                </a:solidFill>
                <a:latin typeface="Helvetica Neue"/>
                <a:ea typeface="Helvetica Neue"/>
                <a:cs typeface="Helvetica Neue"/>
              </a:defRPr>
            </a:pPr>
            <a:r>
              <a:rPr sz="900" b="1">
                <a:solidFill>
                  <a:srgbClr val="0E6B6F"/>
                </a:solidFill>
                <a:latin typeface="Helvetica Neue"/>
                <a:ea typeface="Helvetica Neue"/>
                <a:cs typeface="Helvetica Neue"/>
              </a:rPr>
              <a:t>ORGANISM-LEVEL ANALYSIS</a:t>
            </a:r>
          </a:p>
        </p:txBody>
      </p:sp>
      <p:sp>
        <p:nvSpPr>
          <p:cNvPr id="3" name="">
            <a:extLst xmlns:a="http://schemas.openxmlformats.org/drawingml/2006/main">
              <a:ext uri="{FF2B5EF4-FFF2-40B4-BE49-F238E27FC236}">
                <a16:creationId xmlns:a16="http://schemas.microsoft.com/office/drawing/2014/main" id="{279318A4-E941-4511-B171-6CECCF5D6D0C}"/>
              </a:ext>
            </a:extLst>
          </p:cNvPr>
          <p:cNvSpPr>
            <a:spLocks xmlns:a="http://schemas.openxmlformats.org/drawingml/2006/main" noGrp="1"/>
          </p:cNvSpPr>
          <p:nvPr/>
        </p:nvSpPr>
        <p:spPr>
          <a:xfrm xmlns:a="http://schemas.openxmlformats.org/drawingml/2006/main">
            <a:off x="552450" y="495300"/>
            <a:ext cx="1081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14262D"/>
                </a:solidFill>
                <a:latin typeface="Helvetica Neue"/>
                <a:ea typeface="Helvetica Neue"/>
                <a:cs typeface="Helvetica Neue"/>
              </a:defRPr>
            </a:pPr>
            <a:r>
              <a:rPr sz="2400" b="1">
                <a:solidFill>
                  <a:srgbClr val="14262D"/>
                </a:solidFill>
                <a:latin typeface="Helvetica Neue"/>
                <a:ea typeface="Helvetica Neue"/>
                <a:cs typeface="Helvetica Neue"/>
              </a:rPr>
              <a:t>Combining homolog evidence improves organism-level recovery</a:t>
            </a:r>
          </a:p>
        </p:txBody>
      </p:sp>
      <p:sp>
        <p:nvSpPr>
          <p:cNvPr id="4" name="">
            <a:extLst xmlns:a="http://schemas.openxmlformats.org/drawingml/2006/main">
              <a:ext uri="{FF2B5EF4-FFF2-40B4-BE49-F238E27FC236}">
                <a16:creationId xmlns:a16="http://schemas.microsoft.com/office/drawing/2014/main" id="{55B09985-2F4A-4F7A-BDF1-E99C23679D0C}"/>
              </a:ext>
            </a:extLst>
          </p:cNvPr>
          <p:cNvSpPr>
            <a:spLocks xmlns:a="http://schemas.openxmlformats.org/drawingml/2006/main" noGrp="1"/>
          </p:cNvSpPr>
          <p:nvPr/>
        </p:nvSpPr>
        <p:spPr>
          <a:xfrm xmlns:a="http://schemas.openxmlformats.org/drawingml/2006/main">
            <a:off x="552450" y="1066800"/>
            <a:ext cx="11049000" cy="19050"/>
          </a:xfrm>
          <a:prstGeom xmlns:a="http://schemas.openxmlformats.org/drawingml/2006/main" prst="rect">
            <a:avLst/>
          </a:prstGeom>
          <a:solidFill xmlns:a="http://schemas.openxmlformats.org/drawingml/2006/main">
            <a:srgbClr val="CBD6D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718EDEA-5FD1-4198-B96D-06FDCDB5B4AF}"/>
              </a:ext>
            </a:extLst>
          </p:cNvPr>
          <p:cNvSpPr>
            <a:spLocks xmlns:a="http://schemas.openxmlformats.org/drawingml/2006/main" noGrp="1"/>
          </p:cNvSpPr>
          <p:nvPr/>
        </p:nvSpPr>
        <p:spPr>
          <a:xfrm xmlns:a="http://schemas.openxmlformats.org/drawingml/2006/main">
            <a:off x="11144250" y="6477000"/>
            <a:ext cx="47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r">
              <a:defRPr sz="825" b="0">
                <a:solidFill>
                  <a:srgbClr val="51636B"/>
                </a:solidFill>
                <a:latin typeface="Helvetica Neue"/>
                <a:ea typeface="Helvetica Neue"/>
                <a:cs typeface="Helvetica Neue"/>
              </a:defRPr>
            </a:pPr>
            <a:r>
              <a:rPr sz="825" b="0">
                <a:solidFill>
                  <a:srgbClr val="51636B"/>
                </a:solidFill>
                <a:latin typeface="Helvetica Neue"/>
                <a:ea typeface="Helvetica Neue"/>
                <a:cs typeface="Helvetica Neue"/>
              </a:rPr>
              <a:t>15</a:t>
            </a:r>
          </a:p>
        </p:txBody>
      </p:sp>
      <p:sp>
        <p:nvSpPr>
          <p:cNvPr id="6" name="">
            <a:extLst xmlns:a="http://schemas.openxmlformats.org/drawingml/2006/main">
              <a:ext uri="{FF2B5EF4-FFF2-40B4-BE49-F238E27FC236}">
                <a16:creationId xmlns:a16="http://schemas.microsoft.com/office/drawing/2014/main" id="{B0B9B69D-7335-4F44-8B4E-C2A98CB7D7A6}"/>
              </a:ext>
            </a:extLst>
          </p:cNvPr>
          <p:cNvSpPr>
            <a:spLocks xmlns:a="http://schemas.openxmlformats.org/drawingml/2006/main" noGrp="1"/>
          </p:cNvSpPr>
          <p:nvPr/>
        </p:nvSpPr>
        <p:spPr>
          <a:xfrm xmlns:a="http://schemas.openxmlformats.org/drawingml/2006/main">
            <a:off x="857250" y="1428750"/>
            <a:ext cx="409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474"/>
          </a:bodyPr>
          <a:lstStyle xmlns:a="http://schemas.openxmlformats.org/drawingml/2006/main"/>
          <a:p xmlns:a="http://schemas.openxmlformats.org/drawingml/2006/main">
            <a:pPr algn="l">
              <a:defRPr sz="1425" b="1">
                <a:solidFill>
                  <a:srgbClr val="51636B"/>
                </a:solidFill>
                <a:latin typeface="Helvetica Neue"/>
                <a:ea typeface="Helvetica Neue"/>
                <a:cs typeface="Helvetica Neue"/>
              </a:defRPr>
            </a:pPr>
            <a:r>
              <a:rPr sz="1425" b="1">
                <a:solidFill>
                  <a:srgbClr val="51636B"/>
                </a:solidFill>
                <a:latin typeface="Helvetica Neue"/>
                <a:ea typeface="Helvetica Neue"/>
                <a:cs typeface="Helvetica Neue"/>
              </a:rPr>
              <a:t>For organism o with M homologs</a:t>
            </a:r>
          </a:p>
        </p:txBody>
      </p:sp>
      <p:sp>
        <p:nvSpPr>
          <p:cNvPr id="7" name="">
            <a:extLst xmlns:a="http://schemas.openxmlformats.org/drawingml/2006/main">
              <a:ext uri="{FF2B5EF4-FFF2-40B4-BE49-F238E27FC236}">
                <a16:creationId xmlns:a16="http://schemas.microsoft.com/office/drawing/2014/main" id="{6A859D1F-CC4E-44D0-8EEF-0738B92B1995}"/>
              </a:ext>
            </a:extLst>
          </p:cNvPr>
          <p:cNvSpPr>
            <a:spLocks xmlns:a="http://schemas.openxmlformats.org/drawingml/2006/main" noGrp="1"/>
          </p:cNvSpPr>
          <p:nvPr/>
        </p:nvSpPr>
        <p:spPr>
          <a:xfrm xmlns:a="http://schemas.openxmlformats.org/drawingml/2006/main">
            <a:off x="857250" y="1857375"/>
            <a:ext cx="10477500" cy="876300"/>
          </a:xfrm>
          <a:prstGeom xmlns:a="http://schemas.openxmlformats.org/drawingml/2006/main" prst="roundRect">
            <a:avLst>
              <a:gd name="adj" fmla="val 6522"/>
            </a:avLst>
          </a:prstGeom>
          <a:solidFill xmlns:a="http://schemas.openxmlformats.org/drawingml/2006/main">
            <a:srgbClr val="14262D"/>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13068C6-DAAB-4314-A6F8-E7F7795484A5}"/>
              </a:ext>
            </a:extLst>
          </p:cNvPr>
          <p:cNvSpPr>
            <a:spLocks xmlns:a="http://schemas.openxmlformats.org/drawingml/2006/main" noGrp="1"/>
          </p:cNvSpPr>
          <p:nvPr/>
        </p:nvSpPr>
        <p:spPr>
          <a:xfrm xmlns:a="http://schemas.openxmlformats.org/drawingml/2006/main">
            <a:off x="1143000" y="2047875"/>
            <a:ext cx="990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025" b="0">
                <a:solidFill>
                  <a:srgbClr val="FFFFFF"/>
                </a:solidFill>
                <a:latin typeface="Helvetica Neue"/>
                <a:ea typeface="Helvetica Neue"/>
                <a:cs typeface="Helvetica Neue"/>
              </a:defRPr>
            </a:pPr>
            <a:r>
              <a:rPr sz="2025" b="0">
                <a:solidFill>
                  <a:srgbClr val="FFFFFF"/>
                </a:solidFill>
                <a:latin typeface="Helvetica Neue"/>
                <a:ea typeface="Helvetica Neue"/>
                <a:cs typeface="Helvetica Neue"/>
              </a:rPr>
              <a:t>ℓ̄ₒ(T) = (1 / Mₒ) Σₘ log P(sₒ,ₘ | T)       and       T̂ₒ = arg maxₜ ℓ̄ₒ(T)</a:t>
            </a:r>
          </a:p>
        </p:txBody>
      </p:sp>
      <p:sp>
        <p:nvSpPr>
          <p:cNvPr id="9" name="">
            <a:extLst xmlns:a="http://schemas.openxmlformats.org/drawingml/2006/main">
              <a:ext uri="{FF2B5EF4-FFF2-40B4-BE49-F238E27FC236}">
                <a16:creationId xmlns:a16="http://schemas.microsoft.com/office/drawing/2014/main" id="{BF30037E-9F61-4FCE-9B4C-F9B439F16FEC}"/>
              </a:ext>
            </a:extLst>
          </p:cNvPr>
          <p:cNvSpPr>
            <a:spLocks xmlns:a="http://schemas.openxmlformats.org/drawingml/2006/main" noGrp="1"/>
          </p:cNvSpPr>
          <p:nvPr/>
        </p:nvSpPr>
        <p:spPr>
          <a:xfrm xmlns:a="http://schemas.openxmlformats.org/drawingml/2006/main">
            <a:off x="1524000" y="3286125"/>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ctr">
              <a:defRPr sz="1650" b="1">
                <a:solidFill>
                  <a:srgbClr val="D7634C"/>
                </a:solidFill>
                <a:latin typeface="Helvetica Neue"/>
                <a:ea typeface="Helvetica Neue"/>
                <a:cs typeface="Helvetica Neue"/>
              </a:defRPr>
            </a:pPr>
            <a:r>
              <a:rPr sz="1650" b="1">
                <a:solidFill>
                  <a:srgbClr val="D7634C"/>
                </a:solidFill>
                <a:latin typeface="Helvetica Neue"/>
                <a:ea typeface="Helvetica Neue"/>
                <a:cs typeface="Helvetica Neue"/>
              </a:rPr>
              <a:t>Individual sequences</a:t>
            </a:r>
          </a:p>
        </p:txBody>
      </p:sp>
      <p:sp>
        <p:nvSpPr>
          <p:cNvPr id="10" name="">
            <a:extLst xmlns:a="http://schemas.openxmlformats.org/drawingml/2006/main">
              <a:ext uri="{FF2B5EF4-FFF2-40B4-BE49-F238E27FC236}">
                <a16:creationId xmlns:a16="http://schemas.microsoft.com/office/drawing/2014/main" id="{F71E39B2-845A-458D-A0EB-2AE6817C0064}"/>
              </a:ext>
            </a:extLst>
          </p:cNvPr>
          <p:cNvSpPr>
            <a:spLocks xmlns:a="http://schemas.openxmlformats.org/drawingml/2006/main" noGrp="1"/>
          </p:cNvSpPr>
          <p:nvPr/>
        </p:nvSpPr>
        <p:spPr>
          <a:xfrm xmlns:a="http://schemas.openxmlformats.org/drawingml/2006/main">
            <a:off x="7810500" y="3286125"/>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ctr">
              <a:defRPr sz="1650" b="1">
                <a:solidFill>
                  <a:srgbClr val="0E6B6F"/>
                </a:solidFill>
                <a:latin typeface="Helvetica Neue"/>
                <a:ea typeface="Helvetica Neue"/>
                <a:cs typeface="Helvetica Neue"/>
              </a:defRPr>
            </a:pPr>
            <a:r>
              <a:rPr sz="1650" b="1">
                <a:solidFill>
                  <a:srgbClr val="0E6B6F"/>
                </a:solidFill>
                <a:latin typeface="Helvetica Neue"/>
                <a:ea typeface="Helvetica Neue"/>
                <a:cs typeface="Helvetica Neue"/>
              </a:rPr>
              <a:t>Organism profiles</a:t>
            </a:r>
          </a:p>
        </p:txBody>
      </p:sp>
      <p:sp>
        <p:nvSpPr>
          <p:cNvPr id="11" name="">
            <a:extLst xmlns:a="http://schemas.openxmlformats.org/drawingml/2006/main">
              <a:ext uri="{FF2B5EF4-FFF2-40B4-BE49-F238E27FC236}">
                <a16:creationId xmlns:a16="http://schemas.microsoft.com/office/drawing/2014/main" id="{89CAD5CA-0D3E-4653-BE66-82440126EE02}"/>
              </a:ext>
            </a:extLst>
          </p:cNvPr>
          <p:cNvSpPr>
            <a:spLocks xmlns:a="http://schemas.openxmlformats.org/drawingml/2006/main" noGrp="1"/>
          </p:cNvSpPr>
          <p:nvPr/>
        </p:nvSpPr>
        <p:spPr>
          <a:xfrm xmlns:a="http://schemas.openxmlformats.org/drawingml/2006/main">
            <a:off x="1714500" y="3857625"/>
            <a:ext cx="142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827"/>
          </a:bodyPr>
          <a:lstStyle xmlns:a="http://schemas.openxmlformats.org/drawingml/2006/main"/>
          <a:p xmlns:a="http://schemas.openxmlformats.org/drawingml/2006/main">
            <a:pPr algn="ctr">
              <a:defRPr sz="2025" b="1">
                <a:solidFill>
                  <a:srgbClr val="D7634C"/>
                </a:solidFill>
                <a:latin typeface="Helvetica Neue"/>
                <a:ea typeface="Helvetica Neue"/>
                <a:cs typeface="Helvetica Neue"/>
              </a:defRPr>
            </a:pPr>
            <a:r>
              <a:rPr sz="2025" b="1">
                <a:solidFill>
                  <a:srgbClr val="D7634C"/>
                </a:solidFill>
                <a:latin typeface="Helvetica Neue"/>
                <a:ea typeface="Helvetica Neue"/>
                <a:cs typeface="Helvetica Neue"/>
              </a:rPr>
              <a:t>0.385</a:t>
            </a:r>
          </a:p>
        </p:txBody>
      </p:sp>
      <p:sp>
        <p:nvSpPr>
          <p:cNvPr id="12" name="">
            <a:extLst xmlns:a="http://schemas.openxmlformats.org/drawingml/2006/main">
              <a:ext uri="{FF2B5EF4-FFF2-40B4-BE49-F238E27FC236}">
                <a16:creationId xmlns:a16="http://schemas.microsoft.com/office/drawing/2014/main" id="{8CCFB75B-F86A-49EF-B1D4-0CA515F23784}"/>
              </a:ext>
            </a:extLst>
          </p:cNvPr>
          <p:cNvSpPr>
            <a:spLocks xmlns:a="http://schemas.openxmlformats.org/drawingml/2006/main" noGrp="1"/>
          </p:cNvSpPr>
          <p:nvPr/>
        </p:nvSpPr>
        <p:spPr>
          <a:xfrm xmlns:a="http://schemas.openxmlformats.org/drawingml/2006/main">
            <a:off x="4572000" y="385762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51636B"/>
                </a:solidFill>
                <a:latin typeface="Helvetica Neue"/>
                <a:ea typeface="Helvetica Neue"/>
                <a:cs typeface="Helvetica Neue"/>
              </a:defRPr>
            </a:pPr>
            <a:r>
              <a:rPr sz="1275" b="1">
                <a:solidFill>
                  <a:srgbClr val="51636B"/>
                </a:solidFill>
                <a:latin typeface="Helvetica Neue"/>
                <a:ea typeface="Helvetica Neue"/>
                <a:cs typeface="Helvetica Neue"/>
              </a:rPr>
              <a:t>Pearson</a:t>
            </a:r>
          </a:p>
        </p:txBody>
      </p:sp>
      <p:sp>
        <p:nvSpPr>
          <p:cNvPr id="13" name="">
            <a:extLst xmlns:a="http://schemas.openxmlformats.org/drawingml/2006/main">
              <a:ext uri="{FF2B5EF4-FFF2-40B4-BE49-F238E27FC236}">
                <a16:creationId xmlns:a16="http://schemas.microsoft.com/office/drawing/2014/main" id="{1C9252D6-DBBE-4307-AE05-6B109983275E}"/>
              </a:ext>
            </a:extLst>
          </p:cNvPr>
          <p:cNvSpPr>
            <a:spLocks xmlns:a="http://schemas.openxmlformats.org/drawingml/2006/main" noGrp="1"/>
          </p:cNvSpPr>
          <p:nvPr/>
        </p:nvSpPr>
        <p:spPr>
          <a:xfrm xmlns:a="http://schemas.openxmlformats.org/drawingml/2006/main">
            <a:off x="8096250" y="3857625"/>
            <a:ext cx="1619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827"/>
          </a:bodyPr>
          <a:lstStyle xmlns:a="http://schemas.openxmlformats.org/drawingml/2006/main"/>
          <a:p xmlns:a="http://schemas.openxmlformats.org/drawingml/2006/main">
            <a:pPr algn="ctr">
              <a:defRPr sz="2025" b="1">
                <a:solidFill>
                  <a:srgbClr val="0E6B6F"/>
                </a:solidFill>
                <a:latin typeface="Helvetica Neue"/>
                <a:ea typeface="Helvetica Neue"/>
                <a:cs typeface="Helvetica Neue"/>
              </a:defRPr>
            </a:pPr>
            <a:r>
              <a:rPr sz="2025" b="1">
                <a:solidFill>
                  <a:srgbClr val="0E6B6F"/>
                </a:solidFill>
                <a:latin typeface="Helvetica Neue"/>
                <a:ea typeface="Helvetica Neue"/>
                <a:cs typeface="Helvetica Neue"/>
              </a:rPr>
              <a:t>0.534</a:t>
            </a:r>
          </a:p>
        </p:txBody>
      </p:sp>
      <p:sp>
        <p:nvSpPr>
          <p:cNvPr id="14" name="">
            <a:extLst xmlns:a="http://schemas.openxmlformats.org/drawingml/2006/main">
              <a:ext uri="{FF2B5EF4-FFF2-40B4-BE49-F238E27FC236}">
                <a16:creationId xmlns:a16="http://schemas.microsoft.com/office/drawing/2014/main" id="{84B58742-5E29-4974-B17D-E4C45FCF1ED9}"/>
              </a:ext>
            </a:extLst>
          </p:cNvPr>
          <p:cNvSpPr>
            <a:spLocks xmlns:a="http://schemas.openxmlformats.org/drawingml/2006/main" noGrp="1"/>
          </p:cNvSpPr>
          <p:nvPr/>
        </p:nvSpPr>
        <p:spPr>
          <a:xfrm xmlns:a="http://schemas.openxmlformats.org/drawingml/2006/main">
            <a:off x="1714500" y="4448175"/>
            <a:ext cx="142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827"/>
          </a:bodyPr>
          <a:lstStyle xmlns:a="http://schemas.openxmlformats.org/drawingml/2006/main"/>
          <a:p xmlns:a="http://schemas.openxmlformats.org/drawingml/2006/main">
            <a:pPr algn="ctr">
              <a:defRPr sz="2025" b="1">
                <a:solidFill>
                  <a:srgbClr val="D7634C"/>
                </a:solidFill>
                <a:latin typeface="Helvetica Neue"/>
                <a:ea typeface="Helvetica Neue"/>
                <a:cs typeface="Helvetica Neue"/>
              </a:defRPr>
            </a:pPr>
            <a:r>
              <a:rPr sz="2025" b="1">
                <a:solidFill>
                  <a:srgbClr val="D7634C"/>
                </a:solidFill>
                <a:latin typeface="Helvetica Neue"/>
                <a:ea typeface="Helvetica Neue"/>
                <a:cs typeface="Helvetica Neue"/>
              </a:rPr>
              <a:t>0.312</a:t>
            </a:r>
          </a:p>
        </p:txBody>
      </p:sp>
      <p:sp>
        <p:nvSpPr>
          <p:cNvPr id="15" name="">
            <a:extLst xmlns:a="http://schemas.openxmlformats.org/drawingml/2006/main">
              <a:ext uri="{FF2B5EF4-FFF2-40B4-BE49-F238E27FC236}">
                <a16:creationId xmlns:a16="http://schemas.microsoft.com/office/drawing/2014/main" id="{020A149D-503D-47FA-81D8-6A6C6A97527A}"/>
              </a:ext>
            </a:extLst>
          </p:cNvPr>
          <p:cNvSpPr>
            <a:spLocks xmlns:a="http://schemas.openxmlformats.org/drawingml/2006/main" noGrp="1"/>
          </p:cNvSpPr>
          <p:nvPr/>
        </p:nvSpPr>
        <p:spPr>
          <a:xfrm xmlns:a="http://schemas.openxmlformats.org/drawingml/2006/main">
            <a:off x="4572000" y="44481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51636B"/>
                </a:solidFill>
                <a:latin typeface="Helvetica Neue"/>
                <a:ea typeface="Helvetica Neue"/>
                <a:cs typeface="Helvetica Neue"/>
              </a:defRPr>
            </a:pPr>
            <a:r>
              <a:rPr sz="1275" b="1">
                <a:solidFill>
                  <a:srgbClr val="51636B"/>
                </a:solidFill>
                <a:latin typeface="Helvetica Neue"/>
                <a:ea typeface="Helvetica Neue"/>
                <a:cs typeface="Helvetica Neue"/>
              </a:rPr>
              <a:t>Spearman</a:t>
            </a:r>
          </a:p>
        </p:txBody>
      </p:sp>
      <p:sp>
        <p:nvSpPr>
          <p:cNvPr id="16" name="">
            <a:extLst xmlns:a="http://schemas.openxmlformats.org/drawingml/2006/main">
              <a:ext uri="{FF2B5EF4-FFF2-40B4-BE49-F238E27FC236}">
                <a16:creationId xmlns:a16="http://schemas.microsoft.com/office/drawing/2014/main" id="{59C228BE-48EE-4C94-96C4-5320EE713DA4}"/>
              </a:ext>
            </a:extLst>
          </p:cNvPr>
          <p:cNvSpPr>
            <a:spLocks xmlns:a="http://schemas.openxmlformats.org/drawingml/2006/main" noGrp="1"/>
          </p:cNvSpPr>
          <p:nvPr/>
        </p:nvSpPr>
        <p:spPr>
          <a:xfrm xmlns:a="http://schemas.openxmlformats.org/drawingml/2006/main">
            <a:off x="8096250" y="4448175"/>
            <a:ext cx="1619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827"/>
          </a:bodyPr>
          <a:lstStyle xmlns:a="http://schemas.openxmlformats.org/drawingml/2006/main"/>
          <a:p xmlns:a="http://schemas.openxmlformats.org/drawingml/2006/main">
            <a:pPr algn="ctr">
              <a:defRPr sz="2025" b="1">
                <a:solidFill>
                  <a:srgbClr val="0E6B6F"/>
                </a:solidFill>
                <a:latin typeface="Helvetica Neue"/>
                <a:ea typeface="Helvetica Neue"/>
                <a:cs typeface="Helvetica Neue"/>
              </a:defRPr>
            </a:pPr>
            <a:r>
              <a:rPr sz="2025" b="1">
                <a:solidFill>
                  <a:srgbClr val="0E6B6F"/>
                </a:solidFill>
                <a:latin typeface="Helvetica Neue"/>
                <a:ea typeface="Helvetica Neue"/>
                <a:cs typeface="Helvetica Neue"/>
              </a:rPr>
              <a:t>0.460</a:t>
            </a:r>
          </a:p>
        </p:txBody>
      </p:sp>
      <p:sp>
        <p:nvSpPr>
          <p:cNvPr id="17" name="">
            <a:extLst xmlns:a="http://schemas.openxmlformats.org/drawingml/2006/main">
              <a:ext uri="{FF2B5EF4-FFF2-40B4-BE49-F238E27FC236}">
                <a16:creationId xmlns:a16="http://schemas.microsoft.com/office/drawing/2014/main" id="{A50BAA3F-0734-45A2-B777-E79959C91ABE}"/>
              </a:ext>
            </a:extLst>
          </p:cNvPr>
          <p:cNvSpPr>
            <a:spLocks xmlns:a="http://schemas.openxmlformats.org/drawingml/2006/main" noGrp="1"/>
          </p:cNvSpPr>
          <p:nvPr/>
        </p:nvSpPr>
        <p:spPr>
          <a:xfrm xmlns:a="http://schemas.openxmlformats.org/drawingml/2006/main">
            <a:off x="1714500" y="5038725"/>
            <a:ext cx="142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827"/>
          </a:bodyPr>
          <a:lstStyle xmlns:a="http://schemas.openxmlformats.org/drawingml/2006/main"/>
          <a:p xmlns:a="http://schemas.openxmlformats.org/drawingml/2006/main">
            <a:pPr algn="ctr">
              <a:defRPr sz="2025" b="1">
                <a:solidFill>
                  <a:srgbClr val="D7634C"/>
                </a:solidFill>
                <a:latin typeface="Helvetica Neue"/>
                <a:ea typeface="Helvetica Neue"/>
                <a:cs typeface="Helvetica Neue"/>
              </a:defRPr>
            </a:pPr>
            <a:r>
              <a:rPr sz="2025" b="1">
                <a:solidFill>
                  <a:srgbClr val="D7634C"/>
                </a:solidFill>
                <a:latin typeface="Helvetica Neue"/>
                <a:ea typeface="Helvetica Neue"/>
                <a:cs typeface="Helvetica Neue"/>
              </a:rPr>
              <a:t>11.93 °C</a:t>
            </a:r>
          </a:p>
        </p:txBody>
      </p:sp>
      <p:sp>
        <p:nvSpPr>
          <p:cNvPr id="18" name="">
            <a:extLst xmlns:a="http://schemas.openxmlformats.org/drawingml/2006/main">
              <a:ext uri="{FF2B5EF4-FFF2-40B4-BE49-F238E27FC236}">
                <a16:creationId xmlns:a16="http://schemas.microsoft.com/office/drawing/2014/main" id="{59D02D8B-F2BD-4D55-87F3-498FDB93CA22}"/>
              </a:ext>
            </a:extLst>
          </p:cNvPr>
          <p:cNvSpPr>
            <a:spLocks xmlns:a="http://schemas.openxmlformats.org/drawingml/2006/main" noGrp="1"/>
          </p:cNvSpPr>
          <p:nvPr/>
        </p:nvSpPr>
        <p:spPr>
          <a:xfrm xmlns:a="http://schemas.openxmlformats.org/drawingml/2006/main">
            <a:off x="4572000" y="503872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51636B"/>
                </a:solidFill>
                <a:latin typeface="Helvetica Neue"/>
                <a:ea typeface="Helvetica Neue"/>
                <a:cs typeface="Helvetica Neue"/>
              </a:defRPr>
            </a:pPr>
            <a:r>
              <a:rPr sz="1275" b="1">
                <a:solidFill>
                  <a:srgbClr val="51636B"/>
                </a:solidFill>
                <a:latin typeface="Helvetica Neue"/>
                <a:ea typeface="Helvetica Neue"/>
                <a:cs typeface="Helvetica Neue"/>
              </a:rPr>
              <a:t>MAE</a:t>
            </a:r>
          </a:p>
        </p:txBody>
      </p:sp>
      <p:sp>
        <p:nvSpPr>
          <p:cNvPr id="19" name="">
            <a:extLst xmlns:a="http://schemas.openxmlformats.org/drawingml/2006/main">
              <a:ext uri="{FF2B5EF4-FFF2-40B4-BE49-F238E27FC236}">
                <a16:creationId xmlns:a16="http://schemas.microsoft.com/office/drawing/2014/main" id="{6DB50C35-514D-4A7E-98CA-8E38EB2EE633}"/>
              </a:ext>
            </a:extLst>
          </p:cNvPr>
          <p:cNvSpPr>
            <a:spLocks xmlns:a="http://schemas.openxmlformats.org/drawingml/2006/main" noGrp="1"/>
          </p:cNvSpPr>
          <p:nvPr/>
        </p:nvSpPr>
        <p:spPr>
          <a:xfrm xmlns:a="http://schemas.openxmlformats.org/drawingml/2006/main">
            <a:off x="8096250" y="5038725"/>
            <a:ext cx="1619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827"/>
          </a:bodyPr>
          <a:lstStyle xmlns:a="http://schemas.openxmlformats.org/drawingml/2006/main"/>
          <a:p xmlns:a="http://schemas.openxmlformats.org/drawingml/2006/main">
            <a:pPr algn="ctr">
              <a:defRPr sz="2025" b="1">
                <a:solidFill>
                  <a:srgbClr val="0E6B6F"/>
                </a:solidFill>
                <a:latin typeface="Helvetica Neue"/>
                <a:ea typeface="Helvetica Neue"/>
                <a:cs typeface="Helvetica Neue"/>
              </a:defRPr>
            </a:pPr>
            <a:r>
              <a:rPr sz="2025" b="1">
                <a:solidFill>
                  <a:srgbClr val="0E6B6F"/>
                </a:solidFill>
                <a:latin typeface="Helvetica Neue"/>
                <a:ea typeface="Helvetica Neue"/>
                <a:cs typeface="Helvetica Neue"/>
              </a:rPr>
              <a:t>9.11 °C</a:t>
            </a:r>
          </a:p>
        </p:txBody>
      </p:sp>
      <p:sp>
        <p:nvSpPr>
          <p:cNvPr id="20" name="">
            <a:extLst xmlns:a="http://schemas.openxmlformats.org/drawingml/2006/main">
              <a:ext uri="{FF2B5EF4-FFF2-40B4-BE49-F238E27FC236}">
                <a16:creationId xmlns:a16="http://schemas.microsoft.com/office/drawing/2014/main" id="{C59A2E3D-406B-4DCA-B1A0-E459320C3665}"/>
              </a:ext>
            </a:extLst>
          </p:cNvPr>
          <p:cNvSpPr>
            <a:spLocks xmlns:a="http://schemas.openxmlformats.org/drawingml/2006/main" noGrp="1"/>
          </p:cNvSpPr>
          <p:nvPr/>
        </p:nvSpPr>
        <p:spPr>
          <a:xfrm xmlns:a="http://schemas.openxmlformats.org/drawingml/2006/main">
            <a:off x="7572375" y="5715000"/>
            <a:ext cx="333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417"/>
          </a:bodyPr>
          <a:lstStyle xmlns:a="http://schemas.openxmlformats.org/drawingml/2006/main"/>
          <a:p xmlns:a="http://schemas.openxmlformats.org/drawingml/2006/main">
            <a:pPr algn="ctr">
              <a:defRPr sz="1200" b="0">
                <a:solidFill>
                  <a:srgbClr val="51636B"/>
                </a:solidFill>
                <a:latin typeface="Helvetica Neue"/>
                <a:ea typeface="Helvetica Neue"/>
                <a:cs typeface="Helvetica Neue"/>
              </a:defRPr>
            </a:pPr>
            <a:r>
              <a:rPr sz="1200" b="0">
                <a:solidFill>
                  <a:srgbClr val="51636B"/>
                </a:solidFill>
                <a:latin typeface="Helvetica Neue"/>
                <a:ea typeface="Helvetica Neue"/>
                <a:cs typeface="Helvetica Neue"/>
              </a:rPr>
              <a:t>992 independent organism units</a:t>
            </a:r>
          </a:p>
        </p:txBody>
      </p:sp>
      <p:sp>
        <p:nvSpPr>
          <p:cNvPr id="21" name="">
            <a:extLst xmlns:a="http://schemas.openxmlformats.org/drawingml/2006/main">
              <a:ext uri="{FF2B5EF4-FFF2-40B4-BE49-F238E27FC236}">
                <a16:creationId xmlns:a16="http://schemas.microsoft.com/office/drawing/2014/main" id="{7064FC20-3990-49AC-AFD7-8A356FB55EF7}"/>
              </a:ext>
            </a:extLst>
          </p:cNvPr>
          <p:cNvSpPr>
            <a:spLocks xmlns:a="http://schemas.openxmlformats.org/drawingml/2006/main" noGrp="1"/>
          </p:cNvSpPr>
          <p:nvPr/>
        </p:nvSpPr>
        <p:spPr>
          <a:xfrm xmlns:a="http://schemas.openxmlformats.org/drawingml/2006/main">
            <a:off x="3333750" y="6143625"/>
            <a:ext cx="552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185"/>
          </a:bodyPr>
          <a:lstStyle xmlns:a="http://schemas.openxmlformats.org/drawingml/2006/main"/>
          <a:p xmlns:a="http://schemas.openxmlformats.org/drawingml/2006/main">
            <a:pPr algn="ctr">
              <a:defRPr sz="1350" b="1">
                <a:solidFill>
                  <a:srgbClr val="0E6B6F"/>
                </a:solidFill>
                <a:latin typeface="Helvetica Neue"/>
                <a:ea typeface="Helvetica Neue"/>
                <a:cs typeface="Helvetica Neue"/>
              </a:defRPr>
            </a:pPr>
            <a:r>
              <a:rPr sz="1350" b="1">
                <a:solidFill>
                  <a:srgbClr val="0E6B6F"/>
                </a:solidFill>
                <a:latin typeface="Helvetica Neue"/>
                <a:ea typeface="Helvetica Neue"/>
                <a:cs typeface="Helvetica Neue"/>
              </a:rPr>
              <a:t>Pearson and Spearman permutation p &lt; 10⁻⁴</a:t>
            </a:r>
          </a:p>
        </p:txBody>
      </p:sp>
    </p:spTree>
    <p:extLst>
      <p:ext uri="{BB962C8B-B14F-4D97-AF65-F5344CB8AC3E}">
        <p14:creationId xmlns:p14="http://schemas.microsoft.com/office/powerpoint/2010/main" val="1487423543"/>
      </p:ext>
    </p:extLst>
  </p:cSld>
</p:sld>
</file>

<file path=ppt/slides/slide16.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E6B5C9BD-A7F2-4550-9CDA-35DE400EE002}"/>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0E6B6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813EBB9-B92E-4AF1-854E-529CCF2CF897}"/>
              </a:ext>
            </a:extLst>
          </p:cNvPr>
          <p:cNvSpPr>
            <a:spLocks xmlns:a="http://schemas.openxmlformats.org/drawingml/2006/main" noGrp="1"/>
          </p:cNvSpPr>
          <p:nvPr/>
        </p:nvSpPr>
        <p:spPr>
          <a:xfrm xmlns:a="http://schemas.openxmlformats.org/drawingml/2006/main">
            <a:off x="552450" y="28575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a:solidFill>
                  <a:srgbClr val="0E6B6F"/>
                </a:solidFill>
                <a:latin typeface="Helvetica Neue"/>
                <a:ea typeface="Helvetica Neue"/>
                <a:cs typeface="Helvetica Neue"/>
              </a:defRPr>
            </a:pPr>
            <a:r>
              <a:rPr sz="900" b="1">
                <a:solidFill>
                  <a:srgbClr val="0E6B6F"/>
                </a:solidFill>
                <a:latin typeface="Helvetica Neue"/>
                <a:ea typeface="Helvetica Neue"/>
                <a:cs typeface="Helvetica Neue"/>
              </a:rPr>
              <a:t>HIGH-TEMPERATURE ANALYSIS</a:t>
            </a:r>
          </a:p>
        </p:txBody>
      </p:sp>
      <p:sp>
        <p:nvSpPr>
          <p:cNvPr id="3" name="">
            <a:extLst xmlns:a="http://schemas.openxmlformats.org/drawingml/2006/main">
              <a:ext uri="{FF2B5EF4-FFF2-40B4-BE49-F238E27FC236}">
                <a16:creationId xmlns:a16="http://schemas.microsoft.com/office/drawing/2014/main" id="{8570D675-563A-402A-B699-13DFA12556B1}"/>
              </a:ext>
            </a:extLst>
          </p:cNvPr>
          <p:cNvSpPr>
            <a:spLocks xmlns:a="http://schemas.openxmlformats.org/drawingml/2006/main" noGrp="1"/>
          </p:cNvSpPr>
          <p:nvPr/>
        </p:nvSpPr>
        <p:spPr>
          <a:xfrm xmlns:a="http://schemas.openxmlformats.org/drawingml/2006/main">
            <a:off x="552450" y="495300"/>
            <a:ext cx="1081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14262D"/>
                </a:solidFill>
                <a:latin typeface="Helvetica Neue"/>
                <a:ea typeface="Helvetica Neue"/>
                <a:cs typeface="Helvetica Neue"/>
              </a:defRPr>
            </a:pPr>
            <a:r>
              <a:rPr sz="2400" b="1">
                <a:solidFill>
                  <a:srgbClr val="14262D"/>
                </a:solidFill>
                <a:latin typeface="Helvetica Neue"/>
                <a:ea typeface="Helvetica Neue"/>
                <a:cs typeface="Helvetica Neue"/>
              </a:rPr>
              <a:t>Likelihood profiles identify high-temperature organisms</a:t>
            </a:r>
          </a:p>
        </p:txBody>
      </p:sp>
      <p:sp>
        <p:nvSpPr>
          <p:cNvPr id="4" name="">
            <a:extLst xmlns:a="http://schemas.openxmlformats.org/drawingml/2006/main">
              <a:ext uri="{FF2B5EF4-FFF2-40B4-BE49-F238E27FC236}">
                <a16:creationId xmlns:a16="http://schemas.microsoft.com/office/drawing/2014/main" id="{9863CDAD-B427-4C19-A61E-4907040EB4D1}"/>
              </a:ext>
            </a:extLst>
          </p:cNvPr>
          <p:cNvSpPr>
            <a:spLocks xmlns:a="http://schemas.openxmlformats.org/drawingml/2006/main" noGrp="1"/>
          </p:cNvSpPr>
          <p:nvPr/>
        </p:nvSpPr>
        <p:spPr>
          <a:xfrm xmlns:a="http://schemas.openxmlformats.org/drawingml/2006/main">
            <a:off x="552450" y="1066800"/>
            <a:ext cx="11049000" cy="19050"/>
          </a:xfrm>
          <a:prstGeom xmlns:a="http://schemas.openxmlformats.org/drawingml/2006/main" prst="rect">
            <a:avLst/>
          </a:prstGeom>
          <a:solidFill xmlns:a="http://schemas.openxmlformats.org/drawingml/2006/main">
            <a:srgbClr val="CBD6D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609BEFD-28FA-401B-9DB4-58F172C4F8FC}"/>
              </a:ext>
            </a:extLst>
          </p:cNvPr>
          <p:cNvSpPr>
            <a:spLocks xmlns:a="http://schemas.openxmlformats.org/drawingml/2006/main" noGrp="1"/>
          </p:cNvSpPr>
          <p:nvPr/>
        </p:nvSpPr>
        <p:spPr>
          <a:xfrm xmlns:a="http://schemas.openxmlformats.org/drawingml/2006/main">
            <a:off x="11144250" y="6477000"/>
            <a:ext cx="47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r">
              <a:defRPr sz="825" b="0">
                <a:solidFill>
                  <a:srgbClr val="51636B"/>
                </a:solidFill>
                <a:latin typeface="Helvetica Neue"/>
                <a:ea typeface="Helvetica Neue"/>
                <a:cs typeface="Helvetica Neue"/>
              </a:defRPr>
            </a:pPr>
            <a:r>
              <a:rPr sz="825" b="0">
                <a:solidFill>
                  <a:srgbClr val="51636B"/>
                </a:solidFill>
                <a:latin typeface="Helvetica Neue"/>
                <a:ea typeface="Helvetica Neue"/>
                <a:cs typeface="Helvetica Neue"/>
              </a:rPr>
              <a:t>16</a:t>
            </a:r>
          </a:p>
        </p:txBody>
      </p:sp>
      <p:sp>
        <p:nvSpPr>
          <p:cNvPr id="6" name="">
            <a:extLst xmlns:a="http://schemas.openxmlformats.org/drawingml/2006/main">
              <a:ext uri="{FF2B5EF4-FFF2-40B4-BE49-F238E27FC236}">
                <a16:creationId xmlns:a16="http://schemas.microsoft.com/office/drawing/2014/main" id="{4C830B24-BB90-4773-BF38-71E5100C08DC}"/>
              </a:ext>
            </a:extLst>
          </p:cNvPr>
          <p:cNvSpPr>
            <a:spLocks xmlns:a="http://schemas.openxmlformats.org/drawingml/2006/main" noGrp="1"/>
          </p:cNvSpPr>
          <p:nvPr/>
        </p:nvSpPr>
        <p:spPr>
          <a:xfrm xmlns:a="http://schemas.openxmlformats.org/drawingml/2006/main">
            <a:off x="857250" y="13811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14262D"/>
                </a:solidFill>
                <a:latin typeface="Helvetica Neue"/>
                <a:ea typeface="Helvetica Neue"/>
                <a:cs typeface="Helvetica Neue"/>
              </a:defRPr>
            </a:pPr>
            <a:r>
              <a:rPr sz="1725" b="1">
                <a:solidFill>
                  <a:srgbClr val="14262D"/>
                </a:solidFill>
                <a:latin typeface="Helvetica Neue"/>
                <a:ea typeface="Helvetica Neue"/>
                <a:cs typeface="Helvetica Neue"/>
              </a:rPr>
              <a:t>Held-out organism classification: Topt_ave ≥ 40 °C</a:t>
            </a:r>
          </a:p>
        </p:txBody>
      </p:sp>
      <p:sp>
        <p:nvSpPr>
          <p:cNvPr id="7" name="">
            <a:extLst xmlns:a="http://schemas.openxmlformats.org/drawingml/2006/main">
              <a:ext uri="{FF2B5EF4-FFF2-40B4-BE49-F238E27FC236}">
                <a16:creationId xmlns:a16="http://schemas.microsoft.com/office/drawing/2014/main" id="{98D17EE4-C070-4150-ABEB-41AA69933D46}"/>
              </a:ext>
            </a:extLst>
          </p:cNvPr>
          <p:cNvSpPr>
            <a:spLocks xmlns:a="http://schemas.openxmlformats.org/drawingml/2006/main" noGrp="1"/>
          </p:cNvSpPr>
          <p:nvPr/>
        </p:nvSpPr>
        <p:spPr>
          <a:xfrm xmlns:a="http://schemas.openxmlformats.org/drawingml/2006/main">
            <a:off x="809625" y="2095500"/>
            <a:ext cx="228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775" b="1">
                <a:solidFill>
                  <a:srgbClr val="0E6B6F"/>
                </a:solidFill>
                <a:latin typeface="Helvetica Neue"/>
                <a:ea typeface="Helvetica Neue"/>
                <a:cs typeface="Helvetica Neue"/>
              </a:defRPr>
            </a:pPr>
            <a:r>
              <a:rPr sz="2775" b="1">
                <a:solidFill>
                  <a:srgbClr val="0E6B6F"/>
                </a:solidFill>
                <a:latin typeface="Helvetica Neue"/>
                <a:ea typeface="Helvetica Neue"/>
                <a:cs typeface="Helvetica Neue"/>
              </a:rPr>
              <a:t>0.834</a:t>
            </a:r>
          </a:p>
        </p:txBody>
      </p:sp>
      <p:sp>
        <p:nvSpPr>
          <p:cNvPr id="8" name="">
            <a:extLst xmlns:a="http://schemas.openxmlformats.org/drawingml/2006/main">
              <a:ext uri="{FF2B5EF4-FFF2-40B4-BE49-F238E27FC236}">
                <a16:creationId xmlns:a16="http://schemas.microsoft.com/office/drawing/2014/main" id="{7978DC67-56CD-444D-8CA3-1793B395DCCA}"/>
              </a:ext>
            </a:extLst>
          </p:cNvPr>
          <p:cNvSpPr>
            <a:spLocks xmlns:a="http://schemas.openxmlformats.org/drawingml/2006/main" noGrp="1"/>
          </p:cNvSpPr>
          <p:nvPr/>
        </p:nvSpPr>
        <p:spPr>
          <a:xfrm xmlns:a="http://schemas.openxmlformats.org/drawingml/2006/main">
            <a:off x="809625" y="2638425"/>
            <a:ext cx="228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lgn="ctr">
              <a:defRPr sz="1200" b="0">
                <a:solidFill>
                  <a:srgbClr val="51636B"/>
                </a:solidFill>
                <a:latin typeface="Helvetica Neue"/>
                <a:ea typeface="Helvetica Neue"/>
                <a:cs typeface="Helvetica Neue"/>
              </a:defRPr>
            </a:pPr>
            <a:r>
              <a:rPr sz="1200" b="0">
                <a:solidFill>
                  <a:srgbClr val="51636B"/>
                </a:solidFill>
                <a:latin typeface="Helvetica Neue"/>
                <a:ea typeface="Helvetica Neue"/>
                <a:cs typeface="Helvetica Neue"/>
              </a:rPr>
              <a:t>AUROC</a:t>
            </a:r>
          </a:p>
        </p:txBody>
      </p:sp>
      <p:sp>
        <p:nvSpPr>
          <p:cNvPr id="9" name="">
            <a:extLst xmlns:a="http://schemas.openxmlformats.org/drawingml/2006/main">
              <a:ext uri="{FF2B5EF4-FFF2-40B4-BE49-F238E27FC236}">
                <a16:creationId xmlns:a16="http://schemas.microsoft.com/office/drawing/2014/main" id="{74D283A2-1DEB-446A-98FA-F2F4001A63E7}"/>
              </a:ext>
            </a:extLst>
          </p:cNvPr>
          <p:cNvSpPr>
            <a:spLocks xmlns:a="http://schemas.openxmlformats.org/drawingml/2006/main" noGrp="1"/>
          </p:cNvSpPr>
          <p:nvPr/>
        </p:nvSpPr>
        <p:spPr>
          <a:xfrm xmlns:a="http://schemas.openxmlformats.org/drawingml/2006/main">
            <a:off x="3524250" y="2095500"/>
            <a:ext cx="228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775" b="1">
                <a:solidFill>
                  <a:srgbClr val="2B8C9D"/>
                </a:solidFill>
                <a:latin typeface="Helvetica Neue"/>
                <a:ea typeface="Helvetica Neue"/>
                <a:cs typeface="Helvetica Neue"/>
              </a:defRPr>
            </a:pPr>
            <a:r>
              <a:rPr sz="2775" b="1">
                <a:solidFill>
                  <a:srgbClr val="2B8C9D"/>
                </a:solidFill>
                <a:latin typeface="Helvetica Neue"/>
                <a:ea typeface="Helvetica Neue"/>
                <a:cs typeface="Helvetica Neue"/>
              </a:rPr>
              <a:t>76.8%</a:t>
            </a:r>
          </a:p>
        </p:txBody>
      </p:sp>
      <p:sp>
        <p:nvSpPr>
          <p:cNvPr id="10" name="">
            <a:extLst xmlns:a="http://schemas.openxmlformats.org/drawingml/2006/main">
              <a:ext uri="{FF2B5EF4-FFF2-40B4-BE49-F238E27FC236}">
                <a16:creationId xmlns:a16="http://schemas.microsoft.com/office/drawing/2014/main" id="{B789BE75-63BC-4EB7-A0B5-C81BD4D848E7}"/>
              </a:ext>
            </a:extLst>
          </p:cNvPr>
          <p:cNvSpPr>
            <a:spLocks xmlns:a="http://schemas.openxmlformats.org/drawingml/2006/main" noGrp="1"/>
          </p:cNvSpPr>
          <p:nvPr/>
        </p:nvSpPr>
        <p:spPr>
          <a:xfrm xmlns:a="http://schemas.openxmlformats.org/drawingml/2006/main">
            <a:off x="3524250" y="2638425"/>
            <a:ext cx="228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lgn="ctr">
              <a:defRPr sz="1200" b="0">
                <a:solidFill>
                  <a:srgbClr val="51636B"/>
                </a:solidFill>
                <a:latin typeface="Helvetica Neue"/>
                <a:ea typeface="Helvetica Neue"/>
                <a:cs typeface="Helvetica Neue"/>
              </a:defRPr>
            </a:pPr>
            <a:r>
              <a:rPr sz="1200" b="0">
                <a:solidFill>
                  <a:srgbClr val="51636B"/>
                </a:solidFill>
                <a:latin typeface="Helvetica Neue"/>
                <a:ea typeface="Helvetica Neue"/>
                <a:cs typeface="Helvetica Neue"/>
              </a:rPr>
              <a:t>balanced accuracy</a:t>
            </a:r>
          </a:p>
        </p:txBody>
      </p:sp>
      <p:sp>
        <p:nvSpPr>
          <p:cNvPr id="11" name="">
            <a:extLst xmlns:a="http://schemas.openxmlformats.org/drawingml/2006/main">
              <a:ext uri="{FF2B5EF4-FFF2-40B4-BE49-F238E27FC236}">
                <a16:creationId xmlns:a16="http://schemas.microsoft.com/office/drawing/2014/main" id="{EBDBC537-AF2B-42F2-ABAD-F9D527884E4B}"/>
              </a:ext>
            </a:extLst>
          </p:cNvPr>
          <p:cNvSpPr>
            <a:spLocks xmlns:a="http://schemas.openxmlformats.org/drawingml/2006/main" noGrp="1"/>
          </p:cNvSpPr>
          <p:nvPr/>
        </p:nvSpPr>
        <p:spPr>
          <a:xfrm xmlns:a="http://schemas.openxmlformats.org/drawingml/2006/main">
            <a:off x="6238875" y="2095500"/>
            <a:ext cx="228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775" b="1">
                <a:solidFill>
                  <a:srgbClr val="D5A129"/>
                </a:solidFill>
                <a:latin typeface="Helvetica Neue"/>
                <a:ea typeface="Helvetica Neue"/>
                <a:cs typeface="Helvetica Neue"/>
              </a:defRPr>
            </a:pPr>
            <a:r>
              <a:rPr sz="2775" b="1">
                <a:solidFill>
                  <a:srgbClr val="D5A129"/>
                </a:solidFill>
                <a:latin typeface="Helvetica Neue"/>
                <a:ea typeface="Helvetica Neue"/>
                <a:cs typeface="Helvetica Neue"/>
              </a:rPr>
              <a:t>73.7%</a:t>
            </a:r>
          </a:p>
        </p:txBody>
      </p:sp>
      <p:sp>
        <p:nvSpPr>
          <p:cNvPr id="12" name="">
            <a:extLst xmlns:a="http://schemas.openxmlformats.org/drawingml/2006/main">
              <a:ext uri="{FF2B5EF4-FFF2-40B4-BE49-F238E27FC236}">
                <a16:creationId xmlns:a16="http://schemas.microsoft.com/office/drawing/2014/main" id="{9D1B4457-6C1C-432E-81E0-8840995C74A3}"/>
              </a:ext>
            </a:extLst>
          </p:cNvPr>
          <p:cNvSpPr>
            <a:spLocks xmlns:a="http://schemas.openxmlformats.org/drawingml/2006/main" noGrp="1"/>
          </p:cNvSpPr>
          <p:nvPr/>
        </p:nvSpPr>
        <p:spPr>
          <a:xfrm xmlns:a="http://schemas.openxmlformats.org/drawingml/2006/main">
            <a:off x="6238875" y="2638425"/>
            <a:ext cx="228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lgn="ctr">
              <a:defRPr sz="1200" b="0">
                <a:solidFill>
                  <a:srgbClr val="51636B"/>
                </a:solidFill>
                <a:latin typeface="Helvetica Neue"/>
                <a:ea typeface="Helvetica Neue"/>
                <a:cs typeface="Helvetica Neue"/>
              </a:defRPr>
            </a:pPr>
            <a:r>
              <a:rPr sz="1200" b="0">
                <a:solidFill>
                  <a:srgbClr val="51636B"/>
                </a:solidFill>
                <a:latin typeface="Helvetica Neue"/>
                <a:ea typeface="Helvetica Neue"/>
                <a:cs typeface="Helvetica Neue"/>
              </a:rPr>
              <a:t>sensitivity</a:t>
            </a:r>
          </a:p>
        </p:txBody>
      </p:sp>
      <p:sp>
        <p:nvSpPr>
          <p:cNvPr id="13" name="">
            <a:extLst xmlns:a="http://schemas.openxmlformats.org/drawingml/2006/main">
              <a:ext uri="{FF2B5EF4-FFF2-40B4-BE49-F238E27FC236}">
                <a16:creationId xmlns:a16="http://schemas.microsoft.com/office/drawing/2014/main" id="{C4F831D0-FB47-4FD6-88E5-E6112C97F03A}"/>
              </a:ext>
            </a:extLst>
          </p:cNvPr>
          <p:cNvSpPr>
            <a:spLocks xmlns:a="http://schemas.openxmlformats.org/drawingml/2006/main" noGrp="1"/>
          </p:cNvSpPr>
          <p:nvPr/>
        </p:nvSpPr>
        <p:spPr>
          <a:xfrm xmlns:a="http://schemas.openxmlformats.org/drawingml/2006/main">
            <a:off x="8953500" y="2095500"/>
            <a:ext cx="228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775" b="1">
                <a:solidFill>
                  <a:srgbClr val="D7634C"/>
                </a:solidFill>
                <a:latin typeface="Helvetica Neue"/>
                <a:ea typeface="Helvetica Neue"/>
                <a:cs typeface="Helvetica Neue"/>
              </a:defRPr>
            </a:pPr>
            <a:r>
              <a:rPr sz="2775" b="1">
                <a:solidFill>
                  <a:srgbClr val="D7634C"/>
                </a:solidFill>
                <a:latin typeface="Helvetica Neue"/>
                <a:ea typeface="Helvetica Neue"/>
                <a:cs typeface="Helvetica Neue"/>
              </a:rPr>
              <a:t>79.9%</a:t>
            </a:r>
          </a:p>
        </p:txBody>
      </p:sp>
      <p:sp>
        <p:nvSpPr>
          <p:cNvPr id="14" name="">
            <a:extLst xmlns:a="http://schemas.openxmlformats.org/drawingml/2006/main">
              <a:ext uri="{FF2B5EF4-FFF2-40B4-BE49-F238E27FC236}">
                <a16:creationId xmlns:a16="http://schemas.microsoft.com/office/drawing/2014/main" id="{E1008CE0-A4D9-4A2A-96CA-42DFFAECD6C8}"/>
              </a:ext>
            </a:extLst>
          </p:cNvPr>
          <p:cNvSpPr>
            <a:spLocks xmlns:a="http://schemas.openxmlformats.org/drawingml/2006/main" noGrp="1"/>
          </p:cNvSpPr>
          <p:nvPr/>
        </p:nvSpPr>
        <p:spPr>
          <a:xfrm xmlns:a="http://schemas.openxmlformats.org/drawingml/2006/main">
            <a:off x="8953500" y="2638425"/>
            <a:ext cx="228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lgn="ctr">
              <a:defRPr sz="1200" b="0">
                <a:solidFill>
                  <a:srgbClr val="51636B"/>
                </a:solidFill>
                <a:latin typeface="Helvetica Neue"/>
                <a:ea typeface="Helvetica Neue"/>
                <a:cs typeface="Helvetica Neue"/>
              </a:defRPr>
            </a:pPr>
            <a:r>
              <a:rPr sz="1200" b="0">
                <a:solidFill>
                  <a:srgbClr val="51636B"/>
                </a:solidFill>
                <a:latin typeface="Helvetica Neue"/>
                <a:ea typeface="Helvetica Neue"/>
                <a:cs typeface="Helvetica Neue"/>
              </a:rPr>
              <a:t>specificity</a:t>
            </a:r>
          </a:p>
        </p:txBody>
      </p:sp>
      <p:sp>
        <p:nvSpPr>
          <p:cNvPr id="15" name="">
            <a:extLst xmlns:a="http://schemas.openxmlformats.org/drawingml/2006/main">
              <a:ext uri="{FF2B5EF4-FFF2-40B4-BE49-F238E27FC236}">
                <a16:creationId xmlns:a16="http://schemas.microsoft.com/office/drawing/2014/main" id="{28FDF7B1-FC53-4EAF-B1AE-C7E6BCCDAD3D}"/>
              </a:ext>
            </a:extLst>
          </p:cNvPr>
          <p:cNvSpPr>
            <a:spLocks xmlns:a="http://schemas.openxmlformats.org/drawingml/2006/main" noGrp="1"/>
          </p:cNvSpPr>
          <p:nvPr/>
        </p:nvSpPr>
        <p:spPr>
          <a:xfrm xmlns:a="http://schemas.openxmlformats.org/drawingml/2006/main">
            <a:off x="904875" y="3286125"/>
            <a:ext cx="4857750" cy="1952625"/>
          </a:xfrm>
          <a:prstGeom xmlns:a="http://schemas.openxmlformats.org/drawingml/2006/main" prst="roundRect">
            <a:avLst>
              <a:gd name="adj" fmla="val 2927"/>
            </a:avLst>
          </a:prstGeom>
          <a:solidFill xmlns:a="http://schemas.openxmlformats.org/drawingml/2006/main">
            <a:srgbClr val="EEF5F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0F464227-0B09-45E8-89CF-BDB385572233}"/>
              </a:ext>
            </a:extLst>
          </p:cNvPr>
          <p:cNvSpPr>
            <a:spLocks xmlns:a="http://schemas.openxmlformats.org/drawingml/2006/main" noGrp="1"/>
          </p:cNvSpPr>
          <p:nvPr/>
        </p:nvSpPr>
        <p:spPr>
          <a:xfrm xmlns:a="http://schemas.openxmlformats.org/drawingml/2006/main">
            <a:off x="1190625" y="3524250"/>
            <a:ext cx="428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000"/>
          </a:bodyPr>
          <a:lstStyle xmlns:a="http://schemas.openxmlformats.org/drawingml/2006/main"/>
          <a:p xmlns:a="http://schemas.openxmlformats.org/drawingml/2006/main">
            <a:pPr algn="l">
              <a:defRPr sz="1500" b="1">
                <a:solidFill>
                  <a:srgbClr val="14262D"/>
                </a:solidFill>
                <a:latin typeface="Helvetica Neue"/>
                <a:ea typeface="Helvetica Neue"/>
                <a:cs typeface="Helvetica Neue"/>
              </a:defRPr>
            </a:pPr>
            <a:r>
              <a:rPr sz="1500" b="1">
                <a:solidFill>
                  <a:srgbClr val="14262D"/>
                </a:solidFill>
                <a:latin typeface="Helvetica Neue"/>
                <a:ea typeface="Helvetica Neue"/>
                <a:cs typeface="Helvetica Neue"/>
              </a:rPr>
              <a:t>High-temperature subset</a:t>
            </a:r>
          </a:p>
        </p:txBody>
      </p:sp>
      <p:sp>
        <p:nvSpPr>
          <p:cNvPr id="17" name="">
            <a:extLst xmlns:a="http://schemas.openxmlformats.org/drawingml/2006/main">
              <a:ext uri="{FF2B5EF4-FFF2-40B4-BE49-F238E27FC236}">
                <a16:creationId xmlns:a16="http://schemas.microsoft.com/office/drawing/2014/main" id="{792FE16C-EE95-4958-9ECA-F5E4E37B2C70}"/>
              </a:ext>
            </a:extLst>
          </p:cNvPr>
          <p:cNvSpPr>
            <a:spLocks xmlns:a="http://schemas.openxmlformats.org/drawingml/2006/main" noGrp="1"/>
          </p:cNvSpPr>
          <p:nvPr/>
        </p:nvSpPr>
        <p:spPr>
          <a:xfrm xmlns:a="http://schemas.openxmlformats.org/drawingml/2006/main">
            <a:off x="1190625" y="3905250"/>
            <a:ext cx="428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0">
                <a:solidFill>
                  <a:srgbClr val="51636B"/>
                </a:solidFill>
                <a:latin typeface="Helvetica Neue"/>
                <a:ea typeface="Helvetica Neue"/>
                <a:cs typeface="Helvetica Neue"/>
              </a:defRPr>
            </a:pPr>
            <a:r>
              <a:rPr sz="1350" b="0">
                <a:solidFill>
                  <a:srgbClr val="51636B"/>
                </a:solidFill>
                <a:latin typeface="Helvetica Neue"/>
                <a:ea typeface="Helvetica Neue"/>
                <a:cs typeface="Helvetica Neue"/>
              </a:rPr>
              <a:t>95 of 992 organisms  |  9.6% prevalence</a:t>
            </a:r>
          </a:p>
        </p:txBody>
      </p:sp>
      <p:sp>
        <p:nvSpPr>
          <p:cNvPr id="18" name="">
            <a:extLst xmlns:a="http://schemas.openxmlformats.org/drawingml/2006/main">
              <a:ext uri="{FF2B5EF4-FFF2-40B4-BE49-F238E27FC236}">
                <a16:creationId xmlns:a16="http://schemas.microsoft.com/office/drawing/2014/main" id="{66199E95-6A61-4298-A639-D6FE6B35CC89}"/>
              </a:ext>
            </a:extLst>
          </p:cNvPr>
          <p:cNvSpPr>
            <a:spLocks xmlns:a="http://schemas.openxmlformats.org/drawingml/2006/main" noGrp="1"/>
          </p:cNvSpPr>
          <p:nvPr/>
        </p:nvSpPr>
        <p:spPr>
          <a:xfrm xmlns:a="http://schemas.openxmlformats.org/drawingml/2006/main">
            <a:off x="1190625" y="4333875"/>
            <a:ext cx="428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89"/>
          </a:bodyPr>
          <a:lstStyle xmlns:a="http://schemas.openxmlformats.org/drawingml/2006/main"/>
          <a:p xmlns:a="http://schemas.openxmlformats.org/drawingml/2006/main">
            <a:pPr algn="l">
              <a:defRPr sz="1575" b="1">
                <a:solidFill>
                  <a:srgbClr val="0E6B6F"/>
                </a:solidFill>
                <a:latin typeface="Helvetica Neue"/>
                <a:ea typeface="Helvetica Neue"/>
                <a:cs typeface="Helvetica Neue"/>
              </a:defRPr>
            </a:pPr>
            <a:r>
              <a:rPr sz="1575" b="1">
                <a:solidFill>
                  <a:srgbClr val="0E6B6F"/>
                </a:solidFill>
                <a:latin typeface="Helvetica Neue"/>
                <a:ea typeface="Helvetica Neue"/>
                <a:cs typeface="Helvetica Neue"/>
              </a:rPr>
              <a:t>Pearson  0.494     Spearman  0.465</a:t>
            </a:r>
          </a:p>
        </p:txBody>
      </p:sp>
      <p:sp>
        <p:nvSpPr>
          <p:cNvPr id="19" name="">
            <a:extLst xmlns:a="http://schemas.openxmlformats.org/drawingml/2006/main">
              <a:ext uri="{FF2B5EF4-FFF2-40B4-BE49-F238E27FC236}">
                <a16:creationId xmlns:a16="http://schemas.microsoft.com/office/drawing/2014/main" id="{3BE8BA5C-50B7-4D31-B9A4-B90B8F51FE70}"/>
              </a:ext>
            </a:extLst>
          </p:cNvPr>
          <p:cNvSpPr>
            <a:spLocks xmlns:a="http://schemas.openxmlformats.org/drawingml/2006/main" noGrp="1"/>
          </p:cNvSpPr>
          <p:nvPr/>
        </p:nvSpPr>
        <p:spPr>
          <a:xfrm xmlns:a="http://schemas.openxmlformats.org/drawingml/2006/main">
            <a:off x="1190625" y="4762500"/>
            <a:ext cx="428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474"/>
          </a:bodyPr>
          <a:lstStyle xmlns:a="http://schemas.openxmlformats.org/drawingml/2006/main"/>
          <a:p xmlns:a="http://schemas.openxmlformats.org/drawingml/2006/main">
            <a:pPr algn="l">
              <a:defRPr sz="1425" b="0">
                <a:solidFill>
                  <a:srgbClr val="14262D"/>
                </a:solidFill>
                <a:latin typeface="Helvetica Neue"/>
                <a:ea typeface="Helvetica Neue"/>
                <a:cs typeface="Helvetica Neue"/>
              </a:defRPr>
            </a:pPr>
            <a:r>
              <a:rPr sz="1425" b="0">
                <a:solidFill>
                  <a:srgbClr val="14262D"/>
                </a:solidFill>
                <a:latin typeface="Helvetica Neue"/>
                <a:ea typeface="Helvetica Neue"/>
                <a:cs typeface="Helvetica Neue"/>
              </a:rPr>
              <a:t>MAE  11.09 °C     bias  −1.36 °C</a:t>
            </a:r>
          </a:p>
        </p:txBody>
      </p:sp>
      <p:sp>
        <p:nvSpPr>
          <p:cNvPr id="20" name="">
            <a:extLst xmlns:a="http://schemas.openxmlformats.org/drawingml/2006/main">
              <a:ext uri="{FF2B5EF4-FFF2-40B4-BE49-F238E27FC236}">
                <a16:creationId xmlns:a16="http://schemas.microsoft.com/office/drawing/2014/main" id="{56BCC3CE-F59A-425E-9653-E5068A769D1B}"/>
              </a:ext>
            </a:extLst>
          </p:cNvPr>
          <p:cNvSpPr>
            <a:spLocks xmlns:a="http://schemas.openxmlformats.org/drawingml/2006/main" noGrp="1"/>
          </p:cNvSpPr>
          <p:nvPr/>
        </p:nvSpPr>
        <p:spPr>
          <a:xfrm xmlns:a="http://schemas.openxmlformats.org/drawingml/2006/main">
            <a:off x="6191250" y="3286125"/>
            <a:ext cx="5143500" cy="1952625"/>
          </a:xfrm>
          <a:prstGeom xmlns:a="http://schemas.openxmlformats.org/drawingml/2006/main" prst="roundRect">
            <a:avLst>
              <a:gd name="adj" fmla="val 2927"/>
            </a:avLst>
          </a:prstGeom>
          <a:solidFill xmlns:a="http://schemas.openxmlformats.org/drawingml/2006/main">
            <a:srgbClr val="FFF2E9"/>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77C4FF4E-92E7-4E40-9C52-CF8C8C31DA53}"/>
              </a:ext>
            </a:extLst>
          </p:cNvPr>
          <p:cNvSpPr>
            <a:spLocks xmlns:a="http://schemas.openxmlformats.org/drawingml/2006/main" noGrp="1"/>
          </p:cNvSpPr>
          <p:nvPr/>
        </p:nvSpPr>
        <p:spPr>
          <a:xfrm xmlns:a="http://schemas.openxmlformats.org/drawingml/2006/main">
            <a:off x="6477000" y="3524250"/>
            <a:ext cx="457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000"/>
          </a:bodyPr>
          <a:lstStyle xmlns:a="http://schemas.openxmlformats.org/drawingml/2006/main"/>
          <a:p xmlns:a="http://schemas.openxmlformats.org/drawingml/2006/main">
            <a:pPr algn="l">
              <a:defRPr sz="1500" b="1">
                <a:solidFill>
                  <a:srgbClr val="14262D"/>
                </a:solidFill>
                <a:latin typeface="Helvetica Neue"/>
                <a:ea typeface="Helvetica Neue"/>
                <a:cs typeface="Helvetica Neue"/>
              </a:defRPr>
            </a:pPr>
            <a:r>
              <a:rPr sz="1500" b="1">
                <a:solidFill>
                  <a:srgbClr val="14262D"/>
                </a:solidFill>
                <a:latin typeface="Helvetica Neue"/>
                <a:ea typeface="Helvetica Neue"/>
                <a:cs typeface="Helvetica Neue"/>
              </a:rPr>
              <a:t>Class imbalance changes the metric</a:t>
            </a:r>
          </a:p>
        </p:txBody>
      </p:sp>
      <p:sp>
        <p:nvSpPr>
          <p:cNvPr id="22" name="">
            <a:extLst xmlns:a="http://schemas.openxmlformats.org/drawingml/2006/main">
              <a:ext uri="{FF2B5EF4-FFF2-40B4-BE49-F238E27FC236}">
                <a16:creationId xmlns:a16="http://schemas.microsoft.com/office/drawing/2014/main" id="{C37E47DE-0478-4AE9-AE83-AE0D89B41837}"/>
              </a:ext>
            </a:extLst>
          </p:cNvPr>
          <p:cNvSpPr>
            <a:spLocks xmlns:a="http://schemas.openxmlformats.org/drawingml/2006/main" noGrp="1"/>
          </p:cNvSpPr>
          <p:nvPr/>
        </p:nvSpPr>
        <p:spPr>
          <a:xfrm xmlns:a="http://schemas.openxmlformats.org/drawingml/2006/main">
            <a:off x="6477000" y="3924300"/>
            <a:ext cx="4572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1636B"/>
                </a:solidFill>
                <a:latin typeface="Helvetica Neue"/>
                <a:ea typeface="Helvetica Neue"/>
                <a:cs typeface="Helvetica Neue"/>
              </a:defRPr>
            </a:pPr>
            <a:r>
              <a:rPr sz="1350" b="0">
                <a:solidFill>
                  <a:srgbClr val="51636B"/>
                </a:solidFill>
                <a:latin typeface="Helvetica Neue"/>
                <a:ea typeface="Helvetica Neue"/>
                <a:cs typeface="Helvetica Neue"/>
              </a:rPr>
              <a:t>A constant 31.43 °C prediction has overall MAE 5.47 °C, but high-temperature MAE 19.81 °C.</a:t>
            </a:r>
          </a:p>
        </p:txBody>
      </p:sp>
      <p:sp>
        <p:nvSpPr>
          <p:cNvPr id="23" name="">
            <a:extLst xmlns:a="http://schemas.openxmlformats.org/drawingml/2006/main">
              <a:ext uri="{FF2B5EF4-FFF2-40B4-BE49-F238E27FC236}">
                <a16:creationId xmlns:a16="http://schemas.microsoft.com/office/drawing/2014/main" id="{29919BFF-2761-4AA7-A88C-7E3D28B9F660}"/>
              </a:ext>
            </a:extLst>
          </p:cNvPr>
          <p:cNvSpPr>
            <a:spLocks xmlns:a="http://schemas.openxmlformats.org/drawingml/2006/main" noGrp="1"/>
          </p:cNvSpPr>
          <p:nvPr/>
        </p:nvSpPr>
        <p:spPr>
          <a:xfrm xmlns:a="http://schemas.openxmlformats.org/drawingml/2006/main">
            <a:off x="6477000" y="4619625"/>
            <a:ext cx="457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3081"/>
          </a:bodyPr>
          <a:lstStyle xmlns:a="http://schemas.openxmlformats.org/drawingml/2006/main"/>
          <a:p xmlns:a="http://schemas.openxmlformats.org/drawingml/2006/main">
            <a:pPr algn="l">
              <a:defRPr sz="1350" b="1">
                <a:solidFill>
                  <a:srgbClr val="D7634C"/>
                </a:solidFill>
                <a:latin typeface="Helvetica Neue"/>
                <a:ea typeface="Helvetica Neue"/>
                <a:cs typeface="Helvetica Neue"/>
              </a:defRPr>
            </a:pPr>
            <a:r>
              <a:rPr sz="1350" b="1">
                <a:solidFill>
                  <a:srgbClr val="D7634C"/>
                </a:solidFill>
                <a:latin typeface="Helvetica Neue"/>
                <a:ea typeface="Helvetica Neue"/>
                <a:cs typeface="Helvetica Neue"/>
              </a:rPr>
              <a:t>FeatureDCA lowers high-temperature MAE to 11.09 °C. Precision remains 28.0% because high-temperature organisms are rare.</a:t>
            </a:r>
          </a:p>
        </p:txBody>
      </p:sp>
      <p:sp>
        <p:nvSpPr>
          <p:cNvPr id="24" name="">
            <a:extLst xmlns:a="http://schemas.openxmlformats.org/drawingml/2006/main">
              <a:ext uri="{FF2B5EF4-FFF2-40B4-BE49-F238E27FC236}">
                <a16:creationId xmlns:a16="http://schemas.microsoft.com/office/drawing/2014/main" id="{A8A47273-7636-47A8-8B8F-0FB9800D511A}"/>
              </a:ext>
            </a:extLst>
          </p:cNvPr>
          <p:cNvSpPr>
            <a:spLocks xmlns:a="http://schemas.openxmlformats.org/drawingml/2006/main" noGrp="1"/>
          </p:cNvSpPr>
          <p:nvPr/>
        </p:nvSpPr>
        <p:spPr>
          <a:xfrm xmlns:a="http://schemas.openxmlformats.org/drawingml/2006/main">
            <a:off x="2143125" y="5810250"/>
            <a:ext cx="7905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246"/>
          </a:bodyPr>
          <a:lstStyle xmlns:a="http://schemas.openxmlformats.org/drawingml/2006/main"/>
          <a:p xmlns:a="http://schemas.openxmlformats.org/drawingml/2006/main">
            <a:pPr algn="ctr">
              <a:defRPr sz="1425" b="1">
                <a:solidFill>
                  <a:srgbClr val="0E6B6F"/>
                </a:solidFill>
                <a:latin typeface="Helvetica Neue"/>
                <a:ea typeface="Helvetica Neue"/>
                <a:cs typeface="Helvetica Neue"/>
              </a:defRPr>
            </a:pPr>
            <a:r>
              <a:rPr sz="1425" b="1">
                <a:solidFill>
                  <a:srgbClr val="0E6B6F"/>
                </a:solidFill>
                <a:latin typeface="Helvetica Neue"/>
                <a:ea typeface="Helvetica Neue"/>
                <a:cs typeface="Helvetica Neue"/>
              </a:rPr>
              <a:t>AUROC permutation p &lt; 10⁻⁴  |  bootstrap 95% CI: 0.788–0.876</a:t>
            </a:r>
          </a:p>
        </p:txBody>
      </p:sp>
    </p:spTree>
    <p:extLst>
      <p:ext uri="{BB962C8B-B14F-4D97-AF65-F5344CB8AC3E}">
        <p14:creationId xmlns:p14="http://schemas.microsoft.com/office/powerpoint/2010/main" val="1733939629"/>
      </p:ext>
    </p:extLst>
  </p:cSld>
</p:sld>
</file>

<file path=ppt/slides/slide17.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74FCD1A3-7F4E-4A1D-A7FF-15014360D5C8}"/>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0E6B6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75133DA-FBCA-4B5C-8C13-E8BBFCB82FDB}"/>
              </a:ext>
            </a:extLst>
          </p:cNvPr>
          <p:cNvSpPr>
            <a:spLocks xmlns:a="http://schemas.openxmlformats.org/drawingml/2006/main" noGrp="1"/>
          </p:cNvSpPr>
          <p:nvPr/>
        </p:nvSpPr>
        <p:spPr>
          <a:xfrm xmlns:a="http://schemas.openxmlformats.org/drawingml/2006/main">
            <a:off x="552450" y="28575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a:solidFill>
                  <a:srgbClr val="0E6B6F"/>
                </a:solidFill>
                <a:latin typeface="Helvetica Neue"/>
                <a:ea typeface="Helvetica Neue"/>
                <a:cs typeface="Helvetica Neue"/>
              </a:defRPr>
            </a:pPr>
            <a:r>
              <a:rPr sz="900" b="1">
                <a:solidFill>
                  <a:srgbClr val="0E6B6F"/>
                </a:solidFill>
                <a:latin typeface="Helvetica Neue"/>
                <a:ea typeface="Helvetica Neue"/>
                <a:cs typeface="Helvetica Neue"/>
              </a:rPr>
              <a:t>CONCLUSIONS</a:t>
            </a:r>
          </a:p>
        </p:txBody>
      </p:sp>
      <p:sp>
        <p:nvSpPr>
          <p:cNvPr id="3" name="">
            <a:extLst xmlns:a="http://schemas.openxmlformats.org/drawingml/2006/main">
              <a:ext uri="{FF2B5EF4-FFF2-40B4-BE49-F238E27FC236}">
                <a16:creationId xmlns:a16="http://schemas.microsoft.com/office/drawing/2014/main" id="{D6812BEC-9BEE-4447-99CC-074A55CF616D}"/>
              </a:ext>
            </a:extLst>
          </p:cNvPr>
          <p:cNvSpPr>
            <a:spLocks xmlns:a="http://schemas.openxmlformats.org/drawingml/2006/main" noGrp="1"/>
          </p:cNvSpPr>
          <p:nvPr/>
        </p:nvSpPr>
        <p:spPr>
          <a:xfrm xmlns:a="http://schemas.openxmlformats.org/drawingml/2006/main">
            <a:off x="552450" y="495300"/>
            <a:ext cx="1081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14262D"/>
                </a:solidFill>
                <a:latin typeface="Helvetica Neue"/>
                <a:ea typeface="Helvetica Neue"/>
                <a:cs typeface="Helvetica Neue"/>
              </a:defRPr>
            </a:pPr>
            <a:r>
              <a:rPr sz="2400" b="1">
                <a:solidFill>
                  <a:srgbClr val="14262D"/>
                </a:solidFill>
                <a:latin typeface="Helvetica Neue"/>
                <a:ea typeface="Helvetica Neue"/>
                <a:cs typeface="Helvetica Neue"/>
              </a:rPr>
              <a:t>Current interpretation and next experiments</a:t>
            </a:r>
          </a:p>
        </p:txBody>
      </p:sp>
      <p:sp>
        <p:nvSpPr>
          <p:cNvPr id="4" name="">
            <a:extLst xmlns:a="http://schemas.openxmlformats.org/drawingml/2006/main">
              <a:ext uri="{FF2B5EF4-FFF2-40B4-BE49-F238E27FC236}">
                <a16:creationId xmlns:a16="http://schemas.microsoft.com/office/drawing/2014/main" id="{D6B80FDB-88E4-46F3-94D5-81F103D124F8}"/>
              </a:ext>
            </a:extLst>
          </p:cNvPr>
          <p:cNvSpPr>
            <a:spLocks xmlns:a="http://schemas.openxmlformats.org/drawingml/2006/main" noGrp="1"/>
          </p:cNvSpPr>
          <p:nvPr/>
        </p:nvSpPr>
        <p:spPr>
          <a:xfrm xmlns:a="http://schemas.openxmlformats.org/drawingml/2006/main">
            <a:off x="552450" y="1066800"/>
            <a:ext cx="11049000" cy="19050"/>
          </a:xfrm>
          <a:prstGeom xmlns:a="http://schemas.openxmlformats.org/drawingml/2006/main" prst="rect">
            <a:avLst/>
          </a:prstGeom>
          <a:solidFill xmlns:a="http://schemas.openxmlformats.org/drawingml/2006/main">
            <a:srgbClr val="CBD6D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7CF4B78-3B75-4DA9-A406-D10B39260B59}"/>
              </a:ext>
            </a:extLst>
          </p:cNvPr>
          <p:cNvSpPr>
            <a:spLocks xmlns:a="http://schemas.openxmlformats.org/drawingml/2006/main" noGrp="1"/>
          </p:cNvSpPr>
          <p:nvPr/>
        </p:nvSpPr>
        <p:spPr>
          <a:xfrm xmlns:a="http://schemas.openxmlformats.org/drawingml/2006/main">
            <a:off x="11144250" y="6477000"/>
            <a:ext cx="47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r">
              <a:defRPr sz="825" b="0">
                <a:solidFill>
                  <a:srgbClr val="51636B"/>
                </a:solidFill>
                <a:latin typeface="Helvetica Neue"/>
                <a:ea typeface="Helvetica Neue"/>
                <a:cs typeface="Helvetica Neue"/>
              </a:defRPr>
            </a:pPr>
            <a:r>
              <a:rPr sz="825" b="0">
                <a:solidFill>
                  <a:srgbClr val="51636B"/>
                </a:solidFill>
                <a:latin typeface="Helvetica Neue"/>
                <a:ea typeface="Helvetica Neue"/>
                <a:cs typeface="Helvetica Neue"/>
              </a:rPr>
              <a:t>17</a:t>
            </a:r>
          </a:p>
        </p:txBody>
      </p:sp>
      <p:sp>
        <p:nvSpPr>
          <p:cNvPr id="6" name="">
            <a:extLst xmlns:a="http://schemas.openxmlformats.org/drawingml/2006/main">
              <a:ext uri="{FF2B5EF4-FFF2-40B4-BE49-F238E27FC236}">
                <a16:creationId xmlns:a16="http://schemas.microsoft.com/office/drawing/2014/main" id="{C4829C5B-3345-45EB-8DC6-997A1D78CA68}"/>
              </a:ext>
            </a:extLst>
          </p:cNvPr>
          <p:cNvSpPr>
            <a:spLocks xmlns:a="http://schemas.openxmlformats.org/drawingml/2006/main" noGrp="1"/>
          </p:cNvSpPr>
          <p:nvPr/>
        </p:nvSpPr>
        <p:spPr>
          <a:xfrm xmlns:a="http://schemas.openxmlformats.org/drawingml/2006/main">
            <a:off x="857250" y="1476375"/>
            <a:ext cx="447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lgn="l">
              <a:defRPr sz="1800" b="1">
                <a:solidFill>
                  <a:srgbClr val="0E6B6F"/>
                </a:solidFill>
                <a:latin typeface="Helvetica Neue"/>
                <a:ea typeface="Helvetica Neue"/>
                <a:cs typeface="Helvetica Neue"/>
              </a:defRPr>
            </a:pPr>
            <a:r>
              <a:rPr sz="1800" b="1">
                <a:solidFill>
                  <a:srgbClr val="0E6B6F"/>
                </a:solidFill>
                <a:latin typeface="Helvetica Neue"/>
                <a:ea typeface="Helvetica Neue"/>
                <a:cs typeface="Helvetica Neue"/>
              </a:rPr>
              <a:t>What the results support</a:t>
            </a:r>
          </a:p>
        </p:txBody>
      </p:sp>
      <p:sp>
        <p:nvSpPr>
          <p:cNvPr id="7" name="">
            <a:extLst xmlns:a="http://schemas.openxmlformats.org/drawingml/2006/main">
              <a:ext uri="{FF2B5EF4-FFF2-40B4-BE49-F238E27FC236}">
                <a16:creationId xmlns:a16="http://schemas.microsoft.com/office/drawing/2014/main" id="{0FE5C52C-151A-4884-919A-A08434615B53}"/>
              </a:ext>
            </a:extLst>
          </p:cNvPr>
          <p:cNvSpPr>
            <a:spLocks xmlns:a="http://schemas.openxmlformats.org/drawingml/2006/main" noGrp="1"/>
          </p:cNvSpPr>
          <p:nvPr/>
        </p:nvSpPr>
        <p:spPr>
          <a:xfrm xmlns:a="http://schemas.openxmlformats.org/drawingml/2006/main">
            <a:off x="857250" y="2047875"/>
            <a:ext cx="95250" cy="95250"/>
          </a:xfrm>
          <a:prstGeom xmlns:a="http://schemas.openxmlformats.org/drawingml/2006/main" prst="rect">
            <a:avLst/>
          </a:prstGeom>
          <a:solidFill xmlns:a="http://schemas.openxmlformats.org/drawingml/2006/main">
            <a:srgbClr val="0E6B6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AAD4BA0-412F-42F3-BB3E-A90467F7A9A2}"/>
              </a:ext>
            </a:extLst>
          </p:cNvPr>
          <p:cNvSpPr>
            <a:spLocks xmlns:a="http://schemas.openxmlformats.org/drawingml/2006/main" noGrp="1"/>
          </p:cNvSpPr>
          <p:nvPr/>
        </p:nvSpPr>
        <p:spPr>
          <a:xfrm xmlns:a="http://schemas.openxmlformats.org/drawingml/2006/main">
            <a:off x="1123950" y="1847850"/>
            <a:ext cx="4333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4262D"/>
                </a:solidFill>
                <a:latin typeface="Helvetica Neue"/>
                <a:ea typeface="Helvetica Neue"/>
                <a:cs typeface="Helvetica Neue"/>
              </a:defRPr>
            </a:pPr>
            <a:r>
              <a:rPr sz="1275" b="0">
                <a:solidFill>
                  <a:srgbClr val="14262D"/>
                </a:solidFill>
                <a:latin typeface="Helvetica Neue"/>
                <a:ea typeface="Helvetica Neue"/>
                <a:cs typeface="Helvetica Neue"/>
              </a:rPr>
              <a:t>The filtered MSA provides broad organism coverage with explicit temperature metadata.</a:t>
            </a:r>
          </a:p>
        </p:txBody>
      </p:sp>
      <p:sp>
        <p:nvSpPr>
          <p:cNvPr id="9" name="">
            <a:extLst xmlns:a="http://schemas.openxmlformats.org/drawingml/2006/main">
              <a:ext uri="{FF2B5EF4-FFF2-40B4-BE49-F238E27FC236}">
                <a16:creationId xmlns:a16="http://schemas.microsoft.com/office/drawing/2014/main" id="{5C1A206E-5BEE-423F-95FC-C13F9EBE54C6}"/>
              </a:ext>
            </a:extLst>
          </p:cNvPr>
          <p:cNvSpPr>
            <a:spLocks xmlns:a="http://schemas.openxmlformats.org/drawingml/2006/main" noGrp="1"/>
          </p:cNvSpPr>
          <p:nvPr/>
        </p:nvSpPr>
        <p:spPr>
          <a:xfrm xmlns:a="http://schemas.openxmlformats.org/drawingml/2006/main">
            <a:off x="857250" y="2828925"/>
            <a:ext cx="95250" cy="95250"/>
          </a:xfrm>
          <a:prstGeom xmlns:a="http://schemas.openxmlformats.org/drawingml/2006/main" prst="rect">
            <a:avLst/>
          </a:prstGeom>
          <a:solidFill xmlns:a="http://schemas.openxmlformats.org/drawingml/2006/main">
            <a:srgbClr val="0E6B6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EE7D22D-AA86-4733-86DC-FBCC30CC0D33}"/>
              </a:ext>
            </a:extLst>
          </p:cNvPr>
          <p:cNvSpPr>
            <a:spLocks xmlns:a="http://schemas.openxmlformats.org/drawingml/2006/main" noGrp="1"/>
          </p:cNvSpPr>
          <p:nvPr/>
        </p:nvSpPr>
        <p:spPr>
          <a:xfrm xmlns:a="http://schemas.openxmlformats.org/drawingml/2006/main">
            <a:off x="1123950" y="2628900"/>
            <a:ext cx="4333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4262D"/>
                </a:solidFill>
                <a:latin typeface="Helvetica Neue"/>
                <a:ea typeface="Helvetica Neue"/>
                <a:cs typeface="Helvetica Neue"/>
              </a:defRPr>
            </a:pPr>
            <a:r>
              <a:rPr sz="1275" b="0">
                <a:solidFill>
                  <a:srgbClr val="14262D"/>
                </a:solidFill>
                <a:latin typeface="Helvetica Neue"/>
                <a:ea typeface="Helvetica Neue"/>
                <a:cs typeface="Helvetica Neue"/>
              </a:rPr>
              <a:t>Temperature-conditioned FeatureDCA reproduces weighted single and pair frequencies.</a:t>
            </a:r>
          </a:p>
        </p:txBody>
      </p:sp>
      <p:sp>
        <p:nvSpPr>
          <p:cNvPr id="11" name="">
            <a:extLst xmlns:a="http://schemas.openxmlformats.org/drawingml/2006/main">
              <a:ext uri="{FF2B5EF4-FFF2-40B4-BE49-F238E27FC236}">
                <a16:creationId xmlns:a16="http://schemas.microsoft.com/office/drawing/2014/main" id="{9BC3AF76-A0EE-44B7-96EB-24EDAB833407}"/>
              </a:ext>
            </a:extLst>
          </p:cNvPr>
          <p:cNvSpPr>
            <a:spLocks xmlns:a="http://schemas.openxmlformats.org/drawingml/2006/main" noGrp="1"/>
          </p:cNvSpPr>
          <p:nvPr/>
        </p:nvSpPr>
        <p:spPr>
          <a:xfrm xmlns:a="http://schemas.openxmlformats.org/drawingml/2006/main">
            <a:off x="857250" y="3609975"/>
            <a:ext cx="95250" cy="95250"/>
          </a:xfrm>
          <a:prstGeom xmlns:a="http://schemas.openxmlformats.org/drawingml/2006/main" prst="rect">
            <a:avLst/>
          </a:prstGeom>
          <a:solidFill xmlns:a="http://schemas.openxmlformats.org/drawingml/2006/main">
            <a:srgbClr val="0E6B6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91FBF48-B759-4B16-BFE3-89635DD10A1C}"/>
              </a:ext>
            </a:extLst>
          </p:cNvPr>
          <p:cNvSpPr>
            <a:spLocks xmlns:a="http://schemas.openxmlformats.org/drawingml/2006/main" noGrp="1"/>
          </p:cNvSpPr>
          <p:nvPr/>
        </p:nvSpPr>
        <p:spPr>
          <a:xfrm xmlns:a="http://schemas.openxmlformats.org/drawingml/2006/main">
            <a:off x="1123950" y="3409950"/>
            <a:ext cx="4333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4262D"/>
                </a:solidFill>
                <a:latin typeface="Helvetica Neue"/>
                <a:ea typeface="Helvetica Neue"/>
                <a:cs typeface="Helvetica Neue"/>
              </a:defRPr>
            </a:pPr>
            <a:r>
              <a:rPr sz="1275" b="0">
                <a:solidFill>
                  <a:srgbClr val="14262D"/>
                </a:solidFill>
                <a:latin typeface="Helvetica Neue"/>
                <a:ea typeface="Helvetica Neue"/>
                <a:cs typeface="Helvetica Neue"/>
              </a:rPr>
              <a:t>Temperature does not specify the dominant PCA structure of J-domain sequences.</a:t>
            </a:r>
          </a:p>
        </p:txBody>
      </p:sp>
      <p:sp>
        <p:nvSpPr>
          <p:cNvPr id="13" name="">
            <a:extLst xmlns:a="http://schemas.openxmlformats.org/drawingml/2006/main">
              <a:ext uri="{FF2B5EF4-FFF2-40B4-BE49-F238E27FC236}">
                <a16:creationId xmlns:a16="http://schemas.microsoft.com/office/drawing/2014/main" id="{4D029B74-167C-4972-98DD-641CA5A4FA49}"/>
              </a:ext>
            </a:extLst>
          </p:cNvPr>
          <p:cNvSpPr>
            <a:spLocks xmlns:a="http://schemas.openxmlformats.org/drawingml/2006/main" noGrp="1"/>
          </p:cNvSpPr>
          <p:nvPr/>
        </p:nvSpPr>
        <p:spPr>
          <a:xfrm xmlns:a="http://schemas.openxmlformats.org/drawingml/2006/main">
            <a:off x="857250" y="4391025"/>
            <a:ext cx="95250" cy="95250"/>
          </a:xfrm>
          <a:prstGeom xmlns:a="http://schemas.openxmlformats.org/drawingml/2006/main" prst="rect">
            <a:avLst/>
          </a:prstGeom>
          <a:solidFill xmlns:a="http://schemas.openxmlformats.org/drawingml/2006/main">
            <a:srgbClr val="0E6B6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F697065-C30A-438B-9824-70562ED05668}"/>
              </a:ext>
            </a:extLst>
          </p:cNvPr>
          <p:cNvSpPr>
            <a:spLocks xmlns:a="http://schemas.openxmlformats.org/drawingml/2006/main" noGrp="1"/>
          </p:cNvSpPr>
          <p:nvPr/>
        </p:nvSpPr>
        <p:spPr>
          <a:xfrm xmlns:a="http://schemas.openxmlformats.org/drawingml/2006/main">
            <a:off x="1123950" y="4191000"/>
            <a:ext cx="4333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4262D"/>
                </a:solidFill>
                <a:latin typeface="Helvetica Neue"/>
                <a:ea typeface="Helvetica Neue"/>
                <a:cs typeface="Helvetica Neue"/>
              </a:defRPr>
            </a:pPr>
            <a:r>
              <a:rPr sz="1275" b="0">
                <a:solidFill>
                  <a:srgbClr val="14262D"/>
                </a:solidFill>
                <a:latin typeface="Helvetica Neue"/>
                <a:ea typeface="Helvetica Neue"/>
                <a:cs typeface="Helvetica Neue"/>
              </a:rPr>
              <a:t>Organism-level likelihood profiles rank high-temperature organisms with AUROC 0.834.</a:t>
            </a:r>
          </a:p>
        </p:txBody>
      </p:sp>
      <p:sp>
        <p:nvSpPr>
          <p:cNvPr id="15" name="">
            <a:extLst xmlns:a="http://schemas.openxmlformats.org/drawingml/2006/main">
              <a:ext uri="{FF2B5EF4-FFF2-40B4-BE49-F238E27FC236}">
                <a16:creationId xmlns:a16="http://schemas.microsoft.com/office/drawing/2014/main" id="{9FF38A6A-9ABE-47E5-A283-F24745470665}"/>
              </a:ext>
            </a:extLst>
          </p:cNvPr>
          <p:cNvSpPr>
            <a:spLocks xmlns:a="http://schemas.openxmlformats.org/drawingml/2006/main" noGrp="1"/>
          </p:cNvSpPr>
          <p:nvPr/>
        </p:nvSpPr>
        <p:spPr>
          <a:xfrm xmlns:a="http://schemas.openxmlformats.org/drawingml/2006/main">
            <a:off x="6477000" y="1476375"/>
            <a:ext cx="447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lgn="l">
              <a:defRPr sz="1800" b="1">
                <a:solidFill>
                  <a:srgbClr val="D7634C"/>
                </a:solidFill>
                <a:latin typeface="Helvetica Neue"/>
                <a:ea typeface="Helvetica Neue"/>
                <a:cs typeface="Helvetica Neue"/>
              </a:defRPr>
            </a:pPr>
            <a:r>
              <a:rPr sz="1800" b="1">
                <a:solidFill>
                  <a:srgbClr val="D7634C"/>
                </a:solidFill>
                <a:latin typeface="Helvetica Neue"/>
                <a:ea typeface="Helvetica Neue"/>
                <a:cs typeface="Helvetica Neue"/>
              </a:rPr>
              <a:t>What remains unresolved</a:t>
            </a:r>
          </a:p>
        </p:txBody>
      </p:sp>
      <p:sp>
        <p:nvSpPr>
          <p:cNvPr id="16" name="">
            <a:extLst xmlns:a="http://schemas.openxmlformats.org/drawingml/2006/main">
              <a:ext uri="{FF2B5EF4-FFF2-40B4-BE49-F238E27FC236}">
                <a16:creationId xmlns:a16="http://schemas.microsoft.com/office/drawing/2014/main" id="{F562158E-5669-43A6-8D1F-34964755B227}"/>
              </a:ext>
            </a:extLst>
          </p:cNvPr>
          <p:cNvSpPr>
            <a:spLocks xmlns:a="http://schemas.openxmlformats.org/drawingml/2006/main" noGrp="1"/>
          </p:cNvSpPr>
          <p:nvPr/>
        </p:nvSpPr>
        <p:spPr>
          <a:xfrm xmlns:a="http://schemas.openxmlformats.org/drawingml/2006/main">
            <a:off x="6477000" y="2047875"/>
            <a:ext cx="95250" cy="95250"/>
          </a:xfrm>
          <a:prstGeom xmlns:a="http://schemas.openxmlformats.org/drawingml/2006/main" prst="rect">
            <a:avLst/>
          </a:prstGeom>
          <a:solidFill xmlns:a="http://schemas.openxmlformats.org/drawingml/2006/main">
            <a:srgbClr val="D7634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8E0827BC-9BC4-4C6B-8EC4-DD3BA2FEB256}"/>
              </a:ext>
            </a:extLst>
          </p:cNvPr>
          <p:cNvSpPr>
            <a:spLocks xmlns:a="http://schemas.openxmlformats.org/drawingml/2006/main" noGrp="1"/>
          </p:cNvSpPr>
          <p:nvPr/>
        </p:nvSpPr>
        <p:spPr>
          <a:xfrm xmlns:a="http://schemas.openxmlformats.org/drawingml/2006/main">
            <a:off x="6743700" y="1847850"/>
            <a:ext cx="4238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4262D"/>
                </a:solidFill>
                <a:latin typeface="Helvetica Neue"/>
                <a:ea typeface="Helvetica Neue"/>
                <a:cs typeface="Helvetica Neue"/>
              </a:defRPr>
            </a:pPr>
            <a:r>
              <a:rPr sz="1275" b="0">
                <a:solidFill>
                  <a:srgbClr val="14262D"/>
                </a:solidFill>
                <a:latin typeface="Helvetica Neue"/>
                <a:ea typeface="Helvetica Neue"/>
                <a:cs typeface="Helvetica Neue"/>
              </a:rPr>
              <a:t>Whether generated high-temperature sequences are biologically stable or functional.</a:t>
            </a:r>
          </a:p>
        </p:txBody>
      </p:sp>
      <p:sp>
        <p:nvSpPr>
          <p:cNvPr id="18" name="">
            <a:extLst xmlns:a="http://schemas.openxmlformats.org/drawingml/2006/main">
              <a:ext uri="{FF2B5EF4-FFF2-40B4-BE49-F238E27FC236}">
                <a16:creationId xmlns:a16="http://schemas.microsoft.com/office/drawing/2014/main" id="{E49BB9A0-CDA9-4F5F-81F7-327A79E497ED}"/>
              </a:ext>
            </a:extLst>
          </p:cNvPr>
          <p:cNvSpPr>
            <a:spLocks xmlns:a="http://schemas.openxmlformats.org/drawingml/2006/main" noGrp="1"/>
          </p:cNvSpPr>
          <p:nvPr/>
        </p:nvSpPr>
        <p:spPr>
          <a:xfrm xmlns:a="http://schemas.openxmlformats.org/drawingml/2006/main">
            <a:off x="6477000" y="2924175"/>
            <a:ext cx="95250" cy="95250"/>
          </a:xfrm>
          <a:prstGeom xmlns:a="http://schemas.openxmlformats.org/drawingml/2006/main" prst="rect">
            <a:avLst/>
          </a:prstGeom>
          <a:solidFill xmlns:a="http://schemas.openxmlformats.org/drawingml/2006/main">
            <a:srgbClr val="D7634C"/>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D1AF3CBD-095F-4AA0-B595-A0FA85807F2A}"/>
              </a:ext>
            </a:extLst>
          </p:cNvPr>
          <p:cNvSpPr>
            <a:spLocks xmlns:a="http://schemas.openxmlformats.org/drawingml/2006/main" noGrp="1"/>
          </p:cNvSpPr>
          <p:nvPr/>
        </p:nvSpPr>
        <p:spPr>
          <a:xfrm xmlns:a="http://schemas.openxmlformats.org/drawingml/2006/main">
            <a:off x="6743700" y="2724150"/>
            <a:ext cx="4238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4262D"/>
                </a:solidFill>
                <a:latin typeface="Helvetica Neue"/>
                <a:ea typeface="Helvetica Neue"/>
                <a:cs typeface="Helvetica Neue"/>
              </a:defRPr>
            </a:pPr>
            <a:r>
              <a:rPr sz="1275" b="0">
                <a:solidFill>
                  <a:srgbClr val="14262D"/>
                </a:solidFill>
                <a:latin typeface="Helvetica Neue"/>
                <a:ea typeface="Helvetica Neue"/>
                <a:cs typeface="Helvetica Neue"/>
              </a:rPr>
              <a:t>How much of the held-out temperature signal reflects phylogeny or J-domain subclass.</a:t>
            </a:r>
          </a:p>
        </p:txBody>
      </p:sp>
      <p:sp>
        <p:nvSpPr>
          <p:cNvPr id="20" name="">
            <a:extLst xmlns:a="http://schemas.openxmlformats.org/drawingml/2006/main">
              <a:ext uri="{FF2B5EF4-FFF2-40B4-BE49-F238E27FC236}">
                <a16:creationId xmlns:a16="http://schemas.microsoft.com/office/drawing/2014/main" id="{3E18C9B4-9BCA-4975-A3A6-4D0A7154CF52}"/>
              </a:ext>
            </a:extLst>
          </p:cNvPr>
          <p:cNvSpPr>
            <a:spLocks xmlns:a="http://schemas.openxmlformats.org/drawingml/2006/main" noGrp="1"/>
          </p:cNvSpPr>
          <p:nvPr/>
        </p:nvSpPr>
        <p:spPr>
          <a:xfrm xmlns:a="http://schemas.openxmlformats.org/drawingml/2006/main">
            <a:off x="6477000" y="3800475"/>
            <a:ext cx="95250" cy="95250"/>
          </a:xfrm>
          <a:prstGeom xmlns:a="http://schemas.openxmlformats.org/drawingml/2006/main" prst="rect">
            <a:avLst/>
          </a:prstGeom>
          <a:solidFill xmlns:a="http://schemas.openxmlformats.org/drawingml/2006/main">
            <a:srgbClr val="D7634C"/>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B07F3452-E6B8-4D4C-BB6C-DAD3FBB65CC5}"/>
              </a:ext>
            </a:extLst>
          </p:cNvPr>
          <p:cNvSpPr>
            <a:spLocks xmlns:a="http://schemas.openxmlformats.org/drawingml/2006/main" noGrp="1"/>
          </p:cNvSpPr>
          <p:nvPr/>
        </p:nvSpPr>
        <p:spPr>
          <a:xfrm xmlns:a="http://schemas.openxmlformats.org/drawingml/2006/main">
            <a:off x="6743700" y="3600450"/>
            <a:ext cx="4238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4262D"/>
                </a:solidFill>
                <a:latin typeface="Helvetica Neue"/>
                <a:ea typeface="Helvetica Neue"/>
                <a:cs typeface="Helvetica Neue"/>
              </a:defRPr>
            </a:pPr>
            <a:r>
              <a:rPr sz="1275" b="0">
                <a:solidFill>
                  <a:srgbClr val="14262D"/>
                </a:solidFill>
                <a:latin typeface="Helvetica Neue"/>
                <a:ea typeface="Helvetica Neue"/>
                <a:cs typeface="Helvetica Neue"/>
              </a:rPr>
              <a:t>Whether a combined temperature plus PCA model can preserve lineage structure during design.</a:t>
            </a:r>
          </a:p>
        </p:txBody>
      </p:sp>
      <p:sp>
        <p:nvSpPr>
          <p:cNvPr id="22" name="">
            <a:extLst xmlns:a="http://schemas.openxmlformats.org/drawingml/2006/main">
              <a:ext uri="{FF2B5EF4-FFF2-40B4-BE49-F238E27FC236}">
                <a16:creationId xmlns:a16="http://schemas.microsoft.com/office/drawing/2014/main" id="{8499ED22-AEEC-4E05-927A-4CFC1496973A}"/>
              </a:ext>
            </a:extLst>
          </p:cNvPr>
          <p:cNvSpPr>
            <a:spLocks xmlns:a="http://schemas.openxmlformats.org/drawingml/2006/main" noGrp="1"/>
          </p:cNvSpPr>
          <p:nvPr/>
        </p:nvSpPr>
        <p:spPr>
          <a:xfrm xmlns:a="http://schemas.openxmlformats.org/drawingml/2006/main">
            <a:off x="6334125" y="4762500"/>
            <a:ext cx="4762500" cy="990600"/>
          </a:xfrm>
          <a:prstGeom xmlns:a="http://schemas.openxmlformats.org/drawingml/2006/main" prst="roundRect">
            <a:avLst>
              <a:gd name="adj" fmla="val 4808"/>
            </a:avLst>
          </a:prstGeom>
          <a:solidFill xmlns:a="http://schemas.openxmlformats.org/drawingml/2006/main">
            <a:srgbClr val="FFF2E9"/>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9C69FB51-1897-4AC4-8148-F2308685F88D}"/>
              </a:ext>
            </a:extLst>
          </p:cNvPr>
          <p:cNvSpPr>
            <a:spLocks xmlns:a="http://schemas.openxmlformats.org/drawingml/2006/main" noGrp="1"/>
          </p:cNvSpPr>
          <p:nvPr/>
        </p:nvSpPr>
        <p:spPr>
          <a:xfrm xmlns:a="http://schemas.openxmlformats.org/drawingml/2006/main">
            <a:off x="6619875" y="4914900"/>
            <a:ext cx="190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l">
              <a:defRPr sz="1275" b="1">
                <a:solidFill>
                  <a:srgbClr val="D7634C"/>
                </a:solidFill>
                <a:latin typeface="Helvetica Neue"/>
                <a:ea typeface="Helvetica Neue"/>
                <a:cs typeface="Helvetica Neue"/>
              </a:defRPr>
            </a:pPr>
            <a:r>
              <a:rPr sz="1275" b="1">
                <a:solidFill>
                  <a:srgbClr val="D7634C"/>
                </a:solidFill>
                <a:latin typeface="Helvetica Neue"/>
                <a:ea typeface="Helvetica Neue"/>
                <a:cs typeface="Helvetica Neue"/>
              </a:rPr>
              <a:t>Proposed next step</a:t>
            </a:r>
          </a:p>
        </p:txBody>
      </p:sp>
      <p:sp>
        <p:nvSpPr>
          <p:cNvPr id="24" name="">
            <a:extLst xmlns:a="http://schemas.openxmlformats.org/drawingml/2006/main">
              <a:ext uri="{FF2B5EF4-FFF2-40B4-BE49-F238E27FC236}">
                <a16:creationId xmlns:a16="http://schemas.microsoft.com/office/drawing/2014/main" id="{A14C61E2-F947-4C33-BAA5-C3C991AFBC7F}"/>
              </a:ext>
            </a:extLst>
          </p:cNvPr>
          <p:cNvSpPr>
            <a:spLocks xmlns:a="http://schemas.openxmlformats.org/drawingml/2006/main" noGrp="1"/>
          </p:cNvSpPr>
          <p:nvPr/>
        </p:nvSpPr>
        <p:spPr>
          <a:xfrm xmlns:a="http://schemas.openxmlformats.org/drawingml/2006/main">
            <a:off x="6619875" y="5219700"/>
            <a:ext cx="4191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086"/>
          </a:bodyPr>
          <a:lstStyle xmlns:a="http://schemas.openxmlformats.org/drawingml/2006/main"/>
          <a:p xmlns:a="http://schemas.openxmlformats.org/drawingml/2006/main">
            <a:pPr algn="l">
              <a:defRPr sz="1350" b="1">
                <a:solidFill>
                  <a:srgbClr val="14262D"/>
                </a:solidFill>
                <a:latin typeface="Helvetica Neue"/>
                <a:ea typeface="Helvetica Neue"/>
                <a:cs typeface="Helvetica Neue"/>
              </a:defRPr>
            </a:pPr>
            <a:r>
              <a:rPr sz="1350" b="1">
                <a:solidFill>
                  <a:srgbClr val="14262D"/>
                </a:solidFill>
                <a:latin typeface="Helvetica Neue"/>
                <a:ea typeface="Helvetica Neue"/>
                <a:cs typeface="Helvetica Neue"/>
              </a:rPr>
              <a:t>Repeat organism-level validation across splits, then prioritize generated sequences by high-temperature likelihood evidence.</a:t>
            </a:r>
          </a:p>
        </p:txBody>
      </p:sp>
    </p:spTree>
    <p:extLst>
      <p:ext uri="{BB962C8B-B14F-4D97-AF65-F5344CB8AC3E}">
        <p14:creationId xmlns:p14="http://schemas.microsoft.com/office/powerpoint/2010/main" val="99351643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2026-10-02T07:52:51.7660000Z</dcterms:created>
  <dcterms:modified xsi:type="dcterms:W3CDTF">2026-10-02T07:52:51.7660000Z</dcterms:modified>
</coreProperties>
</file>